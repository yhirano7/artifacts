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377440"/>
            <a:ext cx="10515600" cy="685800"/>
          </a:xfrm>
        </p:spPr>
        <p:txBody>
          <a:bodyPr anchor="t"/>
          <a:lstStyle>
            <a:lvl1pPr algn="l">
              <a:defRPr sz="40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172968"/>
            <a:ext cx="10515600" cy="502920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rgbClr val="595F6B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Slide Accent"/>
          <p:cNvSpPr/>
          <p:nvPr/>
        </p:nvSpPr>
        <p:spPr>
          <a:xfrm>
            <a:off x="822960" y="2084831"/>
            <a:ext cx="109728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 anchor="t"/>
          <a:lstStyle>
            <a:lvl1pPr algn="l">
              <a:defRPr sz="28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7455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10515600" cy="685800"/>
          </a:xfrm>
        </p:spPr>
        <p:txBody>
          <a:bodyPr anchor="t"/>
          <a:lstStyle>
            <a:lvl1pPr algn="l">
              <a:defRPr sz="4000" b="1" cap="all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ection Header Accent"/>
          <p:cNvSpPr/>
          <p:nvPr/>
        </p:nvSpPr>
        <p:spPr>
          <a:xfrm>
            <a:off x="822960" y="2084831"/>
            <a:ext cx="109728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1051560"/>
          </a:xfrm>
        </p:spPr>
        <p:txBody>
          <a:bodyPr anchor="t"/>
          <a:lstStyle>
            <a:lvl1pPr algn="l">
              <a:defRPr sz="2800" b="1">
                <a:solidFill>
                  <a:schemeClr val="dk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社内問い合わせ窓口の一本化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サンプル表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DataTable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現状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目標</a:t>
                      </a:r>
                    </a:p>
                  </a:txBody>
                  <a:tcPr marL="109728" marR="109728" marT="36576" marB="36576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受付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複数窓口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一本化</a:t>
                      </a:r>
                    </a:p>
                  </a:txBody>
                  <a:tcPr marL="109728" marR="109728" marT="36576" marB="36576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回答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担当者ごと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共通FAQ</a:t>
                      </a:r>
                    </a:p>
                  </a:txBody>
                  <a:tcPr marL="109728" marR="109728" marT="36576" marB="36576"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記録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分散</a:t>
                      </a:r>
                    </a:p>
                  </a:txBody>
                  <a:tcPr marL="109728" marR="109728" marT="36576" marB="36576"/>
                </a:tc>
                <a:tc>
                  <a:txBody>
                    <a:bodyPr/>
                    <a:lstStyle/>
                    <a:p>
                      <a:r>
                        <a:t>一元管理</a:t>
                      </a:r>
                    </a:p>
                  </a:txBody>
                  <a:tcPr marL="109728" marR="109728" marT="36576" marB="36576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サンプル体制図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rgRegion"/>
          <p:cNvSpPr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  <a:ln w="12700">
            <a:solidFill>
              <a:srgbClr val="C8CD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rgNode"/>
          <p:cNvSpPr/>
          <p:nvPr/>
        </p:nvSpPr>
        <p:spPr>
          <a:xfrm>
            <a:off x="4846320" y="2194560"/>
            <a:ext cx="2377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F5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責任者</a:t>
            </a:r>
          </a:p>
          <a:p>
            <a:pPr algn="ctr"/>
            <a:r>
              <a:rPr sz="1400">
                <a:solidFill>
                  <a:srgbClr val="202124"/>
                </a:solidFill>
                <a:latin typeface="Yu Gothic"/>
                <a:ea typeface="Yu Gothic"/>
                <a:cs typeface="Yu Gothic"/>
              </a:rPr>
              <a:t>氏名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124"/>
      </a:dk1>
      <a:lt1>
        <a:srgbClr val="FFFFFF"/>
      </a:lt1>
      <a:dk2>
        <a:srgbClr val="0F5B4F"/>
      </a:dk2>
      <a:lt2>
        <a:srgbClr val="EEF4F2"/>
      </a:lt2>
      <a:accent1>
        <a:srgbClr val="0F5B4F"/>
      </a:accent1>
      <a:accent2>
        <a:srgbClr val="E07A1F"/>
      </a:accent2>
      <a:accent3>
        <a:srgbClr val="6C817B"/>
      </a:accent3>
      <a:accent4>
        <a:srgbClr val="9DAEA9"/>
      </a:accent4>
      <a:accent5>
        <a:srgbClr val="CAD4D1"/>
      </a:accent5>
      <a:accent6>
        <a:srgbClr val="718782"/>
      </a:accent6>
      <a:hlink>
        <a:srgbClr val="E07A1F"/>
      </a:hlink>
      <a:folHlink>
        <a:srgbClr val="8F5522"/>
      </a:folHlink>
    </a:clrScheme>
    <a:fontScheme name="Office">
      <a:maj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Yu 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