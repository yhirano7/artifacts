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本日は90日パイロットの承認をお願いする。結論は、ライセンスの追加ではなく、コンテキストと評価の仕組みへ投資すること。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結論を先に示す。決めていただきたいのは最後のスライドの4点。以降は、なぜこの3本柱なのかを、現状・業界動向・打ち手・計画の順に説明する。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4部構成。2部目で、当初の仮説を業界データで検証し、修正した点を明示する。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数値は想定値。ライセンス付与は100%だが、Copilotを起点にPRまで出している人は1割程度。利用率を上げる施策ではなく、PRまで届く仕組みを作る必要がある。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6つの要因に、以降のアクションA1〜A6を1対1で対応させている。以降のスライドのA番号はこのツリーと同じ。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Faros AIは1万人超・1,255チームの実データ。PRは倍増したがレビュー時間も9割増え、会社単位の成果には差が出ていない。METRのRCTでは熟練者が19%遅くなり、本人は20%速くなったと感じていた。AGENTS.mdの評価研究（ICLR 2026）では、LLMが生成した文脈ファイルは成功率を下げ、推論コストを20%超増やした。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発点の仮説を否定はしないが、3点修正する。文脈ファイルは人が書いても改善は約4%で費用は最大19%増えるため、量ではなく効果で採否を決める。AnthropicのRCTでは、AIに委任する使い方の群は理解度テストが50%対67%で低か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Copilotは2026年6月1日に従量課金へ移行し、Businessは1席あたり19ドル分のクレジットが組織でプールされる。エージェントやcode reviewを広げるほど費用が変動するため、予算上限と単価の計測が前提になる。セキュリティは2025年のGitHub MCPの事例が示すとおり、ツールの組み合わせで漏えい経路ができる。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Copilotのカスタム指示は copilot-instructions.md・パス別の instructions・AGENTS.md の3種類があり、Agent Skills は .github/skills に置ける。cloud agent・code review・CLI・VS Codeのagent modeが同じ基盤を読む。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ll-with-docs型。skillが先に既存ドキュメントとPRの指摘履歴を読み、空白と矛盾だけを質問するので、エキスパートの拘束は週2時間に収まる。5番の比較で効果が出なかった規約は入れない。これが文脈過多を防ぐ歯止め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文脈ファイルの研究が示したとおり、常時読み込む指示が増えるほど費用が増え成功率が下がり得る。常時読み込みは禁止事項と必須手順だけにし、残りはパス別の指示やskillへ分けて必要時に読ませる。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評価は想定。請求と認証はエキスパートが厚いが、失敗時の顧客影響が大きいため第2波に回す。管理画面と通知基盤は変更頻度とテストの厚さから、効果を短期間で測りやすい。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A6のベースライン取得を最初の2週間で終えないと、Day90の判断が体感頼みになる。最も工数とリスクが大きいのはA2で、エキスパートの時間確保が承認事項の一つになる。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Day30は基盤とガイドが揃ったか、Day60は評価を週次で回せているかを判定する。どちらかが未達なら対象チームの入れ替えか範囲縮小を判断する。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速度の指標だけで判断すると、DORAが指摘する安定性の低下やFarosが示したレビューの詰まりを見逃す。そのため、変更失敗率とレビュー待ち時間をガードレール指標として並べる。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4点をご判断いただければ、来週からA6のベースライン取得とA5のガイド策定に着手できる。エキスパートの時間確保だけは各チームとの調整が要るため期限を1週間後にしている。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4000">
                <a:solidFill>
                  <a:schemeClr val="l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lt1"/>
                </a:solidFill>
              </a:defRPr>
            </a:lvl1pPr>
            <a:lvl2pPr marL="457200" indent="0" algn="ctr">
              <a:buNone/>
              <a:defRPr>
                <a:solidFill>
                  <a:schemeClr val="lt1"/>
                </a:solidFill>
              </a:defRPr>
            </a:lvl2pPr>
            <a:lvl3pPr marL="914400" indent="0" algn="ctr">
              <a:buNone/>
              <a:defRPr>
                <a:solidFill>
                  <a:schemeClr val="lt1"/>
                </a:solidFill>
              </a:defRPr>
            </a:lvl3pPr>
            <a:lvl4pPr marL="1371600" indent="0" algn="ctr">
              <a:buNone/>
              <a:defRPr>
                <a:solidFill>
                  <a:schemeClr val="lt1"/>
                </a:solidFill>
              </a:defRPr>
            </a:lvl4pPr>
            <a:lvl5pPr marL="1828800" indent="0" algn="ctr">
              <a:buNone/>
              <a:defRPr>
                <a:solidFill>
                  <a:schemeClr val="lt1"/>
                </a:solidFill>
              </a:defRPr>
            </a:lvl5pPr>
            <a:lvl6pPr marL="2286000" indent="0" algn="ctr">
              <a:buNone/>
              <a:defRPr>
                <a:solidFill>
                  <a:schemeClr val="lt1"/>
                </a:solidFill>
              </a:defRPr>
            </a:lvl6pPr>
            <a:lvl7pPr marL="2743200" indent="0" algn="ctr">
              <a:buNone/>
              <a:defRPr>
                <a:solidFill>
                  <a:schemeClr val="lt1"/>
                </a:solidFill>
              </a:defRPr>
            </a:lvl7pPr>
            <a:lvl8pPr marL="3200400" indent="0" algn="ctr">
              <a:buNone/>
              <a:defRPr>
                <a:solidFill>
                  <a:schemeClr val="lt1"/>
                </a:solidFill>
              </a:defRPr>
            </a:lvl8pPr>
            <a:lvl9pPr marL="3657600" indent="0" algn="ctr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3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C9D4E4"/>
                </a:solidFill>
                <a:latin typeface="Yu Gothic"/>
                <a:ea typeface="Yu Gothic"/>
              </a:rPr>
              <a:t>Sample Org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 anchor="t"/>
          <a:lstStyle>
            <a:lvl1pPr algn="l">
              <a:defRPr sz="3200" b="1" cap="all">
                <a:solidFill>
                  <a:schemeClr val="l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lt1"/>
                </a:solidFill>
              </a:defRPr>
            </a:lvl1pPr>
            <a:lvl2pPr marL="457200" indent="0">
              <a:buNone/>
              <a:defRPr sz="1800">
                <a:solidFill>
                  <a:schemeClr val="lt1"/>
                </a:solidFill>
              </a:defRPr>
            </a:lvl2pPr>
            <a:lvl3pPr marL="914400" indent="0">
              <a:buNone/>
              <a:defRPr sz="1600">
                <a:solidFill>
                  <a:schemeClr val="lt1"/>
                </a:solidFill>
              </a:defRPr>
            </a:lvl3pPr>
            <a:lvl4pPr marL="1371600" indent="0">
              <a:buNone/>
              <a:defRPr sz="1400">
                <a:solidFill>
                  <a:schemeClr val="lt1"/>
                </a:solidFill>
              </a:defRPr>
            </a:lvl4pPr>
            <a:lvl5pPr marL="1828800" indent="0">
              <a:buNone/>
              <a:defRPr sz="1400">
                <a:solidFill>
                  <a:schemeClr val="lt1"/>
                </a:solidFill>
              </a:defRPr>
            </a:lvl5pPr>
            <a:lvl6pPr marL="2286000" indent="0">
              <a:buNone/>
              <a:defRPr sz="1400">
                <a:solidFill>
                  <a:schemeClr val="lt1"/>
                </a:solidFill>
              </a:defRPr>
            </a:lvl6pPr>
            <a:lvl7pPr marL="2743200" indent="0">
              <a:buNone/>
              <a:defRPr sz="1400">
                <a:solidFill>
                  <a:schemeClr val="lt1"/>
                </a:solidFill>
              </a:defRPr>
            </a:lvl7pPr>
            <a:lvl8pPr marL="3200400" indent="0">
              <a:buNone/>
              <a:defRPr sz="1400">
                <a:solidFill>
                  <a:schemeClr val="lt1"/>
                </a:solidFill>
              </a:defRPr>
            </a:lvl8pPr>
            <a:lvl9pPr marL="3657600" indent="0">
              <a:buNone/>
              <a:defRPr sz="14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4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C9D4E4"/>
                </a:solidFill>
                <a:latin typeface="Yu Gothic"/>
                <a:ea typeface="Yu Gothic"/>
              </a:rPr>
              <a:t>Sample Org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595F6B"/>
                </a:solidFill>
                <a:latin typeface="Yu Gothic"/>
                <a:ea typeface="Yu Gothic"/>
              </a:rPr>
              <a:t>Sample Org</a:t>
            </a:r>
          </a:p>
        </p:txBody>
      </p:sp>
      <p:sp>
        <p:nvSpPr>
          <p:cNvPr id="1002" name="SlideNumber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r"/>
            <a:fld id="{B6F15528-9517-4E2F-8F3A-000000000001}" type="slidenum">
              <a:rPr lang="ja-JP" sz="900">
                <a:solidFill>
                  <a:srgbClr val="595F6B"/>
                </a:solidFill>
                <a:latin typeface="Yu Gothic"/>
                <a:ea typeface="Yu Gothic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AIDD導入計画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t>GitHub Copilotを「配る」から「組織で検証して使う」へ</a:t>
            </a:r>
          </a:p>
          <a:p>
            <a:r>
              <a:t>開発本部 AI推進チーム　2026-10-07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90日のパイロットで「検証できるAI開発」の仕組みを作り、全社展開を実測で判断する</a:t>
            </a:r>
          </a:p>
        </p:txBody>
      </p:sp>
      <p:sp>
        <p:nvSpPr>
          <p:cNvPr id="3" name="Message banner accent" descr="pptx-deck-generated"/>
          <p:cNvSpPr/>
          <p:nvPr/>
        </p:nvSpPr>
        <p:spPr>
          <a:xfrm>
            <a:off x="457200" y="2711196"/>
            <a:ext cx="54864" cy="950975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" name="Message banner" descr="pptx-deck-generated"/>
          <p:cNvSpPr txBox="1"/>
          <p:nvPr/>
        </p:nvSpPr>
        <p:spPr>
          <a:xfrm>
            <a:off x="640080" y="2711196"/>
            <a:ext cx="11091672" cy="950975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chemeClr val="accent1"/>
                </a:solidFill>
                <a:latin typeface="Yu Gothic"/>
                <a:ea typeface="Yu Gothic"/>
              </a:rPr>
              <a:t>Copilotを配るだけでは成果は増えない。AIに渡す前提知識と、出力を検証する仕組みに投資する</a:t>
            </a:r>
          </a:p>
        </p:txBody>
      </p:sp>
      <p:grpSp>
        <p:nvGrpSpPr>
          <p:cNvPr id="5" name="Message 1" descr="pptx-deck-generated"/>
          <p:cNvGrpSpPr/>
          <p:nvPr/>
        </p:nvGrpSpPr>
        <p:grpSpPr>
          <a:xfrm>
            <a:off x="457200" y="3918203"/>
            <a:ext cx="3660647" cy="1097280"/>
            <a:chOff x="0" y="0"/>
            <a:chExt cx="3660647" cy="1097280"/>
          </a:xfrm>
        </p:grpSpPr>
        <p:sp>
          <p:nvSpPr>
            <p:cNvPr id="6" name="Message support 1 panel" descr="pptx-deck-generated"/>
            <p:cNvSpPr/>
            <p:nvPr/>
          </p:nvSpPr>
          <p:spPr>
            <a:xfrm>
              <a:off x="0" y="0"/>
              <a:ext cx="3660647" cy="109728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Message support 1 body" descr="pptx-deck-generated"/>
            <p:cNvSpPr txBox="1"/>
            <p:nvPr/>
          </p:nvSpPr>
          <p:spPr>
            <a:xfrm>
              <a:off x="109728" y="73152"/>
              <a:ext cx="3441191" cy="9509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暗黙知はインタビューskillで引き出し、評価で効果が確認できた分だけ基盤に入れる</a:t>
              </a:r>
            </a:p>
          </p:txBody>
        </p:sp>
      </p:grpSp>
      <p:grpSp>
        <p:nvGrpSpPr>
          <p:cNvPr id="8" name="Message 2" descr="pptx-deck-generated"/>
          <p:cNvGrpSpPr/>
          <p:nvPr/>
        </p:nvGrpSpPr>
        <p:grpSpPr>
          <a:xfrm>
            <a:off x="4264152" y="3918203"/>
            <a:ext cx="3660647" cy="1097280"/>
            <a:chOff x="0" y="0"/>
            <a:chExt cx="3660647" cy="1097280"/>
          </a:xfrm>
        </p:grpSpPr>
        <p:sp>
          <p:nvSpPr>
            <p:cNvPr id="9" name="Message support 2 panel" descr="pptx-deck-generated"/>
            <p:cNvSpPr/>
            <p:nvPr/>
          </p:nvSpPr>
          <p:spPr>
            <a:xfrm>
              <a:off x="0" y="0"/>
              <a:ext cx="3660647" cy="109728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Message support 2 body" descr="pptx-deck-generated"/>
            <p:cNvSpPr txBox="1"/>
            <p:nvPr/>
          </p:nvSpPr>
          <p:spPr>
            <a:xfrm>
              <a:off x="109728" y="73152"/>
              <a:ext cx="3441191" cy="9509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PRサイズ・レビュー・権限・費用のガードレールを、生成の強化と同時に敷く</a:t>
              </a:r>
            </a:p>
          </p:txBody>
        </p:sp>
      </p:grpSp>
      <p:grpSp>
        <p:nvGrpSpPr>
          <p:cNvPr id="11" name="Message 3" descr="pptx-deck-generated"/>
          <p:cNvGrpSpPr/>
          <p:nvPr/>
        </p:nvGrpSpPr>
        <p:grpSpPr>
          <a:xfrm>
            <a:off x="8071104" y="3918203"/>
            <a:ext cx="3660647" cy="1097280"/>
            <a:chOff x="0" y="0"/>
            <a:chExt cx="3660647" cy="1097280"/>
          </a:xfrm>
        </p:grpSpPr>
        <p:sp>
          <p:nvSpPr>
            <p:cNvPr id="12" name="Message support 3 panel" descr="pptx-deck-generated"/>
            <p:cNvSpPr/>
            <p:nvPr/>
          </p:nvSpPr>
          <p:spPr>
            <a:xfrm>
              <a:off x="0" y="0"/>
              <a:ext cx="3660647" cy="109728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Message support 3 body" descr="pptx-deck-generated"/>
            <p:cNvSpPr txBox="1"/>
            <p:nvPr/>
          </p:nvSpPr>
          <p:spPr>
            <a:xfrm>
              <a:off x="109727" y="73152"/>
              <a:ext cx="3441191" cy="7071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Day90に、速度・安定性・費用の実測で全社展開を判断する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目次</a:t>
            </a:r>
          </a:p>
        </p:txBody>
      </p:sp>
      <p:sp>
        <p:nvSpPr>
          <p:cNvPr id="3" name="TocBody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現状と課題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業界動向と仮説の修正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打ち手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実行計画と判断事項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01 現状と課題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ライセンスは全員に行き渡ったが、PRに効いている使い方は1割にとどまる</a:t>
            </a:r>
          </a:p>
        </p:txBody>
      </p:sp>
      <p:grpSp>
        <p:nvGrpSpPr>
          <p:cNvPr id="3" name="Pyramid 1" descr="pptx-deck-generated"/>
          <p:cNvGrpSpPr/>
          <p:nvPr/>
        </p:nvGrpSpPr>
        <p:grpSpPr>
          <a:xfrm>
            <a:off x="457200" y="1554480"/>
            <a:ext cx="11201399" cy="955547"/>
            <a:chOff x="0" y="0"/>
            <a:chExt cx="11201399" cy="955547"/>
          </a:xfrm>
        </p:grpSpPr>
        <p:sp>
          <p:nvSpPr>
            <p:cNvPr id="4" name="Level 1" descr="pptx-deck-generated"/>
            <p:cNvSpPr/>
            <p:nvPr/>
          </p:nvSpPr>
          <p:spPr>
            <a:xfrm rot="10800000">
              <a:off x="0" y="0"/>
              <a:ext cx="6201003" cy="955547"/>
            </a:xfrm>
            <a:prstGeom prst="trapezoid">
              <a:avLst/>
            </a:prstGeom>
            <a:solidFill>
              <a:schemeClr val="accent1">
                <a:lumMod val="64000"/>
                <a:lumOff val="3600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Level 1 label" descr="pptx-deck-generated"/>
            <p:cNvSpPr txBox="1"/>
            <p:nvPr/>
          </p:nvSpPr>
          <p:spPr>
            <a:xfrm>
              <a:off x="620100" y="0"/>
              <a:ext cx="4960802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ライセンス付与 120名</a:t>
              </a:r>
            </a:p>
          </p:txBody>
        </p:sp>
        <p:sp>
          <p:nvSpPr>
            <p:cNvPr id="6" name="Level 1 detail" descr="pptx-deck-generated"/>
            <p:cNvSpPr txBox="1"/>
            <p:nvPr/>
          </p:nvSpPr>
          <p:spPr>
            <a:xfrm>
              <a:off x="6585051" y="0"/>
              <a:ext cx="4616348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全開発者（100%）</a:t>
              </a:r>
            </a:p>
          </p:txBody>
        </p:sp>
      </p:grpSp>
      <p:cxnSp>
        <p:nvCxnSpPr>
          <p:cNvPr id="7" name="Level 1 leader" descr="pptx-deck-generated"/>
          <p:cNvCxnSpPr/>
          <p:nvPr/>
        </p:nvCxnSpPr>
        <p:spPr>
          <a:xfrm>
            <a:off x="6658203" y="2032254"/>
            <a:ext cx="32918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8" name="Pyramid 2" descr="pptx-deck-generated"/>
          <p:cNvGrpSpPr/>
          <p:nvPr/>
        </p:nvGrpSpPr>
        <p:grpSpPr>
          <a:xfrm>
            <a:off x="968782" y="2546604"/>
            <a:ext cx="10689817" cy="955547"/>
            <a:chOff x="0" y="0"/>
            <a:chExt cx="10689817" cy="955547"/>
          </a:xfrm>
        </p:grpSpPr>
        <p:sp>
          <p:nvSpPr>
            <p:cNvPr id="9" name="Level 2" descr="pptx-deck-generated"/>
            <p:cNvSpPr/>
            <p:nvPr/>
          </p:nvSpPr>
          <p:spPr>
            <a:xfrm rot="10800000">
              <a:off x="0" y="0"/>
              <a:ext cx="5177838" cy="955547"/>
            </a:xfrm>
            <a:prstGeom prst="trapezoid">
              <a:avLst/>
            </a:prstGeom>
            <a:solidFill>
              <a:schemeClr val="accent1">
                <a:lumMod val="76000"/>
                <a:lumOff val="2400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Level 2 label" descr="pptx-deck-generated"/>
            <p:cNvSpPr txBox="1"/>
            <p:nvPr/>
          </p:nvSpPr>
          <p:spPr>
            <a:xfrm>
              <a:off x="517784" y="0"/>
              <a:ext cx="4142270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週1回以上利用 84名</a:t>
              </a:r>
            </a:p>
          </p:txBody>
        </p:sp>
        <p:sp>
          <p:nvSpPr>
            <p:cNvPr id="11" name="Level 2 detail" descr="pptx-deck-generated"/>
            <p:cNvSpPr txBox="1"/>
            <p:nvPr/>
          </p:nvSpPr>
          <p:spPr>
            <a:xfrm>
              <a:off x="6073469" y="0"/>
              <a:ext cx="4616348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70%。補完が中心</a:t>
              </a:r>
            </a:p>
          </p:txBody>
        </p:sp>
      </p:grpSp>
      <p:cxnSp>
        <p:nvCxnSpPr>
          <p:cNvPr id="12" name="Level 2 leader" descr="pptx-deck-generated"/>
          <p:cNvCxnSpPr/>
          <p:nvPr/>
        </p:nvCxnSpPr>
        <p:spPr>
          <a:xfrm>
            <a:off x="6146620" y="3024378"/>
            <a:ext cx="840767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3" name="Pyramid 3" descr="pptx-deck-generated"/>
          <p:cNvGrpSpPr/>
          <p:nvPr/>
        </p:nvGrpSpPr>
        <p:grpSpPr>
          <a:xfrm>
            <a:off x="1480365" y="3538728"/>
            <a:ext cx="10178234" cy="955547"/>
            <a:chOff x="0" y="0"/>
            <a:chExt cx="10178234" cy="955547"/>
          </a:xfrm>
        </p:grpSpPr>
        <p:sp>
          <p:nvSpPr>
            <p:cNvPr id="14" name="Level 3" descr="pptx-deck-generated"/>
            <p:cNvSpPr/>
            <p:nvPr/>
          </p:nvSpPr>
          <p:spPr>
            <a:xfrm rot="10800000">
              <a:off x="0" y="0"/>
              <a:ext cx="4154672" cy="955547"/>
            </a:xfrm>
            <a:prstGeom prst="trapezoid">
              <a:avLst/>
            </a:prstGeom>
            <a:solidFill>
              <a:schemeClr val="accent1">
                <a:lumMod val="88000"/>
                <a:lumOff val="1200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Level 3 label" descr="pptx-deck-generated"/>
            <p:cNvSpPr txBox="1"/>
            <p:nvPr/>
          </p:nvSpPr>
          <p:spPr>
            <a:xfrm>
              <a:off x="415467" y="0"/>
              <a:ext cx="3323737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チャット・エージェント 36名</a:t>
              </a:r>
            </a:p>
          </p:txBody>
        </p:sp>
        <p:sp>
          <p:nvSpPr>
            <p:cNvPr id="16" name="Level 3 detail" descr="pptx-deck-generated"/>
            <p:cNvSpPr txBox="1"/>
            <p:nvPr/>
          </p:nvSpPr>
          <p:spPr>
            <a:xfrm>
              <a:off x="5561886" y="0"/>
              <a:ext cx="4616348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30%。使い方は個人任せ</a:t>
              </a:r>
            </a:p>
          </p:txBody>
        </p:sp>
      </p:grpSp>
      <p:cxnSp>
        <p:nvCxnSpPr>
          <p:cNvPr id="17" name="Level 3 leader" descr="pptx-deck-generated"/>
          <p:cNvCxnSpPr/>
          <p:nvPr/>
        </p:nvCxnSpPr>
        <p:spPr>
          <a:xfrm>
            <a:off x="5635038" y="4016502"/>
            <a:ext cx="1352349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8" name="Pyramid 4" descr="pptx-deck-generated"/>
          <p:cNvGrpSpPr/>
          <p:nvPr/>
        </p:nvGrpSpPr>
        <p:grpSpPr>
          <a:xfrm>
            <a:off x="1991948" y="4530852"/>
            <a:ext cx="9666651" cy="955547"/>
            <a:chOff x="0" y="0"/>
            <a:chExt cx="9666651" cy="955547"/>
          </a:xfrm>
        </p:grpSpPr>
        <p:sp>
          <p:nvSpPr>
            <p:cNvPr id="19" name="Level 4" descr="pptx-deck-generated"/>
            <p:cNvSpPr/>
            <p:nvPr/>
          </p:nvSpPr>
          <p:spPr>
            <a:xfrm rot="10800000">
              <a:off x="0" y="0"/>
              <a:ext cx="3131506" cy="955547"/>
            </a:xfrm>
            <a:prstGeom prst="trapezoid">
              <a:avLst/>
            </a:prstGeom>
            <a:solidFill>
              <a:schemeClr val="accent1">
                <a:lumMod val="100000"/>
                <a:lumOff val="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Level 4 label" descr="pptx-deck-generated"/>
            <p:cNvSpPr txBox="1"/>
            <p:nvPr/>
          </p:nvSpPr>
          <p:spPr>
            <a:xfrm>
              <a:off x="313151" y="0"/>
              <a:ext cx="2505205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Copilot起点のPR 12名</a:t>
              </a:r>
            </a:p>
          </p:txBody>
        </p:sp>
        <p:sp>
          <p:nvSpPr>
            <p:cNvPr id="21" name="Level 4 detail" descr="pptx-deck-generated"/>
            <p:cNvSpPr txBox="1"/>
            <p:nvPr/>
          </p:nvSpPr>
          <p:spPr>
            <a:xfrm>
              <a:off x="5050303" y="0"/>
              <a:ext cx="4616348" cy="955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10%。成果につながっている層</a:t>
              </a:r>
            </a:p>
          </p:txBody>
        </p:sp>
      </p:grpSp>
      <p:cxnSp>
        <p:nvCxnSpPr>
          <p:cNvPr id="22" name="Level 4 leader" descr="pptx-deck-generated"/>
          <p:cNvCxnSpPr/>
          <p:nvPr/>
        </p:nvCxnSpPr>
        <p:spPr>
          <a:xfrm>
            <a:off x="5123455" y="5008626"/>
            <a:ext cx="186393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23" name="Component takeaway" descr="pptx-deck-generated"/>
          <p:cNvSpPr/>
          <p:nvPr/>
        </p:nvSpPr>
        <p:spPr>
          <a:xfrm>
            <a:off x="457200" y="5715000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 accent" descr="pptx-deck-generated"/>
          <p:cNvSpPr/>
          <p:nvPr/>
        </p:nvSpPr>
        <p:spPr>
          <a:xfrm>
            <a:off x="457200" y="5715000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25" name="Takeaway text" descr="pptx-deck-generated"/>
          <p:cNvSpPr txBox="1"/>
          <p:nvPr/>
        </p:nvSpPr>
        <p:spPr>
          <a:xfrm>
            <a:off x="603504" y="5715000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数値はすべて想定値。課題は利用率ではなく、PRまで届く使い方の仕組みが無いこと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成果が出ない原因を3系統6要因に分解し、それぞれにアクションを割り当てる</a:t>
            </a:r>
          </a:p>
        </p:txBody>
      </p:sp>
      <p:sp>
        <p:nvSpPr>
          <p:cNvPr id="3" name="Tree header 1" descr="pptx-deck-generated"/>
          <p:cNvSpPr txBox="1"/>
          <p:nvPr/>
        </p:nvSpPr>
        <p:spPr>
          <a:xfrm>
            <a:off x="457200" y="1554480"/>
            <a:ext cx="214216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課題</a:t>
            </a:r>
          </a:p>
        </p:txBody>
      </p:sp>
      <p:sp>
        <p:nvSpPr>
          <p:cNvPr id="4" name="Tree header 2" descr="pptx-deck-generated"/>
          <p:cNvSpPr txBox="1"/>
          <p:nvPr/>
        </p:nvSpPr>
        <p:spPr>
          <a:xfrm>
            <a:off x="3056564" y="1554480"/>
            <a:ext cx="32696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原因</a:t>
            </a:r>
          </a:p>
        </p:txBody>
      </p:sp>
      <p:sp>
        <p:nvSpPr>
          <p:cNvPr id="5" name="Tree header 3" descr="pptx-deck-generated"/>
          <p:cNvSpPr txBox="1"/>
          <p:nvPr/>
        </p:nvSpPr>
        <p:spPr>
          <a:xfrm>
            <a:off x="6783384" y="1554480"/>
            <a:ext cx="4948367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要因と対応するアクション</a:t>
            </a:r>
          </a:p>
        </p:txBody>
      </p:sp>
      <p:grpSp>
        <p:nvGrpSpPr>
          <p:cNvPr id="6" name="Tree branch 1" descr="pptx-deck-generated"/>
          <p:cNvGrpSpPr/>
          <p:nvPr/>
        </p:nvGrpSpPr>
        <p:grpSpPr>
          <a:xfrm>
            <a:off x="3056564" y="1938528"/>
            <a:ext cx="8675187" cy="1313687"/>
            <a:chOff x="0" y="0"/>
            <a:chExt cx="8675187" cy="1313687"/>
          </a:xfrm>
        </p:grpSpPr>
        <p:sp>
          <p:nvSpPr>
            <p:cNvPr id="7" name="Tree leaf 1-1" descr="pptx-deck-generated"/>
            <p:cNvSpPr/>
            <p:nvPr/>
          </p:nvSpPr>
          <p:spPr>
            <a:xfrm>
              <a:off x="3726820" y="0"/>
              <a:ext cx="4948367" cy="620267"/>
            </a:xfrm>
            <a:prstGeom prst="roundRect">
              <a:avLst>
                <a:gd name="adj" fmla="val 884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ree leaf 1-1 text" descr="pptx-deck-generated"/>
            <p:cNvSpPr txBox="1"/>
            <p:nvPr/>
          </p:nvSpPr>
          <p:spPr>
            <a:xfrm>
              <a:off x="3745108" y="0"/>
              <a:ext cx="4344863" cy="6202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リポジトリに最小限の指示が無い</a:t>
              </a:r>
            </a:p>
          </p:txBody>
        </p:sp>
        <p:sp>
          <p:nvSpPr>
            <p:cNvPr id="9" name="Tree leaf 1-1 tag" descr="pptx-deck-generated"/>
            <p:cNvSpPr/>
            <p:nvPr/>
          </p:nvSpPr>
          <p:spPr>
            <a:xfrm>
              <a:off x="8089972" y="16383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A1</a:t>
              </a:r>
            </a:p>
          </p:txBody>
        </p:sp>
        <p:sp>
          <p:nvSpPr>
            <p:cNvPr id="10" name="Tree leaf 1-2" descr="pptx-deck-generated"/>
            <p:cNvSpPr/>
            <p:nvPr/>
          </p:nvSpPr>
          <p:spPr>
            <a:xfrm>
              <a:off x="3726820" y="693420"/>
              <a:ext cx="4948367" cy="620267"/>
            </a:xfrm>
            <a:prstGeom prst="roundRect">
              <a:avLst>
                <a:gd name="adj" fmla="val 884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ree leaf 1-2 text" descr="pptx-deck-generated"/>
            <p:cNvSpPr txBox="1"/>
            <p:nvPr/>
          </p:nvSpPr>
          <p:spPr>
            <a:xfrm>
              <a:off x="3745108" y="693420"/>
              <a:ext cx="4344863" cy="6202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設計判断がエキスパートの頭の中にある</a:t>
              </a:r>
            </a:p>
          </p:txBody>
        </p:sp>
        <p:sp>
          <p:nvSpPr>
            <p:cNvPr id="12" name="Tree leaf 1-2 tag" descr="pptx-deck-generated"/>
            <p:cNvSpPr/>
            <p:nvPr/>
          </p:nvSpPr>
          <p:spPr>
            <a:xfrm>
              <a:off x="8089972" y="85725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A2</a:t>
              </a:r>
            </a:p>
          </p:txBody>
        </p:sp>
        <p:sp>
          <p:nvSpPr>
            <p:cNvPr id="13" name="Tree branch 1" descr="pptx-deck-generated"/>
            <p:cNvSpPr/>
            <p:nvPr/>
          </p:nvSpPr>
          <p:spPr>
            <a:xfrm>
              <a:off x="0" y="199644"/>
              <a:ext cx="3269620" cy="914400"/>
            </a:xfrm>
            <a:prstGeom prst="roundRect">
              <a:avLst>
                <a:gd name="adj" fmla="val 6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AIが前提を知らない</a:t>
              </a:r>
            </a:p>
          </p:txBody>
        </p:sp>
      </p:grpSp>
      <p:cxnSp>
        <p:nvCxnSpPr>
          <p:cNvPr id="14" name="Tree stem 1" descr="pptx-deck-generated"/>
          <p:cNvCxnSpPr/>
          <p:nvPr/>
        </p:nvCxnSpPr>
        <p:spPr>
          <a:xfrm>
            <a:off x="6326184" y="2595372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15" name="Tree spine 1" descr="pptx-deck-generated"/>
          <p:cNvCxnSpPr/>
          <p:nvPr/>
        </p:nvCxnSpPr>
        <p:spPr>
          <a:xfrm>
            <a:off x="6554784" y="2248662"/>
            <a:ext cx="0" cy="69342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16" name="Tree twig 1-1" descr="pptx-deck-generated"/>
          <p:cNvCxnSpPr/>
          <p:nvPr/>
        </p:nvCxnSpPr>
        <p:spPr>
          <a:xfrm>
            <a:off x="6554784" y="2248662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17" name="Tree twig 1-2" descr="pptx-deck-generated"/>
          <p:cNvCxnSpPr/>
          <p:nvPr/>
        </p:nvCxnSpPr>
        <p:spPr>
          <a:xfrm>
            <a:off x="6554784" y="2942082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18" name="Tree branch 2" descr="pptx-deck-generated"/>
          <p:cNvGrpSpPr/>
          <p:nvPr/>
        </p:nvGrpSpPr>
        <p:grpSpPr>
          <a:xfrm>
            <a:off x="3056564" y="3398520"/>
            <a:ext cx="8675187" cy="1313686"/>
            <a:chOff x="0" y="0"/>
            <a:chExt cx="8675187" cy="1313686"/>
          </a:xfrm>
        </p:grpSpPr>
        <p:sp>
          <p:nvSpPr>
            <p:cNvPr id="19" name="Tree leaf 2-1" descr="pptx-deck-generated"/>
            <p:cNvSpPr/>
            <p:nvPr/>
          </p:nvSpPr>
          <p:spPr>
            <a:xfrm>
              <a:off x="3726820" y="0"/>
              <a:ext cx="4948367" cy="620267"/>
            </a:xfrm>
            <a:prstGeom prst="roundRect">
              <a:avLst>
                <a:gd name="adj" fmla="val 884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ree leaf 2-1 text" descr="pptx-deck-generated"/>
            <p:cNvSpPr txBox="1"/>
            <p:nvPr/>
          </p:nvSpPr>
          <p:spPr>
            <a:xfrm>
              <a:off x="3745108" y="0"/>
              <a:ext cx="4344863" cy="6202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評価の基準が人により違う</a:t>
              </a:r>
            </a:p>
          </p:txBody>
        </p:sp>
        <p:sp>
          <p:nvSpPr>
            <p:cNvPr id="21" name="Tree leaf 2-1 tag" descr="pptx-deck-generated"/>
            <p:cNvSpPr/>
            <p:nvPr/>
          </p:nvSpPr>
          <p:spPr>
            <a:xfrm>
              <a:off x="8089972" y="16383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A3</a:t>
              </a:r>
            </a:p>
          </p:txBody>
        </p:sp>
        <p:sp>
          <p:nvSpPr>
            <p:cNvPr id="22" name="Tree leaf 2-2" descr="pptx-deck-generated"/>
            <p:cNvSpPr/>
            <p:nvPr/>
          </p:nvSpPr>
          <p:spPr>
            <a:xfrm>
              <a:off x="3726820" y="693419"/>
              <a:ext cx="4948367" cy="620267"/>
            </a:xfrm>
            <a:prstGeom prst="roundRect">
              <a:avLst>
                <a:gd name="adj" fmla="val 884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ree leaf 2-2 text" descr="pptx-deck-generated"/>
            <p:cNvSpPr txBox="1"/>
            <p:nvPr/>
          </p:nvSpPr>
          <p:spPr>
            <a:xfrm>
              <a:off x="3745108" y="693419"/>
              <a:ext cx="4344863" cy="6202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PRが大きくレビューが詰まる</a:t>
              </a:r>
            </a:p>
          </p:txBody>
        </p:sp>
        <p:sp>
          <p:nvSpPr>
            <p:cNvPr id="24" name="Tree leaf 2-2 tag" descr="pptx-deck-generated"/>
            <p:cNvSpPr/>
            <p:nvPr/>
          </p:nvSpPr>
          <p:spPr>
            <a:xfrm>
              <a:off x="8089972" y="857249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A4</a:t>
              </a:r>
            </a:p>
          </p:txBody>
        </p:sp>
        <p:sp>
          <p:nvSpPr>
            <p:cNvPr id="25" name="Tree branch 2" descr="pptx-deck-generated"/>
            <p:cNvSpPr/>
            <p:nvPr/>
          </p:nvSpPr>
          <p:spPr>
            <a:xfrm>
              <a:off x="0" y="199644"/>
              <a:ext cx="3269620" cy="914400"/>
            </a:xfrm>
            <a:prstGeom prst="roundRect">
              <a:avLst>
                <a:gd name="adj" fmla="val 6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出力を検証しきれない</a:t>
              </a:r>
            </a:p>
          </p:txBody>
        </p:sp>
      </p:grpSp>
      <p:cxnSp>
        <p:nvCxnSpPr>
          <p:cNvPr id="26" name="Tree stem 2" descr="pptx-deck-generated"/>
          <p:cNvCxnSpPr/>
          <p:nvPr/>
        </p:nvCxnSpPr>
        <p:spPr>
          <a:xfrm>
            <a:off x="6326184" y="4055364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7" name="Tree spine 2" descr="pptx-deck-generated"/>
          <p:cNvCxnSpPr/>
          <p:nvPr/>
        </p:nvCxnSpPr>
        <p:spPr>
          <a:xfrm>
            <a:off x="6554784" y="3708654"/>
            <a:ext cx="0" cy="693419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8" name="Tree twig 2-1" descr="pptx-deck-generated"/>
          <p:cNvCxnSpPr/>
          <p:nvPr/>
        </p:nvCxnSpPr>
        <p:spPr>
          <a:xfrm>
            <a:off x="6554784" y="3708654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9" name="Tree twig 2-2" descr="pptx-deck-generated"/>
          <p:cNvCxnSpPr/>
          <p:nvPr/>
        </p:nvCxnSpPr>
        <p:spPr>
          <a:xfrm>
            <a:off x="6554784" y="4402073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30" name="Tree branch 3" descr="pptx-deck-generated"/>
          <p:cNvGrpSpPr/>
          <p:nvPr/>
        </p:nvGrpSpPr>
        <p:grpSpPr>
          <a:xfrm>
            <a:off x="3056564" y="4858512"/>
            <a:ext cx="8675187" cy="1313687"/>
            <a:chOff x="0" y="0"/>
            <a:chExt cx="8675187" cy="1313687"/>
          </a:xfrm>
        </p:grpSpPr>
        <p:sp>
          <p:nvSpPr>
            <p:cNvPr id="31" name="Tree leaf 3-1" descr="pptx-deck-generated"/>
            <p:cNvSpPr/>
            <p:nvPr/>
          </p:nvSpPr>
          <p:spPr>
            <a:xfrm>
              <a:off x="3726820" y="0"/>
              <a:ext cx="4948367" cy="620267"/>
            </a:xfrm>
            <a:prstGeom prst="roundRect">
              <a:avLst>
                <a:gd name="adj" fmla="val 884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ree leaf 3-1 text" descr="pptx-deck-generated"/>
            <p:cNvSpPr txBox="1"/>
            <p:nvPr/>
          </p:nvSpPr>
          <p:spPr>
            <a:xfrm>
              <a:off x="3745108" y="0"/>
              <a:ext cx="4344863" cy="6202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利用範囲とツール権限が未定義</a:t>
              </a:r>
            </a:p>
          </p:txBody>
        </p:sp>
        <p:sp>
          <p:nvSpPr>
            <p:cNvPr id="33" name="Tree leaf 3-1 tag" descr="pptx-deck-generated"/>
            <p:cNvSpPr/>
            <p:nvPr/>
          </p:nvSpPr>
          <p:spPr>
            <a:xfrm>
              <a:off x="8089972" y="16383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A5</a:t>
              </a:r>
            </a:p>
          </p:txBody>
        </p:sp>
        <p:sp>
          <p:nvSpPr>
            <p:cNvPr id="34" name="Tree leaf 3-2" descr="pptx-deck-generated"/>
            <p:cNvSpPr/>
            <p:nvPr/>
          </p:nvSpPr>
          <p:spPr>
            <a:xfrm>
              <a:off x="3726820" y="693420"/>
              <a:ext cx="4948367" cy="620267"/>
            </a:xfrm>
            <a:prstGeom prst="roundRect">
              <a:avLst>
                <a:gd name="adj" fmla="val 884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ree leaf 3-2 text" descr="pptx-deck-generated"/>
            <p:cNvSpPr txBox="1"/>
            <p:nvPr/>
          </p:nvSpPr>
          <p:spPr>
            <a:xfrm>
              <a:off x="3745108" y="693420"/>
              <a:ext cx="4344863" cy="6202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効果と費用を実測していない</a:t>
              </a:r>
            </a:p>
          </p:txBody>
        </p:sp>
        <p:sp>
          <p:nvSpPr>
            <p:cNvPr id="36" name="Tree leaf 3-2 tag" descr="pptx-deck-generated"/>
            <p:cNvSpPr/>
            <p:nvPr/>
          </p:nvSpPr>
          <p:spPr>
            <a:xfrm>
              <a:off x="8089972" y="857249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A6</a:t>
              </a:r>
            </a:p>
          </p:txBody>
        </p:sp>
        <p:sp>
          <p:nvSpPr>
            <p:cNvPr id="37" name="Tree branch 3" descr="pptx-deck-generated"/>
            <p:cNvSpPr/>
            <p:nvPr/>
          </p:nvSpPr>
          <p:spPr>
            <a:xfrm>
              <a:off x="0" y="199644"/>
              <a:ext cx="3269620" cy="914400"/>
            </a:xfrm>
            <a:prstGeom prst="roundRect">
              <a:avLst>
                <a:gd name="adj" fmla="val 6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利用と費用が統制されていない</a:t>
              </a:r>
            </a:p>
          </p:txBody>
        </p:sp>
      </p:grpSp>
      <p:cxnSp>
        <p:nvCxnSpPr>
          <p:cNvPr id="38" name="Tree stem 3" descr="pptx-deck-generated"/>
          <p:cNvCxnSpPr/>
          <p:nvPr/>
        </p:nvCxnSpPr>
        <p:spPr>
          <a:xfrm>
            <a:off x="6326184" y="5515356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9" name="Tree spine 3" descr="pptx-deck-generated"/>
          <p:cNvCxnSpPr/>
          <p:nvPr/>
        </p:nvCxnSpPr>
        <p:spPr>
          <a:xfrm>
            <a:off x="6554784" y="5168646"/>
            <a:ext cx="0" cy="693419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0" name="Tree twig 3-1" descr="pptx-deck-generated"/>
          <p:cNvCxnSpPr/>
          <p:nvPr/>
        </p:nvCxnSpPr>
        <p:spPr>
          <a:xfrm>
            <a:off x="6554784" y="5168646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1" name="Tree twig 3-2" descr="pptx-deck-generated"/>
          <p:cNvCxnSpPr/>
          <p:nvPr/>
        </p:nvCxnSpPr>
        <p:spPr>
          <a:xfrm>
            <a:off x="6554784" y="5862065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42" name="Tree root" descr="pptx-deck-generated"/>
          <p:cNvSpPr/>
          <p:nvPr/>
        </p:nvSpPr>
        <p:spPr>
          <a:xfrm>
            <a:off x="457200" y="3387852"/>
            <a:ext cx="2142164" cy="1335024"/>
          </a:xfrm>
          <a:prstGeom prst="roundRect">
            <a:avLst>
              <a:gd name="adj" fmla="val 4110"/>
            </a:avLst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lt1"/>
                </a:solidFill>
                <a:latin typeface="Yu Gothic"/>
                <a:ea typeface="Yu Gothic"/>
              </a:rPr>
              <a:t>Copilotの成果がリリースに届かない</a:t>
            </a:r>
          </a:p>
        </p:txBody>
      </p:sp>
      <p:cxnSp>
        <p:nvCxnSpPr>
          <p:cNvPr id="43" name="Tree root stem" descr="pptx-deck-generated"/>
          <p:cNvCxnSpPr/>
          <p:nvPr/>
        </p:nvCxnSpPr>
        <p:spPr>
          <a:xfrm>
            <a:off x="2599364" y="4055364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4" name="Tree root spine" descr="pptx-deck-generated"/>
          <p:cNvCxnSpPr/>
          <p:nvPr/>
        </p:nvCxnSpPr>
        <p:spPr>
          <a:xfrm>
            <a:off x="2827964" y="2595372"/>
            <a:ext cx="0" cy="2919984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5" name="Tree root twig 1" descr="pptx-deck-generated"/>
          <p:cNvCxnSpPr/>
          <p:nvPr/>
        </p:nvCxnSpPr>
        <p:spPr>
          <a:xfrm>
            <a:off x="2827964" y="2595372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6" name="Tree root twig 2" descr="pptx-deck-generated"/>
          <p:cNvCxnSpPr/>
          <p:nvPr/>
        </p:nvCxnSpPr>
        <p:spPr>
          <a:xfrm>
            <a:off x="2827964" y="4055364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7" name="Tree root twig 3" descr="pptx-deck-generated"/>
          <p:cNvCxnSpPr/>
          <p:nvPr/>
        </p:nvCxnSpPr>
        <p:spPr>
          <a:xfrm>
            <a:off x="2827964" y="55153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02 業界動向と仮説の修正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業界データは「使えば速くなる」を支持しない。AIは増幅器で、詰まる場所が生成から検証へ移る</a:t>
            </a:r>
          </a:p>
        </p:txBody>
      </p:sp>
      <p:grpSp>
        <p:nvGrpSpPr>
          <p:cNvPr id="3" name="KPI 1" descr="pptx-deck-generated"/>
          <p:cNvGrpSpPr/>
          <p:nvPr/>
        </p:nvGrpSpPr>
        <p:grpSpPr>
          <a:xfrm>
            <a:off x="457200" y="2395728"/>
            <a:ext cx="2708910" cy="2249424"/>
            <a:chOff x="0" y="0"/>
            <a:chExt cx="2708910" cy="2249424"/>
          </a:xfrm>
        </p:grpSpPr>
        <p:sp>
          <p:nvSpPr>
            <p:cNvPr id="4" name="KPI 1 tile" descr="pptx-deck-generated"/>
            <p:cNvSpPr/>
            <p:nvPr/>
          </p:nvSpPr>
          <p:spPr>
            <a:xfrm>
              <a:off x="0" y="0"/>
              <a:ext cx="2708910" cy="2249424"/>
            </a:xfrm>
            <a:prstGeom prst="roundRect">
              <a:avLst>
                <a:gd name="adj" fmla="val 2439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KPI 1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KPI 1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+98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7" name="KPI 1 label" descr="pptx-deck-generated"/>
            <p:cNvSpPr txBox="1"/>
            <p:nvPr/>
          </p:nvSpPr>
          <p:spPr>
            <a:xfrm>
              <a:off x="109728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マージPR数</a:t>
              </a:r>
            </a:p>
          </p:txBody>
        </p:sp>
        <p:sp>
          <p:nvSpPr>
            <p:cNvPr id="8" name="KPI 1 note" descr="pptx-deck-generated"/>
            <p:cNvSpPr txBox="1"/>
            <p:nvPr/>
          </p:nvSpPr>
          <p:spPr>
            <a:xfrm>
              <a:off x="109728" y="1633728"/>
              <a:ext cx="248945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AI高利用者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Faros AI 2025</a:t>
              </a:r>
            </a:p>
          </p:txBody>
        </p:sp>
      </p:grpSp>
      <p:grpSp>
        <p:nvGrpSpPr>
          <p:cNvPr id="9" name="KPI 2" descr="pptx-deck-generated"/>
          <p:cNvGrpSpPr/>
          <p:nvPr/>
        </p:nvGrpSpPr>
        <p:grpSpPr>
          <a:xfrm>
            <a:off x="3312414" y="2395728"/>
            <a:ext cx="2708910" cy="2249424"/>
            <a:chOff x="0" y="0"/>
            <a:chExt cx="2708910" cy="2249424"/>
          </a:xfrm>
        </p:grpSpPr>
        <p:sp>
          <p:nvSpPr>
            <p:cNvPr id="10" name="KPI 2 tile" descr="pptx-deck-generated"/>
            <p:cNvSpPr/>
            <p:nvPr/>
          </p:nvSpPr>
          <p:spPr>
            <a:xfrm>
              <a:off x="0" y="0"/>
              <a:ext cx="2708910" cy="2249424"/>
            </a:xfrm>
            <a:prstGeom prst="roundRect">
              <a:avLst>
                <a:gd name="adj" fmla="val 2439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KPI 2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KPI 2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+91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13" name="KPI 2 label" descr="pptx-deck-generated"/>
            <p:cNvSpPr txBox="1"/>
            <p:nvPr/>
          </p:nvSpPr>
          <p:spPr>
            <a:xfrm>
              <a:off x="109728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PRのレビュー時間</a:t>
              </a:r>
            </a:p>
          </p:txBody>
        </p:sp>
        <p:sp>
          <p:nvSpPr>
            <p:cNvPr id="14" name="KPI 2 note" descr="pptx-deck-generated"/>
            <p:cNvSpPr txBox="1"/>
            <p:nvPr/>
          </p:nvSpPr>
          <p:spPr>
            <a:xfrm>
              <a:off x="109728" y="1633728"/>
              <a:ext cx="248945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会社単位では差が出ない</a:t>
              </a:r>
            </a:p>
          </p:txBody>
        </p:sp>
      </p:grpSp>
      <p:grpSp>
        <p:nvGrpSpPr>
          <p:cNvPr id="15" name="KPI 3" descr="pptx-deck-generated"/>
          <p:cNvGrpSpPr/>
          <p:nvPr/>
        </p:nvGrpSpPr>
        <p:grpSpPr>
          <a:xfrm>
            <a:off x="6167628" y="2395728"/>
            <a:ext cx="2708910" cy="2249424"/>
            <a:chOff x="0" y="0"/>
            <a:chExt cx="2708910" cy="2249424"/>
          </a:xfrm>
        </p:grpSpPr>
        <p:sp>
          <p:nvSpPr>
            <p:cNvPr id="16" name="KPI 3 tile" descr="pptx-deck-generated"/>
            <p:cNvSpPr/>
            <p:nvPr/>
          </p:nvSpPr>
          <p:spPr>
            <a:xfrm>
              <a:off x="0" y="0"/>
              <a:ext cx="2708910" cy="2249424"/>
            </a:xfrm>
            <a:prstGeom prst="roundRect">
              <a:avLst>
                <a:gd name="adj" fmla="val 2439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KPI 3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KPI 3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−19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19" name="KPI 3 label" descr="pptx-deck-generated"/>
            <p:cNvSpPr txBox="1"/>
            <p:nvPr/>
          </p:nvSpPr>
          <p:spPr>
            <a:xfrm>
              <a:off x="109728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熟練者の作業速度</a:t>
              </a:r>
            </a:p>
          </p:txBody>
        </p:sp>
        <p:sp>
          <p:nvSpPr>
            <p:cNvPr id="20" name="KPI 3 note" descr="pptx-deck-generated"/>
            <p:cNvSpPr txBox="1"/>
            <p:nvPr/>
          </p:nvSpPr>
          <p:spPr>
            <a:xfrm>
              <a:off x="109728" y="1633728"/>
              <a:ext cx="248945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METR 2025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本人の体感は+20%</a:t>
              </a:r>
            </a:p>
          </p:txBody>
        </p:sp>
      </p:grpSp>
      <p:grpSp>
        <p:nvGrpSpPr>
          <p:cNvPr id="21" name="KPI 4" descr="pptx-deck-generated"/>
          <p:cNvGrpSpPr/>
          <p:nvPr/>
        </p:nvGrpSpPr>
        <p:grpSpPr>
          <a:xfrm>
            <a:off x="9022842" y="2395728"/>
            <a:ext cx="2708910" cy="2249424"/>
            <a:chOff x="0" y="0"/>
            <a:chExt cx="2708910" cy="2249424"/>
          </a:xfrm>
        </p:grpSpPr>
        <p:sp>
          <p:nvSpPr>
            <p:cNvPr id="22" name="KPI 4 tile" descr="pptx-deck-generated"/>
            <p:cNvSpPr/>
            <p:nvPr/>
          </p:nvSpPr>
          <p:spPr>
            <a:xfrm>
              <a:off x="0" y="0"/>
              <a:ext cx="2708910" cy="2249424"/>
            </a:xfrm>
            <a:prstGeom prst="roundRect">
              <a:avLst>
                <a:gd name="adj" fmla="val 2439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KPI 4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KPI 4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+20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%超</a:t>
              </a:r>
            </a:p>
          </p:txBody>
        </p:sp>
        <p:sp>
          <p:nvSpPr>
            <p:cNvPr id="25" name="KPI 4 label" descr="pptx-deck-generated"/>
            <p:cNvSpPr txBox="1"/>
            <p:nvPr/>
          </p:nvSpPr>
          <p:spPr>
            <a:xfrm>
              <a:off x="109727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推論コスト</a:t>
              </a:r>
            </a:p>
          </p:txBody>
        </p:sp>
        <p:sp>
          <p:nvSpPr>
            <p:cNvPr id="26" name="KPI 4 note" descr="pptx-deck-generated"/>
            <p:cNvSpPr txBox="1"/>
            <p:nvPr/>
          </p:nvSpPr>
          <p:spPr>
            <a:xfrm>
              <a:off x="109727" y="1633728"/>
              <a:ext cx="248945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LLM生成のAGENTS.md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成功率も低下</a:t>
              </a:r>
            </a:p>
          </p:txBody>
        </p:sp>
      </p:grpSp>
      <p:sp>
        <p:nvSpPr>
          <p:cNvPr id="27" name="Component takeaway" descr="pptx-deck-generated"/>
          <p:cNvSpPr/>
          <p:nvPr/>
        </p:nvSpPr>
        <p:spPr>
          <a:xfrm>
            <a:off x="457200" y="4873752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akeaway accent" descr="pptx-deck-generated"/>
          <p:cNvSpPr/>
          <p:nvPr/>
        </p:nvSpPr>
        <p:spPr>
          <a:xfrm>
            <a:off x="457200" y="4873752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29" name="Takeaway text" descr="pptx-deck-generated"/>
          <p:cNvSpPr txBox="1"/>
          <p:nvPr/>
        </p:nvSpPr>
        <p:spPr>
          <a:xfrm>
            <a:off x="603504" y="4873752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DORA 2025の結論も同じ。AIは強いチームを強くし、弱い仕組みの綻びを広げる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当初の仮説は方向は正しいが、「多いほど良い」「入口だけ」「人は育つ」の3点を修正する</a:t>
            </a:r>
          </a:p>
        </p:txBody>
      </p:sp>
      <p:graphicFrame>
        <p:nvGraphicFramePr>
          <p:cNvPr id="3" name="DataTable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710282"/>
                <a:gridCol w="2995574"/>
                <a:gridCol w="2852928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当初の仮説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支持する根拠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盲点（反証）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修正後の方針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コンテキスト基盤を作る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DORA: 社内データへのAI接続が効果を増幅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文脈が多すぎると成功率が下がり費用が増える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最小限に絞り、追加は評価で採否を決める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暗黙知をインタビューで形式知にする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AWS AI-DLC: AIが質問し人が判断する進め方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委任型の利用では理解度が下がり、次のエキスパートが育たない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インタビューにジュニアを同席させ育成を兼ねる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評価基準に組み込む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DORA: 小さなバッチと安全網が効果を増幅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評価だけでは大型化したPRがレビューで詰まる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PRサイズ上限とレビュー観点を同時に入れる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仮説に無かった4つの論点を、アクションA1・A5・A6に組み込む</a:t>
            </a:r>
          </a:p>
        </p:txBody>
      </p:sp>
      <p:grpSp>
        <p:nvGrpSpPr>
          <p:cNvPr id="3" name="Cards 1" descr="pptx-deck-generated"/>
          <p:cNvGrpSpPr/>
          <p:nvPr/>
        </p:nvGrpSpPr>
        <p:grpSpPr>
          <a:xfrm>
            <a:off x="457200" y="1933956"/>
            <a:ext cx="5554980" cy="1847088"/>
            <a:chOff x="0" y="0"/>
            <a:chExt cx="5554980" cy="1847088"/>
          </a:xfrm>
        </p:grpSpPr>
        <p:sp>
          <p:nvSpPr>
            <p:cNvPr id="4" name="Card 1 body" descr="pptx-deck-generated"/>
            <p:cNvSpPr/>
            <p:nvPr/>
          </p:nvSpPr>
          <p:spPr>
            <a:xfrm>
              <a:off x="0" y="0"/>
              <a:ext cx="5554980" cy="1847088"/>
            </a:xfrm>
            <a:prstGeom prst="roundRect">
              <a:avLst>
                <a:gd name="adj" fmla="val 297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ard 1 heading" descr="pptx-deck-generated"/>
            <p:cNvSpPr/>
            <p:nvPr/>
          </p:nvSpPr>
          <p:spPr>
            <a:xfrm>
              <a:off x="0" y="0"/>
              <a:ext cx="5554980" cy="560832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費用：従量課金</a:t>
              </a:r>
            </a:p>
          </p:txBody>
        </p:sp>
        <p:sp>
          <p:nvSpPr>
            <p:cNvPr id="6" name="Card 1 copy" descr="pptx-deck-generated"/>
            <p:cNvSpPr txBox="1"/>
            <p:nvPr/>
          </p:nvSpPr>
          <p:spPr>
            <a:xfrm>
              <a:off x="109728" y="560832"/>
              <a:ext cx="5335524" cy="12131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2026年6月から補完以外がAIクレジットを消費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code reviewはActions分も消費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対応: A5 予算上限、A6 PRあたり消費</a:t>
              </a:r>
            </a:p>
          </p:txBody>
        </p:sp>
      </p:grpSp>
      <p:grpSp>
        <p:nvGrpSpPr>
          <p:cNvPr id="7" name="Cards 2" descr="pptx-deck-generated"/>
          <p:cNvGrpSpPr/>
          <p:nvPr/>
        </p:nvGrpSpPr>
        <p:grpSpPr>
          <a:xfrm>
            <a:off x="6176772" y="1933956"/>
            <a:ext cx="5554980" cy="1847088"/>
            <a:chOff x="0" y="0"/>
            <a:chExt cx="5554980" cy="1847088"/>
          </a:xfrm>
        </p:grpSpPr>
        <p:sp>
          <p:nvSpPr>
            <p:cNvPr id="8" name="Card 2 body" descr="pptx-deck-generated"/>
            <p:cNvSpPr/>
            <p:nvPr/>
          </p:nvSpPr>
          <p:spPr>
            <a:xfrm>
              <a:off x="0" y="0"/>
              <a:ext cx="5554980" cy="1847088"/>
            </a:xfrm>
            <a:prstGeom prst="roundRect">
              <a:avLst>
                <a:gd name="adj" fmla="val 297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ard 2 heading" descr="pptx-deck-generated"/>
            <p:cNvSpPr/>
            <p:nvPr/>
          </p:nvSpPr>
          <p:spPr>
            <a:xfrm>
              <a:off x="0" y="0"/>
              <a:ext cx="5554980" cy="560832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セキュリティ：情報流出</a:t>
              </a:r>
            </a:p>
          </p:txBody>
        </p:sp>
        <p:sp>
          <p:nvSpPr>
            <p:cNvPr id="10" name="Card 2 copy" descr="pptx-deck-generated"/>
            <p:cNvSpPr txBox="1"/>
            <p:nvPr/>
          </p:nvSpPr>
          <p:spPr>
            <a:xfrm>
              <a:off x="109728" y="560832"/>
              <a:ext cx="5335524" cy="12131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非公開データ・外部入力・送信手段がそろうと漏えい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MCPでつなぐほど攻撃面が広がる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対応: A5 ツール権限を分離</a:t>
              </a:r>
            </a:p>
          </p:txBody>
        </p:sp>
      </p:grpSp>
      <p:grpSp>
        <p:nvGrpSpPr>
          <p:cNvPr id="11" name="Cards 3" descr="pptx-deck-generated"/>
          <p:cNvGrpSpPr/>
          <p:nvPr/>
        </p:nvGrpSpPr>
        <p:grpSpPr>
          <a:xfrm>
            <a:off x="457200" y="3945636"/>
            <a:ext cx="5554980" cy="1847088"/>
            <a:chOff x="0" y="0"/>
            <a:chExt cx="5554980" cy="1847088"/>
          </a:xfrm>
        </p:grpSpPr>
        <p:sp>
          <p:nvSpPr>
            <p:cNvPr id="12" name="Card 3 body" descr="pptx-deck-generated"/>
            <p:cNvSpPr/>
            <p:nvPr/>
          </p:nvSpPr>
          <p:spPr>
            <a:xfrm>
              <a:off x="0" y="0"/>
              <a:ext cx="5554980" cy="1847088"/>
            </a:xfrm>
            <a:prstGeom prst="roundRect">
              <a:avLst>
                <a:gd name="adj" fmla="val 297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Card 3 heading" descr="pptx-deck-generated"/>
            <p:cNvSpPr/>
            <p:nvPr/>
          </p:nvSpPr>
          <p:spPr>
            <a:xfrm>
              <a:off x="0" y="0"/>
              <a:ext cx="5554980" cy="560832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計測：体感と実測の乖離</a:t>
              </a:r>
            </a:p>
          </p:txBody>
        </p:sp>
        <p:sp>
          <p:nvSpPr>
            <p:cNvPr id="14" name="Card 3 copy" descr="pptx-deck-generated"/>
            <p:cNvSpPr txBox="1"/>
            <p:nvPr/>
          </p:nvSpPr>
          <p:spPr>
            <a:xfrm>
              <a:off x="109728" y="560832"/>
              <a:ext cx="5335524" cy="12131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体感で速いと感じても実測は遅いことがある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アンケートでは展開を判断しない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対応: A6 ベースラインと実測</a:t>
              </a:r>
            </a:p>
          </p:txBody>
        </p:sp>
      </p:grpSp>
      <p:grpSp>
        <p:nvGrpSpPr>
          <p:cNvPr id="15" name="Cards 4" descr="pptx-deck-generated"/>
          <p:cNvGrpSpPr/>
          <p:nvPr/>
        </p:nvGrpSpPr>
        <p:grpSpPr>
          <a:xfrm>
            <a:off x="6176772" y="3945636"/>
            <a:ext cx="5554980" cy="1847088"/>
            <a:chOff x="0" y="0"/>
            <a:chExt cx="5554980" cy="1847088"/>
          </a:xfrm>
        </p:grpSpPr>
        <p:sp>
          <p:nvSpPr>
            <p:cNvPr id="16" name="Card 4 body" descr="pptx-deck-generated"/>
            <p:cNvSpPr/>
            <p:nvPr/>
          </p:nvSpPr>
          <p:spPr>
            <a:xfrm>
              <a:off x="0" y="0"/>
              <a:ext cx="5554980" cy="1847088"/>
            </a:xfrm>
            <a:prstGeom prst="roundRect">
              <a:avLst>
                <a:gd name="adj" fmla="val 297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Card 4 heading" descr="pptx-deck-generated"/>
            <p:cNvSpPr/>
            <p:nvPr/>
          </p:nvSpPr>
          <p:spPr>
            <a:xfrm>
              <a:off x="0" y="0"/>
              <a:ext cx="5554980" cy="560832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エージェントの多様化</a:t>
              </a:r>
            </a:p>
          </p:txBody>
        </p:sp>
        <p:sp>
          <p:nvSpPr>
            <p:cNvPr id="18" name="Card 4 copy" descr="pptx-deck-generated"/>
            <p:cNvSpPr txBox="1"/>
            <p:nvPr/>
          </p:nvSpPr>
          <p:spPr>
            <a:xfrm>
              <a:off x="109728" y="560832"/>
              <a:ext cx="5335524" cy="12131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Agent HQで他社エージェントもGitHub上で動く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Copilot専用形式に閉じない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対応: A1 AGENTS.md・skillsで作る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03 打ち手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コンテキストはリポジトリに置き、Copilotの各機能と他社エージェントが同じ前提を読む</a:t>
            </a:r>
          </a:p>
        </p:txBody>
      </p:sp>
      <p:sp>
        <p:nvSpPr>
          <p:cNvPr id="3" name="Hub side 1 title" descr="pptx-deck-generated"/>
          <p:cNvSpPr txBox="1"/>
          <p:nvPr/>
        </p:nvSpPr>
        <p:spPr>
          <a:xfrm>
            <a:off x="457200" y="1554480"/>
            <a:ext cx="40827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入れるもの（評価を通ったものだけ）</a:t>
            </a:r>
          </a:p>
        </p:txBody>
      </p:sp>
      <p:grpSp>
        <p:nvGrpSpPr>
          <p:cNvPr id="4" name="Hub left 1 0" descr="pptx-deck-generated"/>
          <p:cNvGrpSpPr/>
          <p:nvPr/>
        </p:nvGrpSpPr>
        <p:grpSpPr>
          <a:xfrm>
            <a:off x="457200" y="2384298"/>
            <a:ext cx="4082796" cy="798576"/>
            <a:chOff x="0" y="0"/>
            <a:chExt cx="4082796" cy="798576"/>
          </a:xfrm>
        </p:grpSpPr>
        <p:sp>
          <p:nvSpPr>
            <p:cNvPr id="5" name="Hub left 1 box" descr="pptx-deck-generated"/>
            <p:cNvSpPr/>
            <p:nvPr/>
          </p:nvSpPr>
          <p:spPr>
            <a:xfrm>
              <a:off x="0" y="0"/>
              <a:ext cx="4082796" cy="781812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ub left 1 label" descr="pptx-deck-generated"/>
            <p:cNvSpPr txBox="1"/>
            <p:nvPr/>
          </p:nvSpPr>
          <p:spPr>
            <a:xfrm>
              <a:off x="45720" y="18288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規約・禁止事項</a:t>
              </a:r>
            </a:p>
          </p:txBody>
        </p:sp>
        <p:sp>
          <p:nvSpPr>
            <p:cNvPr id="7" name="Hub left 1 detail" descr="pptx-deck-generated"/>
            <p:cNvSpPr txBox="1"/>
            <p:nvPr/>
          </p:nvSpPr>
          <p:spPr>
            <a:xfrm>
              <a:off x="45720" y="408432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インタビュー由来</a:t>
              </a:r>
            </a:p>
          </p:txBody>
        </p:sp>
      </p:grpSp>
      <p:cxnSp>
        <p:nvCxnSpPr>
          <p:cNvPr id="8" name="Hub left 1 link" descr="pptx-deck-generated"/>
          <p:cNvCxnSpPr/>
          <p:nvPr/>
        </p:nvCxnSpPr>
        <p:spPr>
          <a:xfrm>
            <a:off x="4576572" y="2775204"/>
            <a:ext cx="567922" cy="360921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9" name="Hub left 2 0" descr="pptx-deck-generated"/>
          <p:cNvGrpSpPr/>
          <p:nvPr/>
        </p:nvGrpSpPr>
        <p:grpSpPr>
          <a:xfrm>
            <a:off x="457200" y="3312413"/>
            <a:ext cx="4082796" cy="798576"/>
            <a:chOff x="0" y="0"/>
            <a:chExt cx="4082796" cy="798576"/>
          </a:xfrm>
        </p:grpSpPr>
        <p:sp>
          <p:nvSpPr>
            <p:cNvPr id="10" name="Hub left 2 box" descr="pptx-deck-generated"/>
            <p:cNvSpPr/>
            <p:nvPr/>
          </p:nvSpPr>
          <p:spPr>
            <a:xfrm>
              <a:off x="0" y="0"/>
              <a:ext cx="4082796" cy="781812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ub left 2 label" descr="pptx-deck-generated"/>
            <p:cNvSpPr txBox="1"/>
            <p:nvPr/>
          </p:nvSpPr>
          <p:spPr>
            <a:xfrm>
              <a:off x="45720" y="18288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設計判断・用語</a:t>
              </a:r>
            </a:p>
          </p:txBody>
        </p:sp>
        <p:sp>
          <p:nvSpPr>
            <p:cNvPr id="12" name="Hub left 2 detail" descr="pptx-deck-generated"/>
            <p:cNvSpPr txBox="1"/>
            <p:nvPr/>
          </p:nvSpPr>
          <p:spPr>
            <a:xfrm>
              <a:off x="45720" y="408432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ADR・CONTEXT.md</a:t>
              </a:r>
            </a:p>
          </p:txBody>
        </p:sp>
      </p:grpSp>
      <p:cxnSp>
        <p:nvCxnSpPr>
          <p:cNvPr id="13" name="Hub left 2 link" descr="pptx-deck-generated"/>
          <p:cNvCxnSpPr/>
          <p:nvPr/>
        </p:nvCxnSpPr>
        <p:spPr>
          <a:xfrm>
            <a:off x="4576572" y="3703320"/>
            <a:ext cx="411480" cy="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14" name="Hub left 3 0" descr="pptx-deck-generated"/>
          <p:cNvGrpSpPr/>
          <p:nvPr/>
        </p:nvGrpSpPr>
        <p:grpSpPr>
          <a:xfrm>
            <a:off x="457200" y="4240529"/>
            <a:ext cx="4082796" cy="798576"/>
            <a:chOff x="0" y="0"/>
            <a:chExt cx="4082796" cy="798576"/>
          </a:xfrm>
        </p:grpSpPr>
        <p:sp>
          <p:nvSpPr>
            <p:cNvPr id="15" name="Hub left 3 box" descr="pptx-deck-generated"/>
            <p:cNvSpPr/>
            <p:nvPr/>
          </p:nvSpPr>
          <p:spPr>
            <a:xfrm>
              <a:off x="0" y="0"/>
              <a:ext cx="4082796" cy="781812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ub left 3 label" descr="pptx-deck-generated"/>
            <p:cNvSpPr txBox="1"/>
            <p:nvPr/>
          </p:nvSpPr>
          <p:spPr>
            <a:xfrm>
              <a:off x="45720" y="18288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評価ケース</a:t>
              </a:r>
            </a:p>
          </p:txBody>
        </p:sp>
        <p:sp>
          <p:nvSpPr>
            <p:cNvPr id="17" name="Hub left 3 detail" descr="pptx-deck-generated"/>
            <p:cNvSpPr txBox="1"/>
            <p:nvPr/>
          </p:nvSpPr>
          <p:spPr>
            <a:xfrm>
              <a:off x="45720" y="408432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採否の判定に使う</a:t>
              </a:r>
            </a:p>
          </p:txBody>
        </p:sp>
      </p:grpSp>
      <p:cxnSp>
        <p:nvCxnSpPr>
          <p:cNvPr id="18" name="Hub left 3 link" descr="pptx-deck-generated"/>
          <p:cNvCxnSpPr/>
          <p:nvPr/>
        </p:nvCxnSpPr>
        <p:spPr>
          <a:xfrm flipV="1">
            <a:off x="4576572" y="4270514"/>
            <a:ext cx="567922" cy="360922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sp>
        <p:nvSpPr>
          <p:cNvPr id="19" name="Hub side 2 title" descr="pptx-deck-generated"/>
          <p:cNvSpPr txBox="1"/>
          <p:nvPr/>
        </p:nvSpPr>
        <p:spPr>
          <a:xfrm>
            <a:off x="7648955" y="1554480"/>
            <a:ext cx="40827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使う側</a:t>
            </a:r>
          </a:p>
        </p:txBody>
      </p:sp>
      <p:grpSp>
        <p:nvGrpSpPr>
          <p:cNvPr id="20" name="Hub right 1 0" descr="pptx-deck-generated"/>
          <p:cNvGrpSpPr/>
          <p:nvPr/>
        </p:nvGrpSpPr>
        <p:grpSpPr>
          <a:xfrm>
            <a:off x="7648955" y="1920240"/>
            <a:ext cx="4082796" cy="798576"/>
            <a:chOff x="0" y="0"/>
            <a:chExt cx="4082796" cy="798576"/>
          </a:xfrm>
        </p:grpSpPr>
        <p:sp>
          <p:nvSpPr>
            <p:cNvPr id="21" name="Hub right 1 box" descr="pptx-deck-generated"/>
            <p:cNvSpPr/>
            <p:nvPr/>
          </p:nvSpPr>
          <p:spPr>
            <a:xfrm>
              <a:off x="0" y="0"/>
              <a:ext cx="4082796" cy="781812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ub right 1 label" descr="pptx-deck-generated"/>
            <p:cNvSpPr txBox="1"/>
            <p:nvPr/>
          </p:nvSpPr>
          <p:spPr>
            <a:xfrm>
              <a:off x="45720" y="18288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IDEのagent mode</a:t>
              </a:r>
            </a:p>
          </p:txBody>
        </p:sp>
        <p:sp>
          <p:nvSpPr>
            <p:cNvPr id="23" name="Hub right 1 detail" descr="pptx-deck-generated"/>
            <p:cNvSpPr txBox="1"/>
            <p:nvPr/>
          </p:nvSpPr>
          <p:spPr>
            <a:xfrm>
              <a:off x="45720" y="408432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日々の実装</a:t>
              </a:r>
            </a:p>
          </p:txBody>
        </p:sp>
      </p:grpSp>
      <p:cxnSp>
        <p:nvCxnSpPr>
          <p:cNvPr id="24" name="Hub right 1 link" descr="pptx-deck-generated"/>
          <p:cNvCxnSpPr/>
          <p:nvPr/>
        </p:nvCxnSpPr>
        <p:spPr>
          <a:xfrm flipV="1">
            <a:off x="6918680" y="2311146"/>
            <a:ext cx="693699" cy="654026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25" name="Hub right 2 0" descr="pptx-deck-generated"/>
          <p:cNvGrpSpPr/>
          <p:nvPr/>
        </p:nvGrpSpPr>
        <p:grpSpPr>
          <a:xfrm>
            <a:off x="7648955" y="2848356"/>
            <a:ext cx="4082796" cy="798576"/>
            <a:chOff x="0" y="0"/>
            <a:chExt cx="4082796" cy="798576"/>
          </a:xfrm>
        </p:grpSpPr>
        <p:sp>
          <p:nvSpPr>
            <p:cNvPr id="26" name="Hub right 2 box" descr="pptx-deck-generated"/>
            <p:cNvSpPr/>
            <p:nvPr/>
          </p:nvSpPr>
          <p:spPr>
            <a:xfrm>
              <a:off x="0" y="0"/>
              <a:ext cx="4082796" cy="781812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ub right 2 label" descr="pptx-deck-generated"/>
            <p:cNvSpPr txBox="1"/>
            <p:nvPr/>
          </p:nvSpPr>
          <p:spPr>
            <a:xfrm>
              <a:off x="45720" y="18288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cloud agent</a:t>
              </a:r>
            </a:p>
          </p:txBody>
        </p:sp>
        <p:sp>
          <p:nvSpPr>
            <p:cNvPr id="28" name="Hub right 2 detail" descr="pptx-deck-generated"/>
            <p:cNvSpPr txBox="1"/>
            <p:nvPr/>
          </p:nvSpPr>
          <p:spPr>
            <a:xfrm>
              <a:off x="45720" y="408432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Issueから自動でPR</a:t>
              </a:r>
            </a:p>
          </p:txBody>
        </p:sp>
      </p:grpSp>
      <p:cxnSp>
        <p:nvCxnSpPr>
          <p:cNvPr id="29" name="Hub right 2 link" descr="pptx-deck-generated"/>
          <p:cNvCxnSpPr/>
          <p:nvPr/>
        </p:nvCxnSpPr>
        <p:spPr>
          <a:xfrm flipV="1">
            <a:off x="7154666" y="3239262"/>
            <a:ext cx="457713" cy="14756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30" name="Hub right 3 0" descr="pptx-deck-generated"/>
          <p:cNvGrpSpPr/>
          <p:nvPr/>
        </p:nvGrpSpPr>
        <p:grpSpPr>
          <a:xfrm>
            <a:off x="7648955" y="3776472"/>
            <a:ext cx="4082796" cy="798575"/>
            <a:chOff x="0" y="0"/>
            <a:chExt cx="4082796" cy="798575"/>
          </a:xfrm>
        </p:grpSpPr>
        <p:sp>
          <p:nvSpPr>
            <p:cNvPr id="31" name="Hub right 3 box" descr="pptx-deck-generated"/>
            <p:cNvSpPr/>
            <p:nvPr/>
          </p:nvSpPr>
          <p:spPr>
            <a:xfrm>
              <a:off x="0" y="0"/>
              <a:ext cx="4082796" cy="781812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ub right 3 label" descr="pptx-deck-generated"/>
            <p:cNvSpPr txBox="1"/>
            <p:nvPr/>
          </p:nvSpPr>
          <p:spPr>
            <a:xfrm>
              <a:off x="45720" y="1828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code review</a:t>
              </a:r>
            </a:p>
          </p:txBody>
        </p:sp>
        <p:sp>
          <p:nvSpPr>
            <p:cNvPr id="33" name="Hub right 3 detail" descr="pptx-deck-generated"/>
            <p:cNvSpPr txBox="1"/>
            <p:nvPr/>
          </p:nvSpPr>
          <p:spPr>
            <a:xfrm>
              <a:off x="45720" y="40843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観点の自動適用</a:t>
              </a:r>
            </a:p>
          </p:txBody>
        </p:sp>
      </p:grpSp>
      <p:cxnSp>
        <p:nvCxnSpPr>
          <p:cNvPr id="34" name="Hub right 3 link" descr="pptx-deck-generated"/>
          <p:cNvCxnSpPr/>
          <p:nvPr/>
        </p:nvCxnSpPr>
        <p:spPr>
          <a:xfrm>
            <a:off x="7154666" y="4019817"/>
            <a:ext cx="457713" cy="147561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35" name="Hub right 4 0" descr="pptx-deck-generated"/>
          <p:cNvGrpSpPr/>
          <p:nvPr/>
        </p:nvGrpSpPr>
        <p:grpSpPr>
          <a:xfrm>
            <a:off x="7648955" y="4704588"/>
            <a:ext cx="4082796" cy="798575"/>
            <a:chOff x="0" y="0"/>
            <a:chExt cx="4082796" cy="798575"/>
          </a:xfrm>
        </p:grpSpPr>
        <p:sp>
          <p:nvSpPr>
            <p:cNvPr id="36" name="Hub right 4 box" descr="pptx-deck-generated"/>
            <p:cNvSpPr/>
            <p:nvPr/>
          </p:nvSpPr>
          <p:spPr>
            <a:xfrm>
              <a:off x="0" y="0"/>
              <a:ext cx="4082796" cy="781812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ub right 4 label" descr="pptx-deck-generated"/>
            <p:cNvSpPr txBox="1"/>
            <p:nvPr/>
          </p:nvSpPr>
          <p:spPr>
            <a:xfrm>
              <a:off x="45720" y="1828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他社エージェント</a:t>
              </a:r>
            </a:p>
          </p:txBody>
        </p:sp>
        <p:sp>
          <p:nvSpPr>
            <p:cNvPr id="38" name="Hub right 4 detail" descr="pptx-deck-generated"/>
            <p:cNvSpPr txBox="1"/>
            <p:nvPr/>
          </p:nvSpPr>
          <p:spPr>
            <a:xfrm>
              <a:off x="45720" y="40843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Agent HQ経由</a:t>
              </a:r>
            </a:p>
          </p:txBody>
        </p:sp>
      </p:grpSp>
      <p:cxnSp>
        <p:nvCxnSpPr>
          <p:cNvPr id="39" name="Hub right 4 link" descr="pptx-deck-generated"/>
          <p:cNvCxnSpPr/>
          <p:nvPr/>
        </p:nvCxnSpPr>
        <p:spPr>
          <a:xfrm>
            <a:off x="6918680" y="4441467"/>
            <a:ext cx="693699" cy="654027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sp>
        <p:nvSpPr>
          <p:cNvPr id="40" name="Hub center ring" descr="pptx-deck-generated"/>
          <p:cNvSpPr/>
          <p:nvPr/>
        </p:nvSpPr>
        <p:spPr>
          <a:xfrm>
            <a:off x="4969764" y="2578608"/>
            <a:ext cx="2249424" cy="22494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1" name="Hub center" descr="pptx-deck-generated"/>
          <p:cNvSpPr/>
          <p:nvPr/>
        </p:nvSpPr>
        <p:spPr>
          <a:xfrm>
            <a:off x="5042916" y="2651760"/>
            <a:ext cx="2103120" cy="2103120"/>
          </a:xfrm>
          <a:prstGeom prst="ellipse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2" name="Hub center text" descr="pptx-deck-generated"/>
          <p:cNvSpPr txBox="1"/>
          <p:nvPr/>
        </p:nvSpPr>
        <p:spPr>
          <a:xfrm>
            <a:off x="5274259" y="2883103"/>
            <a:ext cx="1640433" cy="1640433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chemeClr val="lt1"/>
                </a:solidFill>
                <a:latin typeface="Yu Gothic"/>
                <a:ea typeface="Yu Gothic"/>
              </a:rPr>
              <a:t>コンテキスト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chemeClr val="lt1"/>
                </a:solidFill>
                <a:latin typeface="Yu Gothic"/>
                <a:ea typeface="Yu Gothic"/>
              </a:rPr>
              <a:t>基盤</a:t>
            </a:r>
          </a:p>
        </p:txBody>
      </p:sp>
      <p:sp>
        <p:nvSpPr>
          <p:cNvPr id="43" name="Component takeaway" descr="pptx-deck-generated"/>
          <p:cNvSpPr/>
          <p:nvPr/>
        </p:nvSpPr>
        <p:spPr>
          <a:xfrm>
            <a:off x="457200" y="5715000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akeaway accent" descr="pptx-deck-generated"/>
          <p:cNvSpPr/>
          <p:nvPr/>
        </p:nvSpPr>
        <p:spPr>
          <a:xfrm>
            <a:off x="457200" y="5715000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5" name="Takeaway text" descr="pptx-deck-generated"/>
          <p:cNvSpPr txBox="1"/>
          <p:nvPr/>
        </p:nvSpPr>
        <p:spPr>
          <a:xfrm>
            <a:off x="603504" y="5715000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置き場所は .github/ 配下と AGENTS.md。特定ツールの形式に閉じない（A1）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暗黙知はインタビューskillで引き出し、評価で効果が確認できた分だけ基盤に入れる</a:t>
            </a:r>
          </a:p>
        </p:txBody>
      </p:sp>
      <p:sp>
        <p:nvSpPr>
          <p:cNvPr id="3" name="Swimlane band 1" descr="pptx-deck-generated"/>
          <p:cNvSpPr/>
          <p:nvPr/>
        </p:nvSpPr>
        <p:spPr>
          <a:xfrm>
            <a:off x="457200" y="1554480"/>
            <a:ext cx="11274552" cy="982980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" name="Swimlane lane 1" descr="pptx-deck-generated"/>
          <p:cNvSpPr/>
          <p:nvPr/>
        </p:nvSpPr>
        <p:spPr>
          <a:xfrm>
            <a:off x="457200" y="1554480"/>
            <a:ext cx="1554480" cy="9829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エキスパート＋ジュニア</a:t>
            </a:r>
          </a:p>
        </p:txBody>
      </p:sp>
      <p:sp>
        <p:nvSpPr>
          <p:cNvPr id="5" name="Swimlane band 2" descr="pptx-deck-generated"/>
          <p:cNvSpPr/>
          <p:nvPr/>
        </p:nvSpPr>
        <p:spPr>
          <a:xfrm>
            <a:off x="457200" y="2537460"/>
            <a:ext cx="11274552" cy="982980"/>
          </a:xfrm>
          <a:prstGeom prst="rect">
            <a:avLst/>
          </a:prstGeom>
          <a:solidFill>
            <a:schemeClr val="l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6" name="Swimlane lane 2" descr="pptx-deck-generated"/>
          <p:cNvSpPr/>
          <p:nvPr/>
        </p:nvSpPr>
        <p:spPr>
          <a:xfrm>
            <a:off x="457200" y="2537460"/>
            <a:ext cx="1554480" cy="9829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インタビューskill</a:t>
            </a:r>
          </a:p>
        </p:txBody>
      </p:sp>
      <p:sp>
        <p:nvSpPr>
          <p:cNvPr id="7" name="Swimlane band 3" descr="pptx-deck-generated"/>
          <p:cNvSpPr/>
          <p:nvPr/>
        </p:nvSpPr>
        <p:spPr>
          <a:xfrm>
            <a:off x="457200" y="3520439"/>
            <a:ext cx="11274552" cy="982980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8" name="Swimlane lane 3" descr="pptx-deck-generated"/>
          <p:cNvSpPr/>
          <p:nvPr/>
        </p:nvSpPr>
        <p:spPr>
          <a:xfrm>
            <a:off x="457200" y="3520439"/>
            <a:ext cx="1554480" cy="9829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推進チーム</a:t>
            </a:r>
          </a:p>
        </p:txBody>
      </p:sp>
      <p:sp>
        <p:nvSpPr>
          <p:cNvPr id="9" name="Swimlane band 4" descr="pptx-deck-generated"/>
          <p:cNvSpPr/>
          <p:nvPr/>
        </p:nvSpPr>
        <p:spPr>
          <a:xfrm>
            <a:off x="457200" y="4503420"/>
            <a:ext cx="11274552" cy="982980"/>
          </a:xfrm>
          <a:prstGeom prst="rect">
            <a:avLst/>
          </a:prstGeom>
          <a:solidFill>
            <a:schemeClr val="l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0" name="Swimlane lane 4" descr="pptx-deck-generated"/>
          <p:cNvSpPr/>
          <p:nvPr/>
        </p:nvSpPr>
        <p:spPr>
          <a:xfrm>
            <a:off x="457200" y="4503420"/>
            <a:ext cx="1554480" cy="9829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CI（評価）</a:t>
            </a:r>
          </a:p>
        </p:txBody>
      </p:sp>
      <p:cxnSp>
        <p:nvCxnSpPr>
          <p:cNvPr id="11" name="Swimlane bottom rule" descr="pptx-deck-generated"/>
          <p:cNvCxnSpPr/>
          <p:nvPr/>
        </p:nvCxnSpPr>
        <p:spPr>
          <a:xfrm>
            <a:off x="457200" y="5486400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2" name="Swimlane step 1" descr="pptx-deck-generated"/>
          <p:cNvGrpSpPr/>
          <p:nvPr/>
        </p:nvGrpSpPr>
        <p:grpSpPr>
          <a:xfrm>
            <a:off x="2048256" y="2546604"/>
            <a:ext cx="2265426" cy="882396"/>
            <a:chOff x="0" y="0"/>
            <a:chExt cx="2265426" cy="882396"/>
          </a:xfrm>
        </p:grpSpPr>
        <p:sp>
          <p:nvSpPr>
            <p:cNvPr id="13" name="Swimlane step 1" descr="pptx-deck-generated"/>
            <p:cNvSpPr/>
            <p:nvPr/>
          </p:nvSpPr>
          <p:spPr>
            <a:xfrm>
              <a:off x="91440" y="118872"/>
              <a:ext cx="2173986" cy="763524"/>
            </a:xfrm>
            <a:prstGeom prst="roundRect">
              <a:avLst>
                <a:gd name="adj" fmla="val 7186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chemeClr val="dk1"/>
                  </a:solidFill>
                  <a:latin typeface="Yu Gothic"/>
                  <a:ea typeface="Yu Gothic"/>
                </a:rPr>
                <a:t>既存資料とPR指摘から空白と矛盾を洗い出す</a:t>
              </a:r>
            </a:p>
          </p:txBody>
        </p:sp>
        <p:sp>
          <p:nvSpPr>
            <p:cNvPr id="14" name="Swimlane step 1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1</a:t>
              </a:r>
            </a:p>
          </p:txBody>
        </p:sp>
      </p:grpSp>
      <p:grpSp>
        <p:nvGrpSpPr>
          <p:cNvPr id="15" name="Swimlane step 2" descr="pptx-deck-generated"/>
          <p:cNvGrpSpPr/>
          <p:nvPr/>
        </p:nvGrpSpPr>
        <p:grpSpPr>
          <a:xfrm>
            <a:off x="2048256" y="1563624"/>
            <a:ext cx="2265426" cy="882395"/>
            <a:chOff x="0" y="0"/>
            <a:chExt cx="2265426" cy="882395"/>
          </a:xfrm>
        </p:grpSpPr>
        <p:sp>
          <p:nvSpPr>
            <p:cNvPr id="16" name="Swimlane step 2" descr="pptx-deck-generated"/>
            <p:cNvSpPr/>
            <p:nvPr/>
          </p:nvSpPr>
          <p:spPr>
            <a:xfrm>
              <a:off x="91440" y="118871"/>
              <a:ext cx="2173986" cy="763524"/>
            </a:xfrm>
            <a:prstGeom prst="roundRect">
              <a:avLst>
                <a:gd name="adj" fmla="val 7186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chemeClr val="dk1"/>
                  </a:solidFill>
                  <a:latin typeface="Yu Gothic"/>
                  <a:ea typeface="Yu Gothic"/>
                </a:rPr>
                <a:t>判断の理由と例外を答える</a:t>
              </a:r>
            </a:p>
          </p:txBody>
        </p:sp>
        <p:sp>
          <p:nvSpPr>
            <p:cNvPr id="17" name="Swimlane step 2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2</a:t>
              </a:r>
            </a:p>
          </p:txBody>
        </p:sp>
      </p:grpSp>
      <p:grpSp>
        <p:nvGrpSpPr>
          <p:cNvPr id="18" name="Swimlane step 3" descr="pptx-deck-generated"/>
          <p:cNvGrpSpPr/>
          <p:nvPr/>
        </p:nvGrpSpPr>
        <p:grpSpPr>
          <a:xfrm>
            <a:off x="4478274" y="2546604"/>
            <a:ext cx="2265426" cy="882396"/>
            <a:chOff x="0" y="0"/>
            <a:chExt cx="2265426" cy="882396"/>
          </a:xfrm>
        </p:grpSpPr>
        <p:sp>
          <p:nvSpPr>
            <p:cNvPr id="19" name="Swimlane step 3" descr="pptx-deck-generated"/>
            <p:cNvSpPr/>
            <p:nvPr/>
          </p:nvSpPr>
          <p:spPr>
            <a:xfrm>
              <a:off x="91440" y="118872"/>
              <a:ext cx="2173986" cy="763524"/>
            </a:xfrm>
            <a:prstGeom prst="roundRect">
              <a:avLst>
                <a:gd name="adj" fmla="val 7186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chemeClr val="dk1"/>
                  </a:solidFill>
                  <a:latin typeface="Yu Gothic"/>
                  <a:ea typeface="Yu Gothic"/>
                </a:rPr>
                <a:t>規約案と評価ケース案を同時に作る</a:t>
              </a:r>
            </a:p>
          </p:txBody>
        </p:sp>
        <p:sp>
          <p:nvSpPr>
            <p:cNvPr id="20" name="Swimlane step 3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3</a:t>
              </a:r>
            </a:p>
          </p:txBody>
        </p:sp>
      </p:grpSp>
      <p:grpSp>
        <p:nvGrpSpPr>
          <p:cNvPr id="21" name="Swimlane step 4" descr="pptx-deck-generated"/>
          <p:cNvGrpSpPr/>
          <p:nvPr/>
        </p:nvGrpSpPr>
        <p:grpSpPr>
          <a:xfrm>
            <a:off x="6908292" y="3529584"/>
            <a:ext cx="2265426" cy="882396"/>
            <a:chOff x="0" y="0"/>
            <a:chExt cx="2265426" cy="882396"/>
          </a:xfrm>
        </p:grpSpPr>
        <p:sp>
          <p:nvSpPr>
            <p:cNvPr id="22" name="Swimlane step 4" descr="pptx-deck-generated"/>
            <p:cNvSpPr/>
            <p:nvPr/>
          </p:nvSpPr>
          <p:spPr>
            <a:xfrm>
              <a:off x="91440" y="118872"/>
              <a:ext cx="2173986" cy="763524"/>
            </a:xfrm>
            <a:prstGeom prst="roundRect">
              <a:avLst>
                <a:gd name="adj" fmla="val 7186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chemeClr val="dk1"/>
                  </a:solidFill>
                  <a:latin typeface="Yu Gothic"/>
                  <a:ea typeface="Yu Gothic"/>
                </a:rPr>
                <a:t>要否を見て最小限に絞る</a:t>
              </a:r>
            </a:p>
          </p:txBody>
        </p:sp>
        <p:sp>
          <p:nvSpPr>
            <p:cNvPr id="23" name="Swimlane step 4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4</a:t>
              </a:r>
            </a:p>
          </p:txBody>
        </p:sp>
      </p:grpSp>
      <p:grpSp>
        <p:nvGrpSpPr>
          <p:cNvPr id="24" name="Swimlane step 5" descr="pptx-deck-generated"/>
          <p:cNvGrpSpPr/>
          <p:nvPr/>
        </p:nvGrpSpPr>
        <p:grpSpPr>
          <a:xfrm>
            <a:off x="6908292" y="4512564"/>
            <a:ext cx="2265426" cy="882396"/>
            <a:chOff x="0" y="0"/>
            <a:chExt cx="2265426" cy="882396"/>
          </a:xfrm>
        </p:grpSpPr>
        <p:sp>
          <p:nvSpPr>
            <p:cNvPr id="25" name="Swimlane step 5" descr="pptx-deck-generated"/>
            <p:cNvSpPr/>
            <p:nvPr/>
          </p:nvSpPr>
          <p:spPr>
            <a:xfrm>
              <a:off x="91440" y="118872"/>
              <a:ext cx="2173986" cy="763524"/>
            </a:xfrm>
            <a:prstGeom prst="roundRect">
              <a:avLst>
                <a:gd name="adj" fmla="val 7186"/>
              </a:avLst>
            </a:prstGeom>
            <a:solidFill>
              <a:schemeClr val="lt1"/>
            </a:solidFill>
            <a:ln w="25400">
              <a:solidFill>
                <a:schemeClr val="accent2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chemeClr val="dk1"/>
                  </a:solidFill>
                  <a:latin typeface="Yu Gothic"/>
                  <a:ea typeface="Yu Gothic"/>
                </a:rPr>
                <a:t>規約の有無で評価を比べる</a:t>
              </a:r>
            </a:p>
          </p:txBody>
        </p:sp>
        <p:sp>
          <p:nvSpPr>
            <p:cNvPr id="26" name="Swimlane step 5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5</a:t>
              </a:r>
            </a:p>
          </p:txBody>
        </p:sp>
      </p:grpSp>
      <p:grpSp>
        <p:nvGrpSpPr>
          <p:cNvPr id="27" name="Swimlane step 6" descr="pptx-deck-generated"/>
          <p:cNvGrpSpPr/>
          <p:nvPr/>
        </p:nvGrpSpPr>
        <p:grpSpPr>
          <a:xfrm>
            <a:off x="9338310" y="3529584"/>
            <a:ext cx="2265426" cy="882396"/>
            <a:chOff x="0" y="0"/>
            <a:chExt cx="2265426" cy="882396"/>
          </a:xfrm>
        </p:grpSpPr>
        <p:sp>
          <p:nvSpPr>
            <p:cNvPr id="28" name="Swimlane step 6" descr="pptx-deck-generated"/>
            <p:cNvSpPr/>
            <p:nvPr/>
          </p:nvSpPr>
          <p:spPr>
            <a:xfrm>
              <a:off x="91440" y="118872"/>
              <a:ext cx="2173986" cy="763524"/>
            </a:xfrm>
            <a:prstGeom prst="roundRect">
              <a:avLst>
                <a:gd name="adj" fmla="val 7186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chemeClr val="dk1"/>
                  </a:solidFill>
                  <a:latin typeface="Yu Gothic"/>
                  <a:ea typeface="Yu Gothic"/>
                </a:rPr>
                <a:t>改善した分だけ反映する</a:t>
              </a:r>
            </a:p>
          </p:txBody>
        </p:sp>
        <p:sp>
          <p:nvSpPr>
            <p:cNvPr id="29" name="Swimlane step 6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6</a:t>
              </a:r>
            </a:p>
          </p:txBody>
        </p:sp>
      </p:grpSp>
      <p:cxnSp>
        <p:nvCxnSpPr>
          <p:cNvPr id="30" name="Swimlane flow 1" descr="pptx-deck-generated"/>
          <p:cNvCxnSpPr/>
          <p:nvPr/>
        </p:nvCxnSpPr>
        <p:spPr>
          <a:xfrm flipV="1">
            <a:off x="3226689" y="2446020"/>
            <a:ext cx="0" cy="219456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1" name="Swimlane flow 2" descr="pptx-deck-generated"/>
          <p:cNvCxnSpPr/>
          <p:nvPr/>
        </p:nvCxnSpPr>
        <p:spPr>
          <a:xfrm>
            <a:off x="4313682" y="2064257"/>
            <a:ext cx="256032" cy="982981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2" name="Swimlane flow 3" descr="pptx-deck-generated"/>
          <p:cNvCxnSpPr/>
          <p:nvPr/>
        </p:nvCxnSpPr>
        <p:spPr>
          <a:xfrm>
            <a:off x="6743700" y="3047238"/>
            <a:ext cx="256032" cy="982980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3" name="Swimlane flow 4" descr="pptx-deck-generated"/>
          <p:cNvCxnSpPr/>
          <p:nvPr/>
        </p:nvCxnSpPr>
        <p:spPr>
          <a:xfrm>
            <a:off x="8086725" y="4411979"/>
            <a:ext cx="0" cy="219457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4" name="Swimlane flow 5" descr="pptx-deck-generated"/>
          <p:cNvCxnSpPr/>
          <p:nvPr/>
        </p:nvCxnSpPr>
        <p:spPr>
          <a:xfrm flipV="1">
            <a:off x="9173718" y="4030218"/>
            <a:ext cx="256032" cy="982980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sp>
        <p:nvSpPr>
          <p:cNvPr id="35" name="Component takeaway" descr="pptx-deck-generated"/>
          <p:cNvSpPr/>
          <p:nvPr/>
        </p:nvSpPr>
        <p:spPr>
          <a:xfrm>
            <a:off x="457200" y="5715000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akeaway accent" descr="pptx-deck-generated"/>
          <p:cNvSpPr/>
          <p:nvPr/>
        </p:nvSpPr>
        <p:spPr>
          <a:xfrm>
            <a:off x="457200" y="5715000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37" name="Takeaway text" descr="pptx-deck-generated"/>
          <p:cNvSpPr txBox="1"/>
          <p:nvPr/>
        </p:nvSpPr>
        <p:spPr>
          <a:xfrm>
            <a:off x="603504" y="5715000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ジュニアは質問役で同席し、判断の理由を自分で説明できるところまでを育成目標にする（A2）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常に読み込むのは最小限にし、手順や背景は必要なときだけ呼び出す場所に分ける</a:t>
            </a:r>
          </a:p>
        </p:txBody>
      </p:sp>
      <p:graphicFrame>
        <p:nvGraphicFramePr>
          <p:cNvPr id="3" name="DataTable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872"/>
                <a:gridCol w="3517308"/>
                <a:gridCol w="2344872"/>
                <a:gridCol w="2491428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知識の種類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置き場所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読み込まれ方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評価の方法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全体の禁止事項・必須手順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copilot-instructions.md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常に読み込む（最小限）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違反例を含む評価ケース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領域別の規約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.github/instructions/*.instructions.md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対象パスの作業時だけ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該当パスの評価ケース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調査・判断の手順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.github/skills/&lt;name&gt;/SKILL.md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必要なときに呼び出す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手順の再現テスト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設計判断・用語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ADR・CONTEXT.md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skillから参照する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用語と境界の誤用チェック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パイロットは、効果を測れて失敗の影響が小さい管理画面と通知基盤から始める</a:t>
            </a:r>
          </a:p>
        </p:txBody>
      </p:sp>
      <p:sp>
        <p:nvSpPr>
          <p:cNvPr id="3" name="Scorecard column 1" descr="pptx-deck-generated"/>
          <p:cNvSpPr txBox="1"/>
          <p:nvPr/>
        </p:nvSpPr>
        <p:spPr>
          <a:xfrm>
            <a:off x="3749039" y="182880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請求基盤</a:t>
            </a:r>
          </a:p>
        </p:txBody>
      </p:sp>
      <p:sp>
        <p:nvSpPr>
          <p:cNvPr id="4" name="Scorecard column 2 band" descr="pptx-deck-generated"/>
          <p:cNvSpPr/>
          <p:nvPr/>
        </p:nvSpPr>
        <p:spPr>
          <a:xfrm>
            <a:off x="5772150" y="1554480"/>
            <a:ext cx="1940814" cy="4197096"/>
          </a:xfrm>
          <a:prstGeom prst="roundRect">
            <a:avLst>
              <a:gd name="adj" fmla="val 2827"/>
            </a:avLst>
          </a:prstGeom>
          <a:solidFill>
            <a:schemeClr val="accent2">
              <a:lumMod val="12000"/>
              <a:lumOff val="88000"/>
            </a:schemeClr>
          </a:solidFill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corecard column 2 badge" descr="pptx-deck-generated"/>
          <p:cNvSpPr/>
          <p:nvPr/>
        </p:nvSpPr>
        <p:spPr>
          <a:xfrm>
            <a:off x="6358508" y="1609344"/>
            <a:ext cx="768096" cy="237744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</p:spPr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推奨</a:t>
            </a:r>
          </a:p>
        </p:txBody>
      </p:sp>
      <p:sp>
        <p:nvSpPr>
          <p:cNvPr id="6" name="Scorecard column 2" descr="pptx-deck-generated"/>
          <p:cNvSpPr txBox="1"/>
          <p:nvPr/>
        </p:nvSpPr>
        <p:spPr>
          <a:xfrm>
            <a:off x="5744718" y="182880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2"/>
                </a:solidFill>
                <a:latin typeface="Yu Gothic"/>
                <a:ea typeface="Yu Gothic"/>
              </a:rPr>
              <a:t>管理画面</a:t>
            </a:r>
          </a:p>
        </p:txBody>
      </p:sp>
      <p:sp>
        <p:nvSpPr>
          <p:cNvPr id="7" name="Scorecard column 3 band" descr="pptx-deck-generated"/>
          <p:cNvSpPr/>
          <p:nvPr/>
        </p:nvSpPr>
        <p:spPr>
          <a:xfrm>
            <a:off x="7767827" y="1554480"/>
            <a:ext cx="1940814" cy="4197096"/>
          </a:xfrm>
          <a:prstGeom prst="roundRect">
            <a:avLst>
              <a:gd name="adj" fmla="val 2827"/>
            </a:avLst>
          </a:prstGeom>
          <a:solidFill>
            <a:schemeClr val="accent2">
              <a:lumMod val="12000"/>
              <a:lumOff val="88000"/>
            </a:schemeClr>
          </a:solidFill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corecard column 3 badge" descr="pptx-deck-generated"/>
          <p:cNvSpPr/>
          <p:nvPr/>
        </p:nvSpPr>
        <p:spPr>
          <a:xfrm>
            <a:off x="8354187" y="1609344"/>
            <a:ext cx="768096" cy="237744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</p:spPr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推奨</a:t>
            </a:r>
          </a:p>
        </p:txBody>
      </p:sp>
      <p:sp>
        <p:nvSpPr>
          <p:cNvPr id="9" name="Scorecard column 3" descr="pptx-deck-generated"/>
          <p:cNvSpPr txBox="1"/>
          <p:nvPr/>
        </p:nvSpPr>
        <p:spPr>
          <a:xfrm>
            <a:off x="7740396" y="182880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2"/>
                </a:solidFill>
                <a:latin typeface="Yu Gothic"/>
                <a:ea typeface="Yu Gothic"/>
              </a:rPr>
              <a:t>通知基盤</a:t>
            </a:r>
          </a:p>
        </p:txBody>
      </p:sp>
      <p:sp>
        <p:nvSpPr>
          <p:cNvPr id="10" name="Scorecard column 4" descr="pptx-deck-generated"/>
          <p:cNvSpPr txBox="1"/>
          <p:nvPr/>
        </p:nvSpPr>
        <p:spPr>
          <a:xfrm>
            <a:off x="9736074" y="182880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認証基盤</a:t>
            </a:r>
          </a:p>
        </p:txBody>
      </p:sp>
      <p:cxnSp>
        <p:nvCxnSpPr>
          <p:cNvPr id="11" name="Scorecard header rule" descr="pptx-deck-generated"/>
          <p:cNvCxnSpPr/>
          <p:nvPr/>
        </p:nvCxnSpPr>
        <p:spPr>
          <a:xfrm>
            <a:off x="457200" y="2346960"/>
            <a:ext cx="11274552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grpSp>
        <p:nvGrpSpPr>
          <p:cNvPr id="12" name="Scorecard row 1" descr="pptx-deck-generated"/>
          <p:cNvGrpSpPr/>
          <p:nvPr/>
        </p:nvGrpSpPr>
        <p:grpSpPr>
          <a:xfrm>
            <a:off x="457200" y="2346960"/>
            <a:ext cx="11274552" cy="567436"/>
            <a:chOff x="0" y="0"/>
            <a:chExt cx="11274552" cy="567436"/>
          </a:xfrm>
        </p:grpSpPr>
        <p:sp>
          <p:nvSpPr>
            <p:cNvPr id="13" name="Scorecard row 1" descr="pptx-deck-generated"/>
            <p:cNvSpPr txBox="1"/>
            <p:nvPr/>
          </p:nvSpPr>
          <p:spPr>
            <a:xfrm>
              <a:off x="0" y="0"/>
              <a:ext cx="3291840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変更頻度が高い</a:t>
              </a:r>
            </a:p>
          </p:txBody>
        </p:sp>
        <p:sp>
          <p:nvSpPr>
            <p:cNvPr id="14" name="Scorecard cell 1-1" descr="pptx-deck-generated"/>
            <p:cNvSpPr txBox="1"/>
            <p:nvPr/>
          </p:nvSpPr>
          <p:spPr>
            <a:xfrm>
              <a:off x="3291839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15" name="Scorecard cell 1-2" descr="pptx-deck-generated"/>
            <p:cNvSpPr txBox="1"/>
            <p:nvPr/>
          </p:nvSpPr>
          <p:spPr>
            <a:xfrm>
              <a:off x="5287517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16" name="Scorecard cell 1-3" descr="pptx-deck-generated"/>
            <p:cNvSpPr txBox="1"/>
            <p:nvPr/>
          </p:nvSpPr>
          <p:spPr>
            <a:xfrm>
              <a:off x="7283196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17" name="Scorecard cell 1-4" descr="pptx-deck-generated"/>
            <p:cNvSpPr txBox="1"/>
            <p:nvPr/>
          </p:nvSpPr>
          <p:spPr>
            <a:xfrm>
              <a:off x="9278874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△</a:t>
              </a:r>
            </a:p>
          </p:txBody>
        </p:sp>
      </p:grpSp>
      <p:cxnSp>
        <p:nvCxnSpPr>
          <p:cNvPr id="18" name="Scorecard rule 1" descr="pptx-deck-generated"/>
          <p:cNvCxnSpPr/>
          <p:nvPr/>
        </p:nvCxnSpPr>
        <p:spPr>
          <a:xfrm>
            <a:off x="457200" y="2914396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9" name="Scorecard row 2" descr="pptx-deck-generated"/>
          <p:cNvGrpSpPr/>
          <p:nvPr/>
        </p:nvGrpSpPr>
        <p:grpSpPr>
          <a:xfrm>
            <a:off x="457200" y="2914396"/>
            <a:ext cx="11274552" cy="567436"/>
            <a:chOff x="0" y="0"/>
            <a:chExt cx="11274552" cy="567436"/>
          </a:xfrm>
        </p:grpSpPr>
        <p:sp>
          <p:nvSpPr>
            <p:cNvPr id="20" name="Scorecard row 2" descr="pptx-deck-generated"/>
            <p:cNvSpPr txBox="1"/>
            <p:nvPr/>
          </p:nvSpPr>
          <p:spPr>
            <a:xfrm>
              <a:off x="0" y="0"/>
              <a:ext cx="3291840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エキスパートが在籍</a:t>
              </a:r>
            </a:p>
          </p:txBody>
        </p:sp>
        <p:sp>
          <p:nvSpPr>
            <p:cNvPr id="21" name="Scorecard cell 2-1" descr="pptx-deck-generated"/>
            <p:cNvSpPr txBox="1"/>
            <p:nvPr/>
          </p:nvSpPr>
          <p:spPr>
            <a:xfrm>
              <a:off x="3291839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22" name="Scorecard cell 2-2" descr="pptx-deck-generated"/>
            <p:cNvSpPr txBox="1"/>
            <p:nvPr/>
          </p:nvSpPr>
          <p:spPr>
            <a:xfrm>
              <a:off x="5287517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23" name="Scorecard cell 2-3" descr="pptx-deck-generated"/>
            <p:cNvSpPr txBox="1"/>
            <p:nvPr/>
          </p:nvSpPr>
          <p:spPr>
            <a:xfrm>
              <a:off x="7283196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24" name="Scorecard cell 2-4" descr="pptx-deck-generated"/>
            <p:cNvSpPr txBox="1"/>
            <p:nvPr/>
          </p:nvSpPr>
          <p:spPr>
            <a:xfrm>
              <a:off x="9278874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</p:grpSp>
      <p:cxnSp>
        <p:nvCxnSpPr>
          <p:cNvPr id="25" name="Scorecard rule 2" descr="pptx-deck-generated"/>
          <p:cNvCxnSpPr/>
          <p:nvPr/>
        </p:nvCxnSpPr>
        <p:spPr>
          <a:xfrm>
            <a:off x="457200" y="3481832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26" name="Scorecard row 3" descr="pptx-deck-generated"/>
          <p:cNvGrpSpPr/>
          <p:nvPr/>
        </p:nvGrpSpPr>
        <p:grpSpPr>
          <a:xfrm>
            <a:off x="457200" y="3481832"/>
            <a:ext cx="11274552" cy="567436"/>
            <a:chOff x="0" y="0"/>
            <a:chExt cx="11274552" cy="567436"/>
          </a:xfrm>
        </p:grpSpPr>
        <p:sp>
          <p:nvSpPr>
            <p:cNvPr id="27" name="Scorecard row 3" descr="pptx-deck-generated"/>
            <p:cNvSpPr txBox="1"/>
            <p:nvPr/>
          </p:nvSpPr>
          <p:spPr>
            <a:xfrm>
              <a:off x="0" y="0"/>
              <a:ext cx="3291840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自動テストが厚い</a:t>
              </a:r>
            </a:p>
          </p:txBody>
        </p:sp>
        <p:sp>
          <p:nvSpPr>
            <p:cNvPr id="28" name="Scorecard cell 3-1" descr="pptx-deck-generated"/>
            <p:cNvSpPr txBox="1"/>
            <p:nvPr/>
          </p:nvSpPr>
          <p:spPr>
            <a:xfrm>
              <a:off x="3291839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△</a:t>
              </a:r>
            </a:p>
          </p:txBody>
        </p:sp>
        <p:sp>
          <p:nvSpPr>
            <p:cNvPr id="29" name="Scorecard cell 3-2" descr="pptx-deck-generated"/>
            <p:cNvSpPr txBox="1"/>
            <p:nvPr/>
          </p:nvSpPr>
          <p:spPr>
            <a:xfrm>
              <a:off x="5287517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30" name="Scorecard cell 3-3" descr="pptx-deck-generated"/>
            <p:cNvSpPr txBox="1"/>
            <p:nvPr/>
          </p:nvSpPr>
          <p:spPr>
            <a:xfrm>
              <a:off x="7283196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31" name="Scorecard cell 3-4" descr="pptx-deck-generated"/>
            <p:cNvSpPr txBox="1"/>
            <p:nvPr/>
          </p:nvSpPr>
          <p:spPr>
            <a:xfrm>
              <a:off x="9278874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</p:grpSp>
      <p:cxnSp>
        <p:nvCxnSpPr>
          <p:cNvPr id="32" name="Scorecard rule 3" descr="pptx-deck-generated"/>
          <p:cNvCxnSpPr/>
          <p:nvPr/>
        </p:nvCxnSpPr>
        <p:spPr>
          <a:xfrm>
            <a:off x="457200" y="4049268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33" name="Scorecard row 4" descr="pptx-deck-generated"/>
          <p:cNvGrpSpPr/>
          <p:nvPr/>
        </p:nvGrpSpPr>
        <p:grpSpPr>
          <a:xfrm>
            <a:off x="457200" y="4049267"/>
            <a:ext cx="11274552" cy="567436"/>
            <a:chOff x="0" y="0"/>
            <a:chExt cx="11274552" cy="567436"/>
          </a:xfrm>
        </p:grpSpPr>
        <p:sp>
          <p:nvSpPr>
            <p:cNvPr id="34" name="Scorecard row 4" descr="pptx-deck-generated"/>
            <p:cNvSpPr txBox="1"/>
            <p:nvPr/>
          </p:nvSpPr>
          <p:spPr>
            <a:xfrm>
              <a:off x="0" y="0"/>
              <a:ext cx="3291840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失敗時の顧客影響が小さい</a:t>
              </a:r>
            </a:p>
          </p:txBody>
        </p:sp>
        <p:sp>
          <p:nvSpPr>
            <p:cNvPr id="35" name="Scorecard cell 4-1" descr="pptx-deck-generated"/>
            <p:cNvSpPr txBox="1"/>
            <p:nvPr/>
          </p:nvSpPr>
          <p:spPr>
            <a:xfrm>
              <a:off x="3291839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2"/>
                  </a:solidFill>
                  <a:latin typeface="Yu Gothic"/>
                  <a:ea typeface="Yu Gothic"/>
                </a:rPr>
                <a:t>×</a:t>
              </a:r>
            </a:p>
          </p:txBody>
        </p:sp>
        <p:sp>
          <p:nvSpPr>
            <p:cNvPr id="36" name="Scorecard cell 4-2" descr="pptx-deck-generated"/>
            <p:cNvSpPr txBox="1"/>
            <p:nvPr/>
          </p:nvSpPr>
          <p:spPr>
            <a:xfrm>
              <a:off x="5287517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37" name="Scorecard cell 4-3" descr="pptx-deck-generated"/>
            <p:cNvSpPr txBox="1"/>
            <p:nvPr/>
          </p:nvSpPr>
          <p:spPr>
            <a:xfrm>
              <a:off x="7283196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38" name="Scorecard cell 4-4" descr="pptx-deck-generated"/>
            <p:cNvSpPr txBox="1"/>
            <p:nvPr/>
          </p:nvSpPr>
          <p:spPr>
            <a:xfrm>
              <a:off x="9278874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2"/>
                  </a:solidFill>
                  <a:latin typeface="Yu Gothic"/>
                  <a:ea typeface="Yu Gothic"/>
                </a:rPr>
                <a:t>×</a:t>
              </a:r>
            </a:p>
          </p:txBody>
        </p:sp>
      </p:grpSp>
      <p:cxnSp>
        <p:nvCxnSpPr>
          <p:cNvPr id="39" name="Scorecard rule 4" descr="pptx-deck-generated"/>
          <p:cNvCxnSpPr/>
          <p:nvPr/>
        </p:nvCxnSpPr>
        <p:spPr>
          <a:xfrm>
            <a:off x="457200" y="4616704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40" name="Scorecard row 5" descr="pptx-deck-generated"/>
          <p:cNvGrpSpPr/>
          <p:nvPr/>
        </p:nvGrpSpPr>
        <p:grpSpPr>
          <a:xfrm>
            <a:off x="457200" y="4616704"/>
            <a:ext cx="11274552" cy="567436"/>
            <a:chOff x="0" y="0"/>
            <a:chExt cx="11274552" cy="567436"/>
          </a:xfrm>
        </p:grpSpPr>
        <p:sp>
          <p:nvSpPr>
            <p:cNvPr id="41" name="Scorecard row 5" descr="pptx-deck-generated"/>
            <p:cNvSpPr txBox="1"/>
            <p:nvPr/>
          </p:nvSpPr>
          <p:spPr>
            <a:xfrm>
              <a:off x="0" y="0"/>
              <a:ext cx="3291840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リーダーの意欲</a:t>
              </a:r>
            </a:p>
          </p:txBody>
        </p:sp>
        <p:sp>
          <p:nvSpPr>
            <p:cNvPr id="42" name="Scorecard cell 5-1" descr="pptx-deck-generated"/>
            <p:cNvSpPr txBox="1"/>
            <p:nvPr/>
          </p:nvSpPr>
          <p:spPr>
            <a:xfrm>
              <a:off x="3291839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43" name="Scorecard cell 5-2" descr="pptx-deck-generated"/>
            <p:cNvSpPr txBox="1"/>
            <p:nvPr/>
          </p:nvSpPr>
          <p:spPr>
            <a:xfrm>
              <a:off x="5287517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44" name="Scorecard cell 5-3" descr="pptx-deck-generated"/>
            <p:cNvSpPr txBox="1"/>
            <p:nvPr/>
          </p:nvSpPr>
          <p:spPr>
            <a:xfrm>
              <a:off x="7283196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45" name="Scorecard cell 5-4" descr="pptx-deck-generated"/>
            <p:cNvSpPr txBox="1"/>
            <p:nvPr/>
          </p:nvSpPr>
          <p:spPr>
            <a:xfrm>
              <a:off x="9278874" y="0"/>
              <a:ext cx="1995678" cy="567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△</a:t>
              </a:r>
            </a:p>
          </p:txBody>
        </p:sp>
      </p:grpSp>
      <p:cxnSp>
        <p:nvCxnSpPr>
          <p:cNvPr id="46" name="Scorecard rule 5" descr="pptx-deck-generated"/>
          <p:cNvCxnSpPr/>
          <p:nvPr/>
        </p:nvCxnSpPr>
        <p:spPr>
          <a:xfrm>
            <a:off x="457200" y="5184140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47" name="Scorecard total label" descr="pptx-deck-generated"/>
          <p:cNvSpPr txBox="1"/>
          <p:nvPr/>
        </p:nvSpPr>
        <p:spPr>
          <a:xfrm>
            <a:off x="457200" y="5184140"/>
            <a:ext cx="3291840" cy="56743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合計（◎3・○2・△1・×0）</a:t>
            </a:r>
          </a:p>
        </p:txBody>
      </p:sp>
      <p:sp>
        <p:nvSpPr>
          <p:cNvPr id="48" name="Scorecard total 1" descr="pptx-deck-generated"/>
          <p:cNvSpPr txBox="1"/>
          <p:nvPr/>
        </p:nvSpPr>
        <p:spPr>
          <a:xfrm>
            <a:off x="3749039" y="5184140"/>
            <a:ext cx="1995678" cy="56743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dk1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49" name="Scorecard total 2" descr="pptx-deck-generated"/>
          <p:cNvSpPr txBox="1"/>
          <p:nvPr/>
        </p:nvSpPr>
        <p:spPr>
          <a:xfrm>
            <a:off x="5744718" y="5184140"/>
            <a:ext cx="1995678" cy="56743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accent2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50" name="Scorecard total 3" descr="pptx-deck-generated"/>
          <p:cNvSpPr txBox="1"/>
          <p:nvPr/>
        </p:nvSpPr>
        <p:spPr>
          <a:xfrm>
            <a:off x="7740396" y="5184140"/>
            <a:ext cx="1995678" cy="56743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accent2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51" name="Scorecard total 4" descr="pptx-deck-generated"/>
          <p:cNvSpPr txBox="1"/>
          <p:nvPr/>
        </p:nvSpPr>
        <p:spPr>
          <a:xfrm>
            <a:off x="9736074" y="5184140"/>
            <a:ext cx="1995678" cy="56743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dk1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52" name="Scorecard legend" descr="pptx-deck-generated"/>
          <p:cNvSpPr txBox="1"/>
          <p:nvPr/>
        </p:nvSpPr>
        <p:spPr>
          <a:xfrm>
            <a:off x="457200" y="5788152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◎ 非常に適合　○ 適合　△ 一部適合　× 不適合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/>
          <a:lstStyle/>
          <a:p>
            <a:r>
              <a:t>04 実行計画と判断事項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6つのアクションに担当と完了条件を付け、90日で完了させる</a:t>
            </a:r>
          </a:p>
        </p:txBody>
      </p:sp>
      <p:sp>
        <p:nvSpPr>
          <p:cNvPr id="3" name="Action header issue" descr="pptx-deck-generated"/>
          <p:cNvSpPr txBox="1"/>
          <p:nvPr/>
        </p:nvSpPr>
        <p:spPr>
          <a:xfrm>
            <a:off x="457200" y="1554480"/>
            <a:ext cx="2450134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課題</a:t>
            </a:r>
          </a:p>
        </p:txBody>
      </p:sp>
      <p:sp>
        <p:nvSpPr>
          <p:cNvPr id="4" name="Action header action" descr="pptx-deck-generated"/>
          <p:cNvSpPr txBox="1"/>
          <p:nvPr/>
        </p:nvSpPr>
        <p:spPr>
          <a:xfrm>
            <a:off x="3309670" y="1554480"/>
            <a:ext cx="33023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アクション</a:t>
            </a:r>
          </a:p>
        </p:txBody>
      </p:sp>
      <p:sp>
        <p:nvSpPr>
          <p:cNvPr id="5" name="Action header owner" descr="pptx-deck-generated"/>
          <p:cNvSpPr txBox="1"/>
          <p:nvPr/>
        </p:nvSpPr>
        <p:spPr>
          <a:xfrm>
            <a:off x="6685178" y="1554480"/>
            <a:ext cx="15979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担当</a:t>
            </a:r>
          </a:p>
        </p:txBody>
      </p:sp>
      <p:sp>
        <p:nvSpPr>
          <p:cNvPr id="6" name="Action header due" descr="pptx-deck-generated"/>
          <p:cNvSpPr txBox="1"/>
          <p:nvPr/>
        </p:nvSpPr>
        <p:spPr>
          <a:xfrm>
            <a:off x="8356244" y="1554480"/>
            <a:ext cx="8522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期限</a:t>
            </a:r>
          </a:p>
        </p:txBody>
      </p:sp>
      <p:sp>
        <p:nvSpPr>
          <p:cNvPr id="7" name="Action header done_when" descr="pptx-deck-generated"/>
          <p:cNvSpPr txBox="1"/>
          <p:nvPr/>
        </p:nvSpPr>
        <p:spPr>
          <a:xfrm>
            <a:off x="9281617" y="1554480"/>
            <a:ext cx="2450134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完了条件</a:t>
            </a:r>
          </a:p>
        </p:txBody>
      </p:sp>
      <p:cxnSp>
        <p:nvCxnSpPr>
          <p:cNvPr id="8" name="Action header rule" descr="pptx-deck-generated"/>
          <p:cNvCxnSpPr/>
          <p:nvPr/>
        </p:nvCxnSpPr>
        <p:spPr>
          <a:xfrm>
            <a:off x="457200" y="1938528"/>
            <a:ext cx="11274552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grpSp>
        <p:nvGrpSpPr>
          <p:cNvPr id="9" name="Action 1" descr="pptx-deck-generated"/>
          <p:cNvGrpSpPr/>
          <p:nvPr/>
        </p:nvGrpSpPr>
        <p:grpSpPr>
          <a:xfrm>
            <a:off x="457200" y="2011680"/>
            <a:ext cx="11274551" cy="629412"/>
            <a:chOff x="0" y="0"/>
            <a:chExt cx="11274551" cy="629412"/>
          </a:xfrm>
        </p:grpSpPr>
        <p:sp>
          <p:nvSpPr>
            <p:cNvPr id="10" name="Action 1 issue" descr="pptx-deck-generated"/>
            <p:cNvSpPr/>
            <p:nvPr/>
          </p:nvSpPr>
          <p:spPr>
            <a:xfrm>
              <a:off x="0" y="0"/>
              <a:ext cx="2450134" cy="629412"/>
            </a:xfrm>
            <a:prstGeom prst="roundRect">
              <a:avLst>
                <a:gd name="adj" fmla="val 8717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最小限の指示が無い</a:t>
              </a:r>
            </a:p>
          </p:txBody>
        </p:sp>
        <p:sp>
          <p:nvSpPr>
            <p:cNvPr id="11" name="Action 1 arrow" descr="pptx-deck-generated"/>
            <p:cNvSpPr/>
            <p:nvPr/>
          </p:nvSpPr>
          <p:spPr>
            <a:xfrm>
              <a:off x="2504998" y="19583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Action 1 box" descr="pptx-deck-generated"/>
            <p:cNvSpPr/>
            <p:nvPr/>
          </p:nvSpPr>
          <p:spPr>
            <a:xfrm>
              <a:off x="2852470" y="0"/>
              <a:ext cx="3302355" cy="629412"/>
            </a:xfrm>
            <a:prstGeom prst="roundRect">
              <a:avLst>
                <a:gd name="adj" fmla="val 8717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Action 1 id" descr="pptx-deck-generated"/>
            <p:cNvSpPr/>
            <p:nvPr/>
          </p:nvSpPr>
          <p:spPr>
            <a:xfrm>
              <a:off x="2925622" y="15925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A1</a:t>
              </a:r>
            </a:p>
          </p:txBody>
        </p:sp>
        <p:sp>
          <p:nvSpPr>
            <p:cNvPr id="14" name="Action 1 text" descr="pptx-deck-generated"/>
            <p:cNvSpPr txBox="1"/>
            <p:nvPr/>
          </p:nvSpPr>
          <p:spPr>
            <a:xfrm>
              <a:off x="3346246" y="0"/>
              <a:ext cx="2808579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最小コンテキスト基盤を配置</a:t>
              </a:r>
            </a:p>
          </p:txBody>
        </p:sp>
        <p:sp>
          <p:nvSpPr>
            <p:cNvPr id="15" name="Action 1 owner" descr="pptx-deck-generated"/>
            <p:cNvSpPr txBox="1"/>
            <p:nvPr/>
          </p:nvSpPr>
          <p:spPr>
            <a:xfrm>
              <a:off x="6227978" y="0"/>
              <a:ext cx="159791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推進チーム</a:t>
              </a:r>
            </a:p>
          </p:txBody>
        </p:sp>
        <p:sp>
          <p:nvSpPr>
            <p:cNvPr id="16" name="Action 1 due" descr="pptx-deck-generated"/>
            <p:cNvSpPr txBox="1"/>
            <p:nvPr/>
          </p:nvSpPr>
          <p:spPr>
            <a:xfrm>
              <a:off x="7899044" y="0"/>
              <a:ext cx="852220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Day30</a:t>
              </a:r>
            </a:p>
          </p:txBody>
        </p:sp>
        <p:sp>
          <p:nvSpPr>
            <p:cNvPr id="17" name="Action 1 done_when" descr="pptx-deck-generated"/>
            <p:cNvSpPr txBox="1"/>
            <p:nvPr/>
          </p:nvSpPr>
          <p:spPr>
            <a:xfrm>
              <a:off x="8824417" y="0"/>
              <a:ext cx="245013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2リポジトリに配置し、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記述ごとに評価ケースがある</a:t>
              </a:r>
            </a:p>
          </p:txBody>
        </p:sp>
      </p:grpSp>
      <p:cxnSp>
        <p:nvCxnSpPr>
          <p:cNvPr id="18" name="Action rule 1" descr="pptx-deck-generated"/>
          <p:cNvCxnSpPr/>
          <p:nvPr/>
        </p:nvCxnSpPr>
        <p:spPr>
          <a:xfrm>
            <a:off x="6685178" y="2686812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9" name="Action 2" descr="pptx-deck-generated"/>
          <p:cNvGrpSpPr/>
          <p:nvPr/>
        </p:nvGrpSpPr>
        <p:grpSpPr>
          <a:xfrm>
            <a:off x="457200" y="2732532"/>
            <a:ext cx="11274551" cy="629412"/>
            <a:chOff x="0" y="0"/>
            <a:chExt cx="11274551" cy="629412"/>
          </a:xfrm>
        </p:grpSpPr>
        <p:sp>
          <p:nvSpPr>
            <p:cNvPr id="20" name="Action 2 issue" descr="pptx-deck-generated"/>
            <p:cNvSpPr/>
            <p:nvPr/>
          </p:nvSpPr>
          <p:spPr>
            <a:xfrm>
              <a:off x="0" y="0"/>
              <a:ext cx="2450134" cy="629412"/>
            </a:xfrm>
            <a:prstGeom prst="roundRect">
              <a:avLst>
                <a:gd name="adj" fmla="val 8717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暗黙知がエキスパート依存</a:t>
              </a:r>
            </a:p>
          </p:txBody>
        </p:sp>
        <p:sp>
          <p:nvSpPr>
            <p:cNvPr id="21" name="Action 2 arrow" descr="pptx-deck-generated"/>
            <p:cNvSpPr/>
            <p:nvPr/>
          </p:nvSpPr>
          <p:spPr>
            <a:xfrm>
              <a:off x="2504998" y="195834"/>
              <a:ext cx="292608" cy="237744"/>
            </a:xfrm>
            <a:prstGeom prst="rightArrow">
              <a:avLst/>
            </a:prstGeom>
            <a:solidFill>
              <a:schemeClr val="accent2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Action 2 box" descr="pptx-deck-generated"/>
            <p:cNvSpPr/>
            <p:nvPr/>
          </p:nvSpPr>
          <p:spPr>
            <a:xfrm>
              <a:off x="2852470" y="0"/>
              <a:ext cx="3302355" cy="629412"/>
            </a:xfrm>
            <a:prstGeom prst="roundRect">
              <a:avLst>
                <a:gd name="adj" fmla="val 8717"/>
              </a:avLst>
            </a:prstGeom>
            <a:solidFill>
              <a:schemeClr val="lt1"/>
            </a:solidFill>
            <a:ln w="254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Action 2 id" descr="pptx-deck-generated"/>
            <p:cNvSpPr/>
            <p:nvPr/>
          </p:nvSpPr>
          <p:spPr>
            <a:xfrm>
              <a:off x="2925622" y="15925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A2</a:t>
              </a:r>
            </a:p>
          </p:txBody>
        </p:sp>
        <p:sp>
          <p:nvSpPr>
            <p:cNvPr id="24" name="Action 2 text" descr="pptx-deck-generated"/>
            <p:cNvSpPr txBox="1"/>
            <p:nvPr/>
          </p:nvSpPr>
          <p:spPr>
            <a:xfrm>
              <a:off x="3346246" y="0"/>
              <a:ext cx="2808579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インタビューで抽出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（ジュニア同席）</a:t>
              </a:r>
            </a:p>
          </p:txBody>
        </p:sp>
        <p:sp>
          <p:nvSpPr>
            <p:cNvPr id="25" name="Action 2 owner" descr="pptx-deck-generated"/>
            <p:cNvSpPr txBox="1"/>
            <p:nvPr/>
          </p:nvSpPr>
          <p:spPr>
            <a:xfrm>
              <a:off x="6227978" y="0"/>
              <a:ext cx="159791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推進＋エキスパート</a:t>
              </a:r>
            </a:p>
          </p:txBody>
        </p:sp>
        <p:sp>
          <p:nvSpPr>
            <p:cNvPr id="26" name="Action 2 due" descr="pptx-deck-generated"/>
            <p:cNvSpPr txBox="1"/>
            <p:nvPr/>
          </p:nvSpPr>
          <p:spPr>
            <a:xfrm>
              <a:off x="7899044" y="0"/>
              <a:ext cx="852220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Day60</a:t>
              </a:r>
            </a:p>
          </p:txBody>
        </p:sp>
        <p:sp>
          <p:nvSpPr>
            <p:cNvPr id="27" name="Action 2 done_when" descr="pptx-deck-generated"/>
            <p:cNvSpPr txBox="1"/>
            <p:nvPr/>
          </p:nvSpPr>
          <p:spPr>
            <a:xfrm>
              <a:off x="8824417" y="0"/>
              <a:ext cx="245013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抽出した40件を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レビュー済み</a:t>
              </a:r>
            </a:p>
          </p:txBody>
        </p:sp>
      </p:grpSp>
      <p:cxnSp>
        <p:nvCxnSpPr>
          <p:cNvPr id="28" name="Action rule 2" descr="pptx-deck-generated"/>
          <p:cNvCxnSpPr/>
          <p:nvPr/>
        </p:nvCxnSpPr>
        <p:spPr>
          <a:xfrm>
            <a:off x="6685178" y="3407664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29" name="Action 3" descr="pptx-deck-generated"/>
          <p:cNvGrpSpPr/>
          <p:nvPr/>
        </p:nvGrpSpPr>
        <p:grpSpPr>
          <a:xfrm>
            <a:off x="457200" y="3453384"/>
            <a:ext cx="11274551" cy="629412"/>
            <a:chOff x="0" y="0"/>
            <a:chExt cx="11274551" cy="629412"/>
          </a:xfrm>
        </p:grpSpPr>
        <p:sp>
          <p:nvSpPr>
            <p:cNvPr id="30" name="Action 3 issue" descr="pptx-deck-generated"/>
            <p:cNvSpPr/>
            <p:nvPr/>
          </p:nvSpPr>
          <p:spPr>
            <a:xfrm>
              <a:off x="0" y="0"/>
              <a:ext cx="2450134" cy="629412"/>
            </a:xfrm>
            <a:prstGeom prst="roundRect">
              <a:avLst>
                <a:gd name="adj" fmla="val 8717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評価の基準が人依存</a:t>
              </a:r>
            </a:p>
          </p:txBody>
        </p:sp>
        <p:sp>
          <p:nvSpPr>
            <p:cNvPr id="31" name="Action 3 arrow" descr="pptx-deck-generated"/>
            <p:cNvSpPr/>
            <p:nvPr/>
          </p:nvSpPr>
          <p:spPr>
            <a:xfrm>
              <a:off x="2504998" y="19583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Action 3 box" descr="pptx-deck-generated"/>
            <p:cNvSpPr/>
            <p:nvPr/>
          </p:nvSpPr>
          <p:spPr>
            <a:xfrm>
              <a:off x="2852470" y="0"/>
              <a:ext cx="3302355" cy="629412"/>
            </a:xfrm>
            <a:prstGeom prst="roundRect">
              <a:avLst>
                <a:gd name="adj" fmla="val 8717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Action 3 id" descr="pptx-deck-generated"/>
            <p:cNvSpPr/>
            <p:nvPr/>
          </p:nvSpPr>
          <p:spPr>
            <a:xfrm>
              <a:off x="2925622" y="15925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A3</a:t>
              </a:r>
            </a:p>
          </p:txBody>
        </p:sp>
        <p:sp>
          <p:nvSpPr>
            <p:cNvPr id="34" name="Action 3 text" descr="pptx-deck-generated"/>
            <p:cNvSpPr txBox="1"/>
            <p:nvPr/>
          </p:nvSpPr>
          <p:spPr>
            <a:xfrm>
              <a:off x="3346246" y="0"/>
              <a:ext cx="2808579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評価セットをCIに組み込む</a:t>
              </a:r>
            </a:p>
          </p:txBody>
        </p:sp>
        <p:sp>
          <p:nvSpPr>
            <p:cNvPr id="35" name="Action 3 owner" descr="pptx-deck-generated"/>
            <p:cNvSpPr txBox="1"/>
            <p:nvPr/>
          </p:nvSpPr>
          <p:spPr>
            <a:xfrm>
              <a:off x="6227978" y="0"/>
              <a:ext cx="159791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QA</a:t>
              </a:r>
            </a:p>
          </p:txBody>
        </p:sp>
        <p:sp>
          <p:nvSpPr>
            <p:cNvPr id="36" name="Action 3 due" descr="pptx-deck-generated"/>
            <p:cNvSpPr txBox="1"/>
            <p:nvPr/>
          </p:nvSpPr>
          <p:spPr>
            <a:xfrm>
              <a:off x="7899044" y="0"/>
              <a:ext cx="852220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Day60</a:t>
              </a:r>
            </a:p>
          </p:txBody>
        </p:sp>
        <p:sp>
          <p:nvSpPr>
            <p:cNvPr id="37" name="Action 3 done_when" descr="pptx-deck-generated"/>
            <p:cNvSpPr txBox="1"/>
            <p:nvPr/>
          </p:nvSpPr>
          <p:spPr>
            <a:xfrm>
              <a:off x="8824417" y="0"/>
              <a:ext cx="245013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合格率を週次で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計測している</a:t>
              </a:r>
            </a:p>
          </p:txBody>
        </p:sp>
      </p:grpSp>
      <p:cxnSp>
        <p:nvCxnSpPr>
          <p:cNvPr id="38" name="Action rule 3" descr="pptx-deck-generated"/>
          <p:cNvCxnSpPr/>
          <p:nvPr/>
        </p:nvCxnSpPr>
        <p:spPr>
          <a:xfrm>
            <a:off x="6685178" y="4128515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39" name="Action 4" descr="pptx-deck-generated"/>
          <p:cNvGrpSpPr/>
          <p:nvPr/>
        </p:nvGrpSpPr>
        <p:grpSpPr>
          <a:xfrm>
            <a:off x="457200" y="4174236"/>
            <a:ext cx="11274551" cy="629412"/>
            <a:chOff x="0" y="0"/>
            <a:chExt cx="11274551" cy="629412"/>
          </a:xfrm>
        </p:grpSpPr>
        <p:sp>
          <p:nvSpPr>
            <p:cNvPr id="40" name="Action 4 issue" descr="pptx-deck-generated"/>
            <p:cNvSpPr/>
            <p:nvPr/>
          </p:nvSpPr>
          <p:spPr>
            <a:xfrm>
              <a:off x="0" y="0"/>
              <a:ext cx="2450134" cy="629412"/>
            </a:xfrm>
            <a:prstGeom prst="roundRect">
              <a:avLst>
                <a:gd name="adj" fmla="val 8717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PRが大きく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レビューが詰まる</a:t>
              </a:r>
            </a:p>
          </p:txBody>
        </p:sp>
        <p:sp>
          <p:nvSpPr>
            <p:cNvPr id="41" name="Action 4 arrow" descr="pptx-deck-generated"/>
            <p:cNvSpPr/>
            <p:nvPr/>
          </p:nvSpPr>
          <p:spPr>
            <a:xfrm>
              <a:off x="2504998" y="19583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Action 4 box" descr="pptx-deck-generated"/>
            <p:cNvSpPr/>
            <p:nvPr/>
          </p:nvSpPr>
          <p:spPr>
            <a:xfrm>
              <a:off x="2852470" y="0"/>
              <a:ext cx="3302355" cy="629412"/>
            </a:xfrm>
            <a:prstGeom prst="roundRect">
              <a:avLst>
                <a:gd name="adj" fmla="val 8717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Action 4 id" descr="pptx-deck-generated"/>
            <p:cNvSpPr/>
            <p:nvPr/>
          </p:nvSpPr>
          <p:spPr>
            <a:xfrm>
              <a:off x="2925622" y="15925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A4</a:t>
              </a:r>
            </a:p>
          </p:txBody>
        </p:sp>
        <p:sp>
          <p:nvSpPr>
            <p:cNvPr id="44" name="Action 4 text" descr="pptx-deck-generated"/>
            <p:cNvSpPr txBox="1"/>
            <p:nvPr/>
          </p:nvSpPr>
          <p:spPr>
            <a:xfrm>
              <a:off x="3346246" y="0"/>
              <a:ext cx="2808579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PRサイズ上限と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レビュー観点の統合</a:t>
              </a:r>
            </a:p>
          </p:txBody>
        </p:sp>
        <p:sp>
          <p:nvSpPr>
            <p:cNvPr id="45" name="Action 4 owner" descr="pptx-deck-generated"/>
            <p:cNvSpPr txBox="1"/>
            <p:nvPr/>
          </p:nvSpPr>
          <p:spPr>
            <a:xfrm>
              <a:off x="6227978" y="0"/>
              <a:ext cx="159791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テックリード</a:t>
              </a:r>
            </a:p>
          </p:txBody>
        </p:sp>
        <p:sp>
          <p:nvSpPr>
            <p:cNvPr id="46" name="Action 4 due" descr="pptx-deck-generated"/>
            <p:cNvSpPr txBox="1"/>
            <p:nvPr/>
          </p:nvSpPr>
          <p:spPr>
            <a:xfrm>
              <a:off x="7899044" y="0"/>
              <a:ext cx="852220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Day42</a:t>
              </a:r>
            </a:p>
          </p:txBody>
        </p:sp>
        <p:sp>
          <p:nvSpPr>
            <p:cNvPr id="47" name="Action 4 done_when" descr="pptx-deck-generated"/>
            <p:cNvSpPr txBox="1"/>
            <p:nvPr/>
          </p:nvSpPr>
          <p:spPr>
            <a:xfrm>
              <a:off x="8824417" y="0"/>
              <a:ext cx="245013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上限超えPRの比率を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計測している</a:t>
              </a:r>
            </a:p>
          </p:txBody>
        </p:sp>
      </p:grpSp>
      <p:cxnSp>
        <p:nvCxnSpPr>
          <p:cNvPr id="48" name="Action rule 4" descr="pptx-deck-generated"/>
          <p:cNvCxnSpPr/>
          <p:nvPr/>
        </p:nvCxnSpPr>
        <p:spPr>
          <a:xfrm>
            <a:off x="6685178" y="4849368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49" name="Action 5" descr="pptx-deck-generated"/>
          <p:cNvGrpSpPr/>
          <p:nvPr/>
        </p:nvGrpSpPr>
        <p:grpSpPr>
          <a:xfrm>
            <a:off x="457200" y="4895088"/>
            <a:ext cx="11274551" cy="629412"/>
            <a:chOff x="0" y="0"/>
            <a:chExt cx="11274551" cy="629412"/>
          </a:xfrm>
        </p:grpSpPr>
        <p:sp>
          <p:nvSpPr>
            <p:cNvPr id="50" name="Action 5 issue" descr="pptx-deck-generated"/>
            <p:cNvSpPr/>
            <p:nvPr/>
          </p:nvSpPr>
          <p:spPr>
            <a:xfrm>
              <a:off x="0" y="0"/>
              <a:ext cx="2450134" cy="629412"/>
            </a:xfrm>
            <a:prstGeom prst="roundRect">
              <a:avLst>
                <a:gd name="adj" fmla="val 8717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利用範囲・権限・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費用が未統制</a:t>
              </a:r>
            </a:p>
          </p:txBody>
        </p:sp>
        <p:sp>
          <p:nvSpPr>
            <p:cNvPr id="51" name="Action 5 arrow" descr="pptx-deck-generated"/>
            <p:cNvSpPr/>
            <p:nvPr/>
          </p:nvSpPr>
          <p:spPr>
            <a:xfrm>
              <a:off x="2504998" y="19583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Action 5 box" descr="pptx-deck-generated"/>
            <p:cNvSpPr/>
            <p:nvPr/>
          </p:nvSpPr>
          <p:spPr>
            <a:xfrm>
              <a:off x="2852470" y="0"/>
              <a:ext cx="3302355" cy="629412"/>
            </a:xfrm>
            <a:prstGeom prst="roundRect">
              <a:avLst>
                <a:gd name="adj" fmla="val 8717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Action 5 id" descr="pptx-deck-generated"/>
            <p:cNvSpPr/>
            <p:nvPr/>
          </p:nvSpPr>
          <p:spPr>
            <a:xfrm>
              <a:off x="2925622" y="15925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A5</a:t>
              </a:r>
            </a:p>
          </p:txBody>
        </p:sp>
        <p:sp>
          <p:nvSpPr>
            <p:cNvPr id="54" name="Action 5 text" descr="pptx-deck-generated"/>
            <p:cNvSpPr txBox="1"/>
            <p:nvPr/>
          </p:nvSpPr>
          <p:spPr>
            <a:xfrm>
              <a:off x="3346246" y="0"/>
              <a:ext cx="2808579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利用ガイド・権限分離・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予算上限</a:t>
              </a:r>
            </a:p>
          </p:txBody>
        </p:sp>
        <p:sp>
          <p:nvSpPr>
            <p:cNvPr id="55" name="Action 5 owner" descr="pptx-deck-generated"/>
            <p:cNvSpPr txBox="1"/>
            <p:nvPr/>
          </p:nvSpPr>
          <p:spPr>
            <a:xfrm>
              <a:off x="6227978" y="0"/>
              <a:ext cx="159791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セキュリティ</a:t>
              </a:r>
            </a:p>
          </p:txBody>
        </p:sp>
        <p:sp>
          <p:nvSpPr>
            <p:cNvPr id="56" name="Action 5 due" descr="pptx-deck-generated"/>
            <p:cNvSpPr txBox="1"/>
            <p:nvPr/>
          </p:nvSpPr>
          <p:spPr>
            <a:xfrm>
              <a:off x="7899044" y="0"/>
              <a:ext cx="852220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Day30</a:t>
              </a:r>
            </a:p>
          </p:txBody>
        </p:sp>
        <p:sp>
          <p:nvSpPr>
            <p:cNvPr id="57" name="Action 5 done_when" descr="pptx-deck-generated"/>
            <p:cNvSpPr txBox="1"/>
            <p:nvPr/>
          </p:nvSpPr>
          <p:spPr>
            <a:xfrm>
              <a:off x="8824417" y="0"/>
              <a:ext cx="245013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ガイド公開と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予算上限の設定</a:t>
              </a:r>
            </a:p>
          </p:txBody>
        </p:sp>
      </p:grpSp>
      <p:cxnSp>
        <p:nvCxnSpPr>
          <p:cNvPr id="58" name="Action rule 5" descr="pptx-deck-generated"/>
          <p:cNvCxnSpPr/>
          <p:nvPr/>
        </p:nvCxnSpPr>
        <p:spPr>
          <a:xfrm>
            <a:off x="6685178" y="5570220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59" name="Action 6" descr="pptx-deck-generated"/>
          <p:cNvGrpSpPr/>
          <p:nvPr/>
        </p:nvGrpSpPr>
        <p:grpSpPr>
          <a:xfrm>
            <a:off x="457200" y="5615940"/>
            <a:ext cx="11274551" cy="629412"/>
            <a:chOff x="0" y="0"/>
            <a:chExt cx="11274551" cy="629412"/>
          </a:xfrm>
        </p:grpSpPr>
        <p:sp>
          <p:nvSpPr>
            <p:cNvPr id="60" name="Action 6 issue" descr="pptx-deck-generated"/>
            <p:cNvSpPr/>
            <p:nvPr/>
          </p:nvSpPr>
          <p:spPr>
            <a:xfrm>
              <a:off x="0" y="0"/>
              <a:ext cx="2450134" cy="629412"/>
            </a:xfrm>
            <a:prstGeom prst="roundRect">
              <a:avLst>
                <a:gd name="adj" fmla="val 8717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効果を実測していない</a:t>
              </a:r>
            </a:p>
          </p:txBody>
        </p:sp>
        <p:sp>
          <p:nvSpPr>
            <p:cNvPr id="61" name="Action 6 arrow" descr="pptx-deck-generated"/>
            <p:cNvSpPr/>
            <p:nvPr/>
          </p:nvSpPr>
          <p:spPr>
            <a:xfrm>
              <a:off x="2504998" y="19583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Action 6 box" descr="pptx-deck-generated"/>
            <p:cNvSpPr/>
            <p:nvPr/>
          </p:nvSpPr>
          <p:spPr>
            <a:xfrm>
              <a:off x="2852470" y="0"/>
              <a:ext cx="3302355" cy="629412"/>
            </a:xfrm>
            <a:prstGeom prst="roundRect">
              <a:avLst>
                <a:gd name="adj" fmla="val 8717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Action 6 id" descr="pptx-deck-generated"/>
            <p:cNvSpPr/>
            <p:nvPr/>
          </p:nvSpPr>
          <p:spPr>
            <a:xfrm>
              <a:off x="2925622" y="15925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A6</a:t>
              </a:r>
            </a:p>
          </p:txBody>
        </p:sp>
        <p:sp>
          <p:nvSpPr>
            <p:cNvPr id="64" name="Action 6 text" descr="pptx-deck-generated"/>
            <p:cNvSpPr txBox="1"/>
            <p:nvPr/>
          </p:nvSpPr>
          <p:spPr>
            <a:xfrm>
              <a:off x="3346246" y="0"/>
              <a:ext cx="2808579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実測ダッシュボードと基準値</a:t>
              </a:r>
            </a:p>
          </p:txBody>
        </p:sp>
        <p:sp>
          <p:nvSpPr>
            <p:cNvPr id="65" name="Action 6 owner" descr="pptx-deck-generated"/>
            <p:cNvSpPr txBox="1"/>
            <p:nvPr/>
          </p:nvSpPr>
          <p:spPr>
            <a:xfrm>
              <a:off x="6227978" y="0"/>
              <a:ext cx="159791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推進チーム</a:t>
              </a:r>
            </a:p>
          </p:txBody>
        </p:sp>
        <p:sp>
          <p:nvSpPr>
            <p:cNvPr id="66" name="Action 6 due" descr="pptx-deck-generated"/>
            <p:cNvSpPr txBox="1"/>
            <p:nvPr/>
          </p:nvSpPr>
          <p:spPr>
            <a:xfrm>
              <a:off x="7899044" y="0"/>
              <a:ext cx="852220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Day14</a:t>
              </a:r>
            </a:p>
          </p:txBody>
        </p:sp>
        <p:sp>
          <p:nvSpPr>
            <p:cNvPr id="67" name="Action 6 done_when" descr="pptx-deck-generated"/>
            <p:cNvSpPr txBox="1"/>
            <p:nvPr/>
          </p:nvSpPr>
          <p:spPr>
            <a:xfrm>
              <a:off x="8824417" y="0"/>
              <a:ext cx="2450134" cy="629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4指標の基準値を取得済み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最初の30日で計測・ガイド・基盤を固め、後半は抽出と評価を回す</a:t>
            </a:r>
          </a:p>
        </p:txBody>
      </p:sp>
      <p:sp>
        <p:nvSpPr>
          <p:cNvPr id="3" name="Roadmap period 1" descr="pptx-deck-generated"/>
          <p:cNvSpPr/>
          <p:nvPr/>
        </p:nvSpPr>
        <p:spPr>
          <a:xfrm>
            <a:off x="2468880" y="1554480"/>
            <a:ext cx="1543812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第1-2週</a:t>
            </a:r>
          </a:p>
        </p:txBody>
      </p:sp>
      <p:sp>
        <p:nvSpPr>
          <p:cNvPr id="4" name="Roadmap period 2" descr="pptx-deck-generated"/>
          <p:cNvSpPr/>
          <p:nvPr/>
        </p:nvSpPr>
        <p:spPr>
          <a:xfrm>
            <a:off x="4012692" y="1554480"/>
            <a:ext cx="1543812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第3-4週</a:t>
            </a:r>
          </a:p>
        </p:txBody>
      </p:sp>
      <p:sp>
        <p:nvSpPr>
          <p:cNvPr id="5" name="Roadmap period 3" descr="pptx-deck-generated"/>
          <p:cNvSpPr/>
          <p:nvPr/>
        </p:nvSpPr>
        <p:spPr>
          <a:xfrm>
            <a:off x="5556504" y="1554480"/>
            <a:ext cx="1543812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第5-6週</a:t>
            </a:r>
          </a:p>
        </p:txBody>
      </p:sp>
      <p:sp>
        <p:nvSpPr>
          <p:cNvPr id="6" name="Roadmap period 4" descr="pptx-deck-generated"/>
          <p:cNvSpPr/>
          <p:nvPr/>
        </p:nvSpPr>
        <p:spPr>
          <a:xfrm>
            <a:off x="7100316" y="1554480"/>
            <a:ext cx="1543812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第7-8週</a:t>
            </a:r>
          </a:p>
        </p:txBody>
      </p:sp>
      <p:sp>
        <p:nvSpPr>
          <p:cNvPr id="7" name="Roadmap period 5" descr="pptx-deck-generated"/>
          <p:cNvSpPr/>
          <p:nvPr/>
        </p:nvSpPr>
        <p:spPr>
          <a:xfrm>
            <a:off x="8644128" y="1554480"/>
            <a:ext cx="1543812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第9-10週</a:t>
            </a:r>
          </a:p>
        </p:txBody>
      </p:sp>
      <p:sp>
        <p:nvSpPr>
          <p:cNvPr id="8" name="Roadmap period 6" descr="pptx-deck-generated"/>
          <p:cNvSpPr/>
          <p:nvPr/>
        </p:nvSpPr>
        <p:spPr>
          <a:xfrm>
            <a:off x="10187940" y="1554480"/>
            <a:ext cx="1543812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第11-13週</a:t>
            </a:r>
          </a:p>
        </p:txBody>
      </p:sp>
      <p:sp>
        <p:nvSpPr>
          <p:cNvPr id="9" name="Roadmap milestone 1" descr="pptx-deck-generated"/>
          <p:cNvSpPr/>
          <p:nvPr/>
        </p:nvSpPr>
        <p:spPr>
          <a:xfrm>
            <a:off x="4702302" y="2020823"/>
            <a:ext cx="164592" cy="164592"/>
          </a:xfrm>
          <a:prstGeom prst="diamond">
            <a:avLst/>
          </a:prstGeom>
          <a:solidFill>
            <a:schemeClr val="accen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0" name="Roadmap milestone 1 label" descr="pptx-deck-generated"/>
          <p:cNvSpPr txBox="1"/>
          <p:nvPr/>
        </p:nvSpPr>
        <p:spPr>
          <a:xfrm>
            <a:off x="4053078" y="2203703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/>
                </a:solidFill>
                <a:latin typeface="Yu Gothic"/>
                <a:ea typeface="Yu Gothic"/>
              </a:rPr>
              <a:t>Day30 判定</a:t>
            </a:r>
          </a:p>
        </p:txBody>
      </p:sp>
      <p:sp>
        <p:nvSpPr>
          <p:cNvPr id="11" name="Roadmap milestone 2" descr="pptx-deck-generated"/>
          <p:cNvSpPr/>
          <p:nvPr/>
        </p:nvSpPr>
        <p:spPr>
          <a:xfrm>
            <a:off x="7789926" y="2020823"/>
            <a:ext cx="164592" cy="164592"/>
          </a:xfrm>
          <a:prstGeom prst="diamond">
            <a:avLst/>
          </a:prstGeom>
          <a:solidFill>
            <a:schemeClr val="accen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2" name="Roadmap milestone 2 label" descr="pptx-deck-generated"/>
          <p:cNvSpPr txBox="1"/>
          <p:nvPr/>
        </p:nvSpPr>
        <p:spPr>
          <a:xfrm>
            <a:off x="7140702" y="2203703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/>
                </a:solidFill>
                <a:latin typeface="Yu Gothic"/>
                <a:ea typeface="Yu Gothic"/>
              </a:rPr>
              <a:t>Day60 判定</a:t>
            </a:r>
          </a:p>
        </p:txBody>
      </p:sp>
      <p:sp>
        <p:nvSpPr>
          <p:cNvPr id="13" name="Roadmap milestone 3" descr="pptx-deck-generated"/>
          <p:cNvSpPr/>
          <p:nvPr/>
        </p:nvSpPr>
        <p:spPr>
          <a:xfrm>
            <a:off x="10877549" y="2020823"/>
            <a:ext cx="164592" cy="164592"/>
          </a:xfrm>
          <a:prstGeom prst="diamond">
            <a:avLst/>
          </a:prstGeom>
          <a:solidFill>
            <a:schemeClr val="accen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4" name="Roadmap milestone 3 label" descr="pptx-deck-generated"/>
          <p:cNvSpPr txBox="1"/>
          <p:nvPr/>
        </p:nvSpPr>
        <p:spPr>
          <a:xfrm>
            <a:off x="10228325" y="2203703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/>
                </a:solidFill>
                <a:latin typeface="Yu Gothic"/>
                <a:ea typeface="Yu Gothic"/>
              </a:rPr>
              <a:t>Day90 判断</a:t>
            </a:r>
          </a:p>
        </p:txBody>
      </p:sp>
      <p:sp>
        <p:nvSpPr>
          <p:cNvPr id="15" name="Roadmap row 2" descr="pptx-deck-generated"/>
          <p:cNvSpPr/>
          <p:nvPr/>
        </p:nvSpPr>
        <p:spPr>
          <a:xfrm>
            <a:off x="457200" y="3177539"/>
            <a:ext cx="11274552" cy="598932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6" name="Roadmap row 4" descr="pptx-deck-generated"/>
          <p:cNvSpPr/>
          <p:nvPr/>
        </p:nvSpPr>
        <p:spPr>
          <a:xfrm>
            <a:off x="457200" y="4375404"/>
            <a:ext cx="11274552" cy="598932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7" name="Roadmap row 6" descr="pptx-deck-generated"/>
          <p:cNvSpPr/>
          <p:nvPr/>
        </p:nvSpPr>
        <p:spPr>
          <a:xfrm>
            <a:off x="457200" y="5573268"/>
            <a:ext cx="11274552" cy="598932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cxnSp>
        <p:nvCxnSpPr>
          <p:cNvPr id="18" name="Roadmap grid 1" descr="pptx-deck-generated"/>
          <p:cNvCxnSpPr/>
          <p:nvPr/>
        </p:nvCxnSpPr>
        <p:spPr>
          <a:xfrm>
            <a:off x="2468880" y="2578608"/>
            <a:ext cx="0" cy="3593592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19" name="Roadmap grid 2" descr="pptx-deck-generated"/>
          <p:cNvCxnSpPr/>
          <p:nvPr/>
        </p:nvCxnSpPr>
        <p:spPr>
          <a:xfrm>
            <a:off x="4012692" y="2578608"/>
            <a:ext cx="0" cy="3593592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20" name="Roadmap grid 3" descr="pptx-deck-generated"/>
          <p:cNvCxnSpPr/>
          <p:nvPr/>
        </p:nvCxnSpPr>
        <p:spPr>
          <a:xfrm>
            <a:off x="5556504" y="2578608"/>
            <a:ext cx="0" cy="3593592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21" name="Roadmap grid 4" descr="pptx-deck-generated"/>
          <p:cNvCxnSpPr/>
          <p:nvPr/>
        </p:nvCxnSpPr>
        <p:spPr>
          <a:xfrm>
            <a:off x="7100316" y="2578608"/>
            <a:ext cx="0" cy="3593592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22" name="Roadmap grid 5" descr="pptx-deck-generated"/>
          <p:cNvCxnSpPr/>
          <p:nvPr/>
        </p:nvCxnSpPr>
        <p:spPr>
          <a:xfrm>
            <a:off x="8644128" y="2578608"/>
            <a:ext cx="0" cy="3593592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23" name="Roadmap grid 6" descr="pptx-deck-generated"/>
          <p:cNvCxnSpPr/>
          <p:nvPr/>
        </p:nvCxnSpPr>
        <p:spPr>
          <a:xfrm>
            <a:off x="10187940" y="2578608"/>
            <a:ext cx="0" cy="3593592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24" name="Roadmap grid 7" descr="pptx-deck-generated"/>
          <p:cNvCxnSpPr/>
          <p:nvPr/>
        </p:nvCxnSpPr>
        <p:spPr>
          <a:xfrm>
            <a:off x="11731751" y="2578608"/>
            <a:ext cx="0" cy="3593592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25" name="Roadmap track 1" descr="pptx-deck-generated"/>
          <p:cNvSpPr txBox="1"/>
          <p:nvPr/>
        </p:nvSpPr>
        <p:spPr>
          <a:xfrm>
            <a:off x="493776" y="2606039"/>
            <a:ext cx="1920240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A6 実測</a:t>
            </a:r>
          </a:p>
        </p:txBody>
      </p:sp>
      <p:grpSp>
        <p:nvGrpSpPr>
          <p:cNvPr id="26" name="Roadmap 1" descr="pptx-deck-generated"/>
          <p:cNvGrpSpPr/>
          <p:nvPr/>
        </p:nvGrpSpPr>
        <p:grpSpPr>
          <a:xfrm>
            <a:off x="2505456" y="2686050"/>
            <a:ext cx="1470659" cy="384048"/>
            <a:chOff x="0" y="0"/>
            <a:chExt cx="1470659" cy="384048"/>
          </a:xfrm>
        </p:grpSpPr>
        <p:sp>
          <p:nvSpPr>
            <p:cNvPr id="27" name="Roadmap track 1 bar 1" descr="pptx-deck-generated"/>
            <p:cNvSpPr/>
            <p:nvPr/>
          </p:nvSpPr>
          <p:spPr>
            <a:xfrm>
              <a:off x="0" y="0"/>
              <a:ext cx="1470659" cy="384048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基準値</a:t>
              </a:r>
            </a:p>
          </p:txBody>
        </p:sp>
      </p:grpSp>
      <p:grpSp>
        <p:nvGrpSpPr>
          <p:cNvPr id="28" name="Roadmap 2" descr="pptx-deck-generated"/>
          <p:cNvGrpSpPr/>
          <p:nvPr/>
        </p:nvGrpSpPr>
        <p:grpSpPr>
          <a:xfrm>
            <a:off x="4049268" y="2686050"/>
            <a:ext cx="7645908" cy="384048"/>
            <a:chOff x="0" y="0"/>
            <a:chExt cx="7645908" cy="384048"/>
          </a:xfrm>
        </p:grpSpPr>
        <p:sp>
          <p:nvSpPr>
            <p:cNvPr id="29" name="Roadmap track 1 bar 2" descr="pptx-deck-generated"/>
            <p:cNvSpPr/>
            <p:nvPr/>
          </p:nvSpPr>
          <p:spPr>
            <a:xfrm>
              <a:off x="0" y="0"/>
              <a:ext cx="7645908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週次計測</a:t>
              </a:r>
            </a:p>
          </p:txBody>
        </p:sp>
      </p:grpSp>
      <p:sp>
        <p:nvSpPr>
          <p:cNvPr id="30" name="Roadmap track 2" descr="pptx-deck-generated"/>
          <p:cNvSpPr txBox="1"/>
          <p:nvPr/>
        </p:nvSpPr>
        <p:spPr>
          <a:xfrm>
            <a:off x="493776" y="3204971"/>
            <a:ext cx="1920240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A5 ガバナンス</a:t>
            </a:r>
          </a:p>
        </p:txBody>
      </p:sp>
      <p:grpSp>
        <p:nvGrpSpPr>
          <p:cNvPr id="31" name="Roadmap 11" descr="pptx-deck-generated"/>
          <p:cNvGrpSpPr/>
          <p:nvPr/>
        </p:nvGrpSpPr>
        <p:grpSpPr>
          <a:xfrm>
            <a:off x="2505456" y="3284982"/>
            <a:ext cx="3014472" cy="384048"/>
            <a:chOff x="0" y="0"/>
            <a:chExt cx="3014472" cy="384048"/>
          </a:xfrm>
        </p:grpSpPr>
        <p:sp>
          <p:nvSpPr>
            <p:cNvPr id="32" name="Roadmap track 2 bar 1" descr="pptx-deck-generated"/>
            <p:cNvSpPr/>
            <p:nvPr/>
          </p:nvSpPr>
          <p:spPr>
            <a:xfrm>
              <a:off x="0" y="0"/>
              <a:ext cx="3014472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ガイド・権限・予算</a:t>
              </a:r>
            </a:p>
          </p:txBody>
        </p:sp>
      </p:grpSp>
      <p:sp>
        <p:nvSpPr>
          <p:cNvPr id="33" name="Roadmap track 3" descr="pptx-deck-generated"/>
          <p:cNvSpPr txBox="1"/>
          <p:nvPr/>
        </p:nvSpPr>
        <p:spPr>
          <a:xfrm>
            <a:off x="493776" y="3803904"/>
            <a:ext cx="1920240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A1 基盤</a:t>
            </a:r>
          </a:p>
        </p:txBody>
      </p:sp>
      <p:grpSp>
        <p:nvGrpSpPr>
          <p:cNvPr id="34" name="Roadmap 21" descr="pptx-deck-generated"/>
          <p:cNvGrpSpPr/>
          <p:nvPr/>
        </p:nvGrpSpPr>
        <p:grpSpPr>
          <a:xfrm>
            <a:off x="2505456" y="3883913"/>
            <a:ext cx="3014472" cy="384048"/>
            <a:chOff x="0" y="0"/>
            <a:chExt cx="3014472" cy="384048"/>
          </a:xfrm>
        </p:grpSpPr>
        <p:sp>
          <p:nvSpPr>
            <p:cNvPr id="35" name="Roadmap track 3 bar 1" descr="pptx-deck-generated"/>
            <p:cNvSpPr/>
            <p:nvPr/>
          </p:nvSpPr>
          <p:spPr>
            <a:xfrm>
              <a:off x="0" y="0"/>
              <a:ext cx="3014472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v1配置</a:t>
              </a:r>
            </a:p>
          </p:txBody>
        </p:sp>
      </p:grpSp>
      <p:grpSp>
        <p:nvGrpSpPr>
          <p:cNvPr id="36" name="Roadmap 22" descr="pptx-deck-generated"/>
          <p:cNvGrpSpPr/>
          <p:nvPr/>
        </p:nvGrpSpPr>
        <p:grpSpPr>
          <a:xfrm>
            <a:off x="5593080" y="3883913"/>
            <a:ext cx="6102096" cy="384048"/>
            <a:chOff x="0" y="0"/>
            <a:chExt cx="6102096" cy="384048"/>
          </a:xfrm>
        </p:grpSpPr>
        <p:sp>
          <p:nvSpPr>
            <p:cNvPr id="37" name="Roadmap track 3 bar 2" descr="pptx-deck-generated"/>
            <p:cNvSpPr/>
            <p:nvPr/>
          </p:nvSpPr>
          <p:spPr>
            <a:xfrm>
              <a:off x="0" y="0"/>
              <a:ext cx="6102096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評価で採否</a:t>
              </a:r>
            </a:p>
          </p:txBody>
        </p:sp>
      </p:grpSp>
      <p:sp>
        <p:nvSpPr>
          <p:cNvPr id="38" name="Roadmap track 4" descr="pptx-deck-generated"/>
          <p:cNvSpPr txBox="1"/>
          <p:nvPr/>
        </p:nvSpPr>
        <p:spPr>
          <a:xfrm>
            <a:off x="493776" y="4402836"/>
            <a:ext cx="1920240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A2 抽出</a:t>
            </a:r>
          </a:p>
        </p:txBody>
      </p:sp>
      <p:grpSp>
        <p:nvGrpSpPr>
          <p:cNvPr id="39" name="Roadmap 31" descr="pptx-deck-generated"/>
          <p:cNvGrpSpPr/>
          <p:nvPr/>
        </p:nvGrpSpPr>
        <p:grpSpPr>
          <a:xfrm>
            <a:off x="4049268" y="4482846"/>
            <a:ext cx="4558283" cy="384048"/>
            <a:chOff x="0" y="0"/>
            <a:chExt cx="4558283" cy="384048"/>
          </a:xfrm>
        </p:grpSpPr>
        <p:sp>
          <p:nvSpPr>
            <p:cNvPr id="40" name="Roadmap track 4 bar 1" descr="pptx-deck-generated"/>
            <p:cNvSpPr/>
            <p:nvPr/>
          </p:nvSpPr>
          <p:spPr>
            <a:xfrm>
              <a:off x="0" y="0"/>
              <a:ext cx="4558283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6名×2回</a:t>
              </a:r>
            </a:p>
          </p:txBody>
        </p:sp>
      </p:grpSp>
      <p:sp>
        <p:nvSpPr>
          <p:cNvPr id="41" name="Roadmap track 5" descr="pptx-deck-generated"/>
          <p:cNvSpPr txBox="1"/>
          <p:nvPr/>
        </p:nvSpPr>
        <p:spPr>
          <a:xfrm>
            <a:off x="493776" y="5001768"/>
            <a:ext cx="1920240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A3 評価CI</a:t>
            </a:r>
          </a:p>
        </p:txBody>
      </p:sp>
      <p:grpSp>
        <p:nvGrpSpPr>
          <p:cNvPr id="42" name="Roadmap 41" descr="pptx-deck-generated"/>
          <p:cNvGrpSpPr/>
          <p:nvPr/>
        </p:nvGrpSpPr>
        <p:grpSpPr>
          <a:xfrm>
            <a:off x="4049268" y="5081777"/>
            <a:ext cx="3014472" cy="384048"/>
            <a:chOff x="0" y="0"/>
            <a:chExt cx="3014472" cy="384048"/>
          </a:xfrm>
        </p:grpSpPr>
        <p:sp>
          <p:nvSpPr>
            <p:cNvPr id="43" name="Roadmap track 5 bar 1" descr="pptx-deck-generated"/>
            <p:cNvSpPr/>
            <p:nvPr/>
          </p:nvSpPr>
          <p:spPr>
            <a:xfrm>
              <a:off x="0" y="0"/>
              <a:ext cx="3014472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評価セット</a:t>
              </a:r>
            </a:p>
          </p:txBody>
        </p:sp>
      </p:grpSp>
      <p:grpSp>
        <p:nvGrpSpPr>
          <p:cNvPr id="44" name="Roadmap 42" descr="pptx-deck-generated"/>
          <p:cNvGrpSpPr/>
          <p:nvPr/>
        </p:nvGrpSpPr>
        <p:grpSpPr>
          <a:xfrm>
            <a:off x="7136892" y="5081777"/>
            <a:ext cx="4558283" cy="384048"/>
            <a:chOff x="0" y="0"/>
            <a:chExt cx="4558283" cy="384048"/>
          </a:xfrm>
        </p:grpSpPr>
        <p:sp>
          <p:nvSpPr>
            <p:cNvPr id="45" name="Roadmap track 5 bar 2" descr="pptx-deck-generated"/>
            <p:cNvSpPr/>
            <p:nvPr/>
          </p:nvSpPr>
          <p:spPr>
            <a:xfrm>
              <a:off x="0" y="0"/>
              <a:ext cx="4558283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週次計測</a:t>
              </a:r>
            </a:p>
          </p:txBody>
        </p:sp>
      </p:grpSp>
      <p:sp>
        <p:nvSpPr>
          <p:cNvPr id="46" name="Roadmap track 6" descr="pptx-deck-generated"/>
          <p:cNvSpPr txBox="1"/>
          <p:nvPr/>
        </p:nvSpPr>
        <p:spPr>
          <a:xfrm>
            <a:off x="493776" y="5600700"/>
            <a:ext cx="1920240" cy="5440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A4 PR・レビュー</a:t>
            </a:r>
          </a:p>
        </p:txBody>
      </p:sp>
      <p:grpSp>
        <p:nvGrpSpPr>
          <p:cNvPr id="47" name="Roadmap 51" descr="pptx-deck-generated"/>
          <p:cNvGrpSpPr/>
          <p:nvPr/>
        </p:nvGrpSpPr>
        <p:grpSpPr>
          <a:xfrm>
            <a:off x="4049268" y="5680710"/>
            <a:ext cx="3014472" cy="384048"/>
            <a:chOff x="0" y="0"/>
            <a:chExt cx="3014472" cy="384048"/>
          </a:xfrm>
        </p:grpSpPr>
        <p:sp>
          <p:nvSpPr>
            <p:cNvPr id="48" name="Roadmap track 6 bar 1" descr="pptx-deck-generated"/>
            <p:cNvSpPr/>
            <p:nvPr/>
          </p:nvSpPr>
          <p:spPr>
            <a:xfrm>
              <a:off x="0" y="0"/>
              <a:ext cx="3014472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上限と観点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Day90の展開判断は、速度だけでなく安定性と費用を同時に実測して行う</a:t>
            </a:r>
          </a:p>
        </p:txBody>
      </p:sp>
      <p:grpSp>
        <p:nvGrpSpPr>
          <p:cNvPr id="3" name="KPI 1" descr="pptx-deck-generated"/>
          <p:cNvGrpSpPr/>
          <p:nvPr/>
        </p:nvGrpSpPr>
        <p:grpSpPr>
          <a:xfrm>
            <a:off x="457200" y="2395728"/>
            <a:ext cx="11274552" cy="2249424"/>
            <a:chOff x="0" y="0"/>
            <a:chExt cx="11274552" cy="2249424"/>
          </a:xfrm>
        </p:grpSpPr>
        <p:sp>
          <p:nvSpPr>
            <p:cNvPr id="4" name="KPI band" descr="pptx-deck-generated"/>
            <p:cNvSpPr/>
            <p:nvPr/>
          </p:nvSpPr>
          <p:spPr>
            <a:xfrm>
              <a:off x="0" y="0"/>
              <a:ext cx="11274552" cy="2249424"/>
            </a:xfrm>
            <a:prstGeom prst="roundRect">
              <a:avLst>
                <a:gd name="adj" fmla="val 2439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KPI 1 value" descr="pptx-deck-generated"/>
            <p:cNvSpPr txBox="1"/>
            <p:nvPr/>
          </p:nvSpPr>
          <p:spPr>
            <a:xfrm>
              <a:off x="73152" y="73152"/>
              <a:ext cx="2562606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−20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6" name="KPI 1 label" descr="pptx-deck-generated"/>
            <p:cNvSpPr txBox="1"/>
            <p:nvPr/>
          </p:nvSpPr>
          <p:spPr>
            <a:xfrm>
              <a:off x="73152" y="1097280"/>
              <a:ext cx="2562606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PRリードタイム</a:t>
              </a:r>
            </a:p>
          </p:txBody>
        </p:sp>
        <p:sp>
          <p:nvSpPr>
            <p:cNvPr id="7" name="KPI 1 note" descr="pptx-deck-generated"/>
            <p:cNvSpPr txBox="1"/>
            <p:nvPr/>
          </p:nvSpPr>
          <p:spPr>
            <a:xfrm>
              <a:off x="73152" y="1633728"/>
              <a:ext cx="256260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ベースライン比</a:t>
              </a:r>
            </a:p>
          </p:txBody>
        </p:sp>
      </p:grpSp>
      <p:grpSp>
        <p:nvGrpSpPr>
          <p:cNvPr id="8" name="KPI 2" descr="pptx-deck-generated"/>
          <p:cNvGrpSpPr/>
          <p:nvPr/>
        </p:nvGrpSpPr>
        <p:grpSpPr>
          <a:xfrm>
            <a:off x="3239262" y="2468880"/>
            <a:ext cx="2708910" cy="2139696"/>
            <a:chOff x="0" y="0"/>
            <a:chExt cx="2708910" cy="2139696"/>
          </a:xfrm>
        </p:grpSpPr>
        <p:sp>
          <p:nvSpPr>
            <p:cNvPr id="9" name="KPI 2 divider" descr="pptx-deck-generated"/>
            <p:cNvSpPr/>
            <p:nvPr/>
          </p:nvSpPr>
          <p:spPr>
            <a:xfrm>
              <a:off x="0" y="36575"/>
              <a:ext cx="9144" cy="2029968"/>
            </a:xfrm>
            <a:prstGeom prst="rect">
              <a:avLst/>
            </a:prstGeom>
            <a:solidFill>
              <a:schemeClr val="lt1">
                <a:lumMod val="85000"/>
              </a:schemeClr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KPI 2 value" descr="pptx-deck-generated"/>
            <p:cNvSpPr txBox="1"/>
            <p:nvPr/>
          </p:nvSpPr>
          <p:spPr>
            <a:xfrm>
              <a:off x="146304" y="0"/>
              <a:ext cx="2562606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+0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pt</a:t>
              </a:r>
            </a:p>
          </p:txBody>
        </p:sp>
        <p:sp>
          <p:nvSpPr>
            <p:cNvPr id="11" name="KPI 2 label" descr="pptx-deck-generated"/>
            <p:cNvSpPr txBox="1"/>
            <p:nvPr/>
          </p:nvSpPr>
          <p:spPr>
            <a:xfrm>
              <a:off x="146304" y="1024128"/>
              <a:ext cx="2562606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変更失敗率の増分</a:t>
              </a:r>
            </a:p>
          </p:txBody>
        </p:sp>
        <p:sp>
          <p:nvSpPr>
            <p:cNvPr id="12" name="KPI 2 note" descr="pptx-deck-generated"/>
            <p:cNvSpPr txBox="1"/>
            <p:nvPr/>
          </p:nvSpPr>
          <p:spPr>
            <a:xfrm>
              <a:off x="146304" y="1560576"/>
              <a:ext cx="256260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上限。速度と引き換えにしない</a:t>
              </a:r>
            </a:p>
          </p:txBody>
        </p:sp>
      </p:grpSp>
      <p:grpSp>
        <p:nvGrpSpPr>
          <p:cNvPr id="13" name="KPI 3" descr="pptx-deck-generated"/>
          <p:cNvGrpSpPr/>
          <p:nvPr/>
        </p:nvGrpSpPr>
        <p:grpSpPr>
          <a:xfrm>
            <a:off x="6094476" y="2468880"/>
            <a:ext cx="2708910" cy="2139696"/>
            <a:chOff x="0" y="0"/>
            <a:chExt cx="2708910" cy="2139696"/>
          </a:xfrm>
        </p:grpSpPr>
        <p:sp>
          <p:nvSpPr>
            <p:cNvPr id="14" name="KPI 3 divider" descr="pptx-deck-generated"/>
            <p:cNvSpPr/>
            <p:nvPr/>
          </p:nvSpPr>
          <p:spPr>
            <a:xfrm>
              <a:off x="0" y="36575"/>
              <a:ext cx="9144" cy="2029968"/>
            </a:xfrm>
            <a:prstGeom prst="rect">
              <a:avLst/>
            </a:prstGeom>
            <a:solidFill>
              <a:schemeClr val="lt1">
                <a:lumMod val="85000"/>
              </a:schemeClr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KPI 3 value" descr="pptx-deck-generated"/>
            <p:cNvSpPr txBox="1"/>
            <p:nvPr/>
          </p:nvSpPr>
          <p:spPr>
            <a:xfrm>
              <a:off x="146304" y="0"/>
              <a:ext cx="2562606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+0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16" name="KPI 3 label" descr="pptx-deck-generated"/>
            <p:cNvSpPr txBox="1"/>
            <p:nvPr/>
          </p:nvSpPr>
          <p:spPr>
            <a:xfrm>
              <a:off x="146304" y="1024128"/>
              <a:ext cx="2562606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レビュー待ちの増分</a:t>
              </a:r>
            </a:p>
          </p:txBody>
        </p:sp>
        <p:sp>
          <p:nvSpPr>
            <p:cNvPr id="17" name="KPI 3 note" descr="pptx-deck-generated"/>
            <p:cNvSpPr txBox="1"/>
            <p:nvPr/>
          </p:nvSpPr>
          <p:spPr>
            <a:xfrm>
              <a:off x="146304" y="1560576"/>
              <a:ext cx="256260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上限。下流の詰まりを見る</a:t>
              </a:r>
            </a:p>
          </p:txBody>
        </p:sp>
      </p:grpSp>
      <p:grpSp>
        <p:nvGrpSpPr>
          <p:cNvPr id="18" name="KPI 4" descr="pptx-deck-generated"/>
          <p:cNvGrpSpPr/>
          <p:nvPr/>
        </p:nvGrpSpPr>
        <p:grpSpPr>
          <a:xfrm>
            <a:off x="8949690" y="2468880"/>
            <a:ext cx="2708910" cy="2139696"/>
            <a:chOff x="0" y="0"/>
            <a:chExt cx="2708910" cy="2139696"/>
          </a:xfrm>
        </p:grpSpPr>
        <p:sp>
          <p:nvSpPr>
            <p:cNvPr id="19" name="KPI 4 divider" descr="pptx-deck-generated"/>
            <p:cNvSpPr/>
            <p:nvPr/>
          </p:nvSpPr>
          <p:spPr>
            <a:xfrm>
              <a:off x="0" y="36575"/>
              <a:ext cx="9144" cy="2029968"/>
            </a:xfrm>
            <a:prstGeom prst="rect">
              <a:avLst/>
            </a:prstGeom>
            <a:solidFill>
              <a:schemeClr val="lt1">
                <a:lumMod val="85000"/>
              </a:schemeClr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KPI 4 value" descr="pptx-deck-generated"/>
            <p:cNvSpPr txBox="1"/>
            <p:nvPr/>
          </p:nvSpPr>
          <p:spPr>
            <a:xfrm>
              <a:off x="146304" y="0"/>
              <a:ext cx="2562606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100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21" name="KPI 4 label" descr="pptx-deck-generated"/>
            <p:cNvSpPr txBox="1"/>
            <p:nvPr/>
          </p:nvSpPr>
          <p:spPr>
            <a:xfrm>
              <a:off x="146304" y="1024128"/>
              <a:ext cx="2562606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AIクレジット予算</a:t>
              </a:r>
            </a:p>
          </p:txBody>
        </p:sp>
        <p:sp>
          <p:nvSpPr>
            <p:cNvPr id="22" name="KPI 4 note" descr="pptx-deck-generated"/>
            <p:cNvSpPr txBox="1"/>
            <p:nvPr/>
          </p:nvSpPr>
          <p:spPr>
            <a:xfrm>
              <a:off x="146304" y="1560576"/>
              <a:ext cx="256260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上限。マージPRあたりで管理</a:t>
              </a:r>
            </a:p>
          </p:txBody>
        </p:sp>
      </p:grpSp>
      <p:sp>
        <p:nvSpPr>
          <p:cNvPr id="23" name="Component takeaway" descr="pptx-deck-generated"/>
          <p:cNvSpPr/>
          <p:nvPr/>
        </p:nvSpPr>
        <p:spPr>
          <a:xfrm>
            <a:off x="457200" y="4873752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 accent" descr="pptx-deck-generated"/>
          <p:cNvSpPr/>
          <p:nvPr/>
        </p:nvSpPr>
        <p:spPr>
          <a:xfrm>
            <a:off x="457200" y="4873752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25" name="Takeaway text" descr="pptx-deck-generated"/>
          <p:cNvSpPr txBox="1"/>
          <p:nvPr/>
        </p:nvSpPr>
        <p:spPr>
          <a:xfrm>
            <a:off x="603504" y="4873752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目標値はすべて想定。4指標のうち1つでも未達なら、全社展開ではなく範囲を絞って延長する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/>
          <a:lstStyle/>
          <a:p>
            <a:r>
              <a:t>本日は4点をご判断いただき、来週からA6のベースライン取得に着手する</a:t>
            </a:r>
          </a:p>
        </p:txBody>
      </p:sp>
      <p:sp>
        <p:nvSpPr>
          <p:cNvPr id="3" name="Checklist heading 項目" descr="pptx-deck-generated"/>
          <p:cNvSpPr txBox="1"/>
          <p:nvPr/>
        </p:nvSpPr>
        <p:spPr>
          <a:xfrm>
            <a:off x="932688" y="2176272"/>
            <a:ext cx="59755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項目</a:t>
            </a:r>
          </a:p>
        </p:txBody>
      </p:sp>
      <p:sp>
        <p:nvSpPr>
          <p:cNvPr id="4" name="Checklist heading 担当" descr="pptx-deck-generated"/>
          <p:cNvSpPr txBox="1"/>
          <p:nvPr/>
        </p:nvSpPr>
        <p:spPr>
          <a:xfrm>
            <a:off x="8574877" y="2176272"/>
            <a:ext cx="169118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担当</a:t>
            </a:r>
          </a:p>
        </p:txBody>
      </p:sp>
      <p:sp>
        <p:nvSpPr>
          <p:cNvPr id="5" name="Checklist heading 期限" descr="pptx-deck-generated"/>
          <p:cNvSpPr txBox="1"/>
          <p:nvPr/>
        </p:nvSpPr>
        <p:spPr>
          <a:xfrm>
            <a:off x="10378805" y="2176272"/>
            <a:ext cx="1240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期限</a:t>
            </a:r>
          </a:p>
        </p:txBody>
      </p:sp>
      <p:cxnSp>
        <p:nvCxnSpPr>
          <p:cNvPr id="6" name="Checklist heading divider" descr="pptx-deck-generated"/>
          <p:cNvCxnSpPr/>
          <p:nvPr/>
        </p:nvCxnSpPr>
        <p:spPr>
          <a:xfrm>
            <a:off x="457200" y="2523744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7" name="Checklist 1" descr="pptx-deck-generated"/>
          <p:cNvGrpSpPr/>
          <p:nvPr/>
        </p:nvGrpSpPr>
        <p:grpSpPr>
          <a:xfrm>
            <a:off x="484632" y="2542032"/>
            <a:ext cx="11134373" cy="548640"/>
            <a:chOff x="0" y="0"/>
            <a:chExt cx="11134373" cy="548640"/>
          </a:xfrm>
        </p:grpSpPr>
        <p:sp>
          <p:nvSpPr>
            <p:cNvPr id="8" name="Checklist status 1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noFill/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hecklist item 1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パイロット2チーム（管理画面・通知基盤）の指名</a:t>
              </a:r>
            </a:p>
          </p:txBody>
        </p:sp>
        <p:sp>
          <p:nvSpPr>
            <p:cNvPr id="10" name="Checklist owner 1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CTO</a:t>
              </a:r>
            </a:p>
          </p:txBody>
        </p:sp>
        <p:sp>
          <p:nvSpPr>
            <p:cNvPr id="11" name="Checklist due 1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本日</a:t>
              </a:r>
            </a:p>
          </p:txBody>
        </p:sp>
      </p:grpSp>
      <p:grpSp>
        <p:nvGrpSpPr>
          <p:cNvPr id="12" name="Checklist 2" descr="pptx-deck-generated"/>
          <p:cNvGrpSpPr/>
          <p:nvPr/>
        </p:nvGrpSpPr>
        <p:grpSpPr>
          <a:xfrm>
            <a:off x="484632" y="3127248"/>
            <a:ext cx="11134373" cy="548640"/>
            <a:chOff x="0" y="0"/>
            <a:chExt cx="11134373" cy="548640"/>
          </a:xfrm>
        </p:grpSpPr>
        <p:sp>
          <p:nvSpPr>
            <p:cNvPr id="13" name="Checklist status 2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noFill/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hecklist item 2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推進チーム専任2名の90日間のアサイン</a:t>
              </a:r>
            </a:p>
          </p:txBody>
        </p:sp>
        <p:sp>
          <p:nvSpPr>
            <p:cNvPr id="15" name="Checklist owner 2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開発部長</a:t>
              </a:r>
            </a:p>
          </p:txBody>
        </p:sp>
        <p:sp>
          <p:nvSpPr>
            <p:cNvPr id="16" name="Checklist due 2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本日</a:t>
              </a:r>
            </a:p>
          </p:txBody>
        </p:sp>
      </p:grpSp>
      <p:cxnSp>
        <p:nvCxnSpPr>
          <p:cNvPr id="17" name="Checklist divider 2" descr="pptx-deck-generated"/>
          <p:cNvCxnSpPr/>
          <p:nvPr/>
        </p:nvCxnSpPr>
        <p:spPr>
          <a:xfrm>
            <a:off x="457200" y="3108960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8" name="Checklist 3" descr="pptx-deck-generated"/>
          <p:cNvGrpSpPr/>
          <p:nvPr/>
        </p:nvGrpSpPr>
        <p:grpSpPr>
          <a:xfrm>
            <a:off x="484632" y="3712464"/>
            <a:ext cx="11134373" cy="548640"/>
            <a:chOff x="0" y="0"/>
            <a:chExt cx="11134373" cy="548640"/>
          </a:xfrm>
        </p:grpSpPr>
        <p:sp>
          <p:nvSpPr>
            <p:cNvPr id="19" name="Checklist status 3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noFill/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Checklist item 3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エキスパート6名の週2時間（ジュニア同席）の確保</a:t>
              </a:r>
            </a:p>
          </p:txBody>
        </p:sp>
        <p:sp>
          <p:nvSpPr>
            <p:cNvPr id="21" name="Checklist owner 3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開発部長</a:t>
              </a:r>
            </a:p>
          </p:txBody>
        </p:sp>
        <p:sp>
          <p:nvSpPr>
            <p:cNvPr id="22" name="Checklist due 3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10/14</a:t>
              </a:r>
            </a:p>
          </p:txBody>
        </p:sp>
      </p:grpSp>
      <p:cxnSp>
        <p:nvCxnSpPr>
          <p:cNvPr id="23" name="Checklist divider 3" descr="pptx-deck-generated"/>
          <p:cNvCxnSpPr/>
          <p:nvPr/>
        </p:nvCxnSpPr>
        <p:spPr>
          <a:xfrm>
            <a:off x="457200" y="3694176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24" name="Checklist 4" descr="pptx-deck-generated"/>
          <p:cNvGrpSpPr/>
          <p:nvPr/>
        </p:nvGrpSpPr>
        <p:grpSpPr>
          <a:xfrm>
            <a:off x="484632" y="4297679"/>
            <a:ext cx="11134373" cy="548640"/>
            <a:chOff x="0" y="0"/>
            <a:chExt cx="11134373" cy="548640"/>
          </a:xfrm>
        </p:grpSpPr>
        <p:sp>
          <p:nvSpPr>
            <p:cNvPr id="25" name="Checklist status 4" descr="pptx-deck-generated"/>
            <p:cNvSpPr/>
            <p:nvPr/>
          </p:nvSpPr>
          <p:spPr>
            <a:xfrm>
              <a:off x="0" y="100585"/>
              <a:ext cx="347472" cy="347472"/>
            </a:xfrm>
            <a:prstGeom prst="ellipse">
              <a:avLst/>
            </a:prstGeom>
            <a:noFill/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hecklist item 4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AIクレジット予算上限とDay90判定の4指標への合意</a:t>
              </a:r>
            </a:p>
          </p:txBody>
        </p:sp>
        <p:sp>
          <p:nvSpPr>
            <p:cNvPr id="27" name="Checklist owner 4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CTO</a:t>
              </a:r>
            </a:p>
          </p:txBody>
        </p:sp>
        <p:sp>
          <p:nvSpPr>
            <p:cNvPr id="28" name="Checklist due 4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本日</a:t>
              </a:r>
            </a:p>
          </p:txBody>
        </p:sp>
      </p:grpSp>
      <p:cxnSp>
        <p:nvCxnSpPr>
          <p:cNvPr id="29" name="Checklist divider 4" descr="pptx-deck-generated"/>
          <p:cNvCxnSpPr/>
          <p:nvPr/>
        </p:nvCxnSpPr>
        <p:spPr>
          <a:xfrm>
            <a:off x="457200" y="4279392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30" name="Component takeaway" descr="pptx-deck-generated"/>
          <p:cNvSpPr/>
          <p:nvPr/>
        </p:nvSpPr>
        <p:spPr>
          <a:xfrm>
            <a:off x="457200" y="5093208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akeaway accent" descr="pptx-deck-generated"/>
          <p:cNvSpPr/>
          <p:nvPr/>
        </p:nvSpPr>
        <p:spPr>
          <a:xfrm>
            <a:off x="457200" y="5093208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32" name="Takeaway text" descr="pptx-deck-generated"/>
          <p:cNvSpPr txBox="1"/>
          <p:nvPr/>
        </p:nvSpPr>
        <p:spPr>
          <a:xfrm>
            <a:off x="603504" y="5093208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判断が揃えば翌週にA6・A5へ着手し、Day30で最初の判定を行う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124"/>
      </a:dk1>
      <a:lt1>
        <a:srgbClr val="FFFFFF"/>
      </a:lt1>
      <a:dk2>
        <a:srgbClr val="1B3A66"/>
      </a:dk2>
      <a:lt2>
        <a:srgbClr val="F2F4F8"/>
      </a:lt2>
      <a:accent1>
        <a:srgbClr val="1B3A66"/>
      </a:accent1>
      <a:accent2>
        <a:srgbClr val="3E7CB1"/>
      </a:accent2>
      <a:accent3>
        <a:srgbClr val="8A94A6"/>
      </a:accent3>
      <a:accent4>
        <a:srgbClr val="6B7A90"/>
      </a:accent4>
      <a:accent5>
        <a:srgbClr val="C8CDD6"/>
      </a:accent5>
      <a:accent6>
        <a:srgbClr val="E4E8EE"/>
      </a:accent6>
      <a:hlink>
        <a:srgbClr val="3E7CB1"/>
      </a:hlink>
      <a:folHlink>
        <a:srgbClr val="6B7A90"/>
      </a:folHlink>
    </a:clrScheme>
    <a:fontScheme name="Office">
      <a:majorFont>
        <a:latin typeface="Yu Gothic"/>
        <a:ea typeface="Yu Gothic"/>
        <a:cs typeface=""/>
        <a:font script="Jpan" typeface="Yu Gothic"/>
        <a:font script="Hang" typeface="Yu Gothic"/>
        <a:font script="Hans" typeface="Yu Gothic"/>
        <a:font script="Hant" typeface="Yu Gothic"/>
        <a:font script="Arab" typeface="Yu Gothic"/>
        <a:font script="Hebr" typeface="Yu Gothic"/>
        <a:font script="Thai" typeface="Yu Gothic"/>
        <a:font script="Ethi" typeface="Yu Gothic"/>
        <a:font script="Beng" typeface="Yu Gothic"/>
        <a:font script="Gujr" typeface="Yu Gothic"/>
        <a:font script="Khmr" typeface="Yu Gothic"/>
        <a:font script="Knda" typeface="Yu Gothic"/>
        <a:font script="Guru" typeface="Yu Gothic"/>
        <a:font script="Cans" typeface="Yu Gothic"/>
        <a:font script="Cher" typeface="Yu Gothic"/>
        <a:font script="Yiii" typeface="Yu Gothic"/>
        <a:font script="Tibt" typeface="Yu Gothic"/>
        <a:font script="Thaa" typeface="Yu Gothic"/>
        <a:font script="Deva" typeface="Yu Gothic"/>
        <a:font script="Telu" typeface="Yu Gothic"/>
        <a:font script="Taml" typeface="Yu Gothic"/>
        <a:font script="Syrc" typeface="Yu Gothic"/>
        <a:font script="Orya" typeface="Yu Gothic"/>
        <a:font script="Mlym" typeface="Yu Gothic"/>
        <a:font script="Laoo" typeface="Yu Gothic"/>
        <a:font script="Sinh" typeface="Yu Gothic"/>
        <a:font script="Mong" typeface="Yu Gothic"/>
        <a:font script="Viet" typeface="Yu Gothic"/>
        <a:font script="Uigh" typeface="Yu Gothic"/>
        <a:font script="Geor" typeface="Yu Gothic"/>
      </a:majorFont>
      <a:minorFont>
        <a:latin typeface="Yu Gothic"/>
        <a:ea typeface="Yu Gothic"/>
        <a:cs typeface=""/>
        <a:font script="Jpan" typeface="Yu Gothic"/>
        <a:font script="Hang" typeface="Yu Gothic"/>
        <a:font script="Hans" typeface="Yu Gothic"/>
        <a:font script="Hant" typeface="Yu Gothic"/>
        <a:font script="Arab" typeface="Yu Gothic"/>
        <a:font script="Hebr" typeface="Yu Gothic"/>
        <a:font script="Thai" typeface="Yu Gothic"/>
        <a:font script="Ethi" typeface="Yu Gothic"/>
        <a:font script="Beng" typeface="Yu Gothic"/>
        <a:font script="Gujr" typeface="Yu Gothic"/>
        <a:font script="Khmr" typeface="Yu Gothic"/>
        <a:font script="Knda" typeface="Yu Gothic"/>
        <a:font script="Guru" typeface="Yu Gothic"/>
        <a:font script="Cans" typeface="Yu Gothic"/>
        <a:font script="Cher" typeface="Yu Gothic"/>
        <a:font script="Yiii" typeface="Yu Gothic"/>
        <a:font script="Tibt" typeface="Yu Gothic"/>
        <a:font script="Thaa" typeface="Yu Gothic"/>
        <a:font script="Deva" typeface="Yu Gothic"/>
        <a:font script="Telu" typeface="Yu Gothic"/>
        <a:font script="Taml" typeface="Yu Gothic"/>
        <a:font script="Syrc" typeface="Yu Gothic"/>
        <a:font script="Orya" typeface="Yu Gothic"/>
        <a:font script="Mlym" typeface="Yu Gothic"/>
        <a:font script="Laoo" typeface="Yu Gothic"/>
        <a:font script="Sinh" typeface="Yu Gothic"/>
        <a:font script="Mong" typeface="Yu Gothic"/>
        <a:font script="Viet" typeface="Yu Gothic"/>
        <a:font script="Uigh" typeface="Yu Gothic"/>
        <a:font script="Geor" typeface="Yu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