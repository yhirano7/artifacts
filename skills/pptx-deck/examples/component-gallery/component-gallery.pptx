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自己解決率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10月</c:v>
                </c:pt>
                <c:pt idx="1">
                  <c:v>11月</c:v>
                </c:pt>
                <c:pt idx="2">
                  <c:v>12月</c:v>
                </c:pt>
              </c:strCache>
            </c:strRef>
          </c:cat>
          <c:val>
            <c:numRef>
              <c:f>Sheet1!$B$2:$B$4</c:f>
              <c:numCache>
                <c:formatCode>0%</c:formatCode>
                <c:ptCount val="3"/>
                <c:pt idx="0">
                  <c:v>0.42</c:v>
                </c:pt>
                <c:pt idx="1">
                  <c:v>0.58</c:v>
                </c:pt>
                <c:pt idx="2">
                  <c:v>0.72</c:v>
                </c:pt>
              </c:numCache>
            </c:numRef>
          </c:val>
          <c:spPr>
            <a:solidFill>
              <a:schemeClr val="accent1"/>
            </a:solidFill>
          </c:spPr>
        </c:ser>
        <c:dLbls>
          <c:numFmt formatCode="0%" sourceLinked="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400">
          <a:solidFill>
            <a:schemeClr val="dk1"/>
          </a:solidFill>
        </a:defRPr>
      </a:pPr>
      <a:endParaRPr lang="en-US" sz="1400">
        <a:solidFill>
          <a:schemeClr val="dk1"/>
        </a:solidFill>
      </a:endParaR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受付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10月</c:v>
                </c:pt>
                <c:pt idx="1">
                  <c:v>11月</c:v>
                </c:pt>
                <c:pt idx="2">
                  <c:v>12月</c:v>
                </c:pt>
                <c:pt idx="3">
                  <c:v>1月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135</c:v>
                </c:pt>
                <c:pt idx="2">
                  <c:v>150</c:v>
                </c:pt>
                <c:pt idx="3">
                  <c:v>146</c:v>
                </c:pt>
              </c:numCache>
            </c:numRef>
          </c:val>
          <c:smooth val="0"/>
          <c:spPr>
            <a:solidFill>
              <a:schemeClr val="accent1"/>
            </a:solidFill>
          </c:spPr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解決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10月</c:v>
                </c:pt>
                <c:pt idx="1">
                  <c:v>11月</c:v>
                </c:pt>
                <c:pt idx="2">
                  <c:v>12月</c:v>
                </c:pt>
                <c:pt idx="3">
                  <c:v>1月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108</c:v>
                </c:pt>
                <c:pt idx="1">
                  <c:v>122</c:v>
                </c:pt>
                <c:pt idx="2">
                  <c:v>136</c:v>
                </c:pt>
                <c:pt idx="3">
                  <c:v>158</c:v>
                </c:pt>
              </c:numCache>
            </c:numRef>
          </c:val>
          <c:smooth val="0"/>
          <c:spPr>
            <a:solidFill>
              <a:schemeClr val="accent2"/>
            </a:solidFill>
          </c:spPr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400">
          <a:solidFill>
            <a:schemeClr val="dk1"/>
          </a:solidFill>
        </a:defRPr>
      </a:pPr>
      <a:endParaRPr lang="en-US" sz="1400">
        <a:solidFill>
          <a:schemeClr val="dk1"/>
        </a:solidFill>
      </a:endParaRPr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窓口を一本化し、共通の分類と回答ナレッジで運用する。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標準化した受付情報をチーム間で共有する。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試行結果を反映してから全社へ展開する。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数値は初期目標の例であり、試行結果に基づいて見直す。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初期の運用目標をシンプルに示した例。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受付から記録までの標準フローを示す。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問い合わせをナレッジ改善へつなげる循環を示す。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部門をまたぐ問い合わせの流れを示す。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導入前後の運用差を比較する。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一次窓口と専門チームの役割分担を示す。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分類基準は部門間で合意して運用する。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自己解決を土台に、専門性が必要な案件へ人員を集中する。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共通の受付情報を使って担当を判断する。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日々の対応とナレッジ更新をつなぐ。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複数の運用要素を一体として整備する。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小規模な試行で受付項目を確かめてから対象を広げる。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提案の中心となるメッセージを強調する。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ナレッジ共有の目指す状態を短く表現する。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準備状況と担当・期限を一覧で確認する。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数値は運用イメージを示す架空の例で、実績値ではない。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問い合わせ件数は説明用の架空データ。受付と解決の差を継続確認する。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365760"/>
            <a:ext cx="11274552" cy="1051560"/>
          </a:xfrm>
        </p:spPr>
        <p:txBody>
          <a:bodyPr anchor="t"/>
          <a:lstStyle>
            <a:lvl1pPr algn="l">
              <a:defRPr sz="2800" b="1">
                <a:solidFill>
                  <a:schemeClr val="dk2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 anchor="t"/>
          <a:lstStyle>
            <a:lvl1pPr algn="l">
              <a:defRPr sz="2800" b="1">
                <a:solidFill>
                  <a:schemeClr val="dk2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11274552" cy="452596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 anchor="t"/>
          <a:lstStyle>
            <a:lvl1pPr algn="l">
              <a:defRPr sz="2800" b="1" cap="all">
                <a:solidFill>
                  <a:schemeClr val="dk2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 anchor="t"/>
          <a:lstStyle>
            <a:lvl1pPr algn="l">
              <a:defRPr sz="2800" b="1">
                <a:solidFill>
                  <a:schemeClr val="dk2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1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社内問い合わせ窓口を一本化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t>コンポーネントギャラリー | Sample Org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受付を一つにまとめる</a:t>
            </a:r>
          </a:p>
        </p:txBody>
      </p:sp>
      <p:sp>
        <p:nvSpPr>
          <p:cNvPr id="3" name="Component lead" descr="pptx-deck-generated"/>
          <p:cNvSpPr txBox="1"/>
          <p:nvPr/>
        </p:nvSpPr>
        <p:spPr>
          <a:xfrm>
            <a:off x="457200" y="1645920"/>
            <a:ext cx="11274552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chemeClr val="dk1"/>
                </a:solidFill>
                <a:latin typeface="Yu Gothic"/>
                <a:ea typeface="Yu Gothic"/>
              </a:rPr>
              <a:t>窓口統合で変える三つのポイント</a:t>
            </a:r>
          </a:p>
        </p:txBody>
      </p:sp>
      <p:grpSp>
        <p:nvGrpSpPr>
          <p:cNvPr id="4" name="Cards 1" descr="pptx-deck-generated"/>
          <p:cNvGrpSpPr/>
          <p:nvPr/>
        </p:nvGrpSpPr>
        <p:grpSpPr>
          <a:xfrm>
            <a:off x="457200" y="2176272"/>
            <a:ext cx="3648456" cy="1674368"/>
            <a:chOff x="0" y="0"/>
            <a:chExt cx="3648456" cy="1674368"/>
          </a:xfrm>
        </p:grpSpPr>
        <p:sp>
          <p:nvSpPr>
            <p:cNvPr id="5" name="Card 1 body" descr="pptx-deck-generated"/>
            <p:cNvSpPr/>
            <p:nvPr/>
          </p:nvSpPr>
          <p:spPr>
            <a:xfrm>
              <a:off x="0" y="0"/>
              <a:ext cx="3648456" cy="1674368"/>
            </a:xfrm>
            <a:prstGeom prst="roundRect">
              <a:avLst>
                <a:gd name="adj" fmla="val 3277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Card 1 heading" descr="pptx-deck-generated"/>
            <p:cNvSpPr/>
            <p:nvPr/>
          </p:nvSpPr>
          <p:spPr>
            <a:xfrm>
              <a:off x="0" y="0"/>
              <a:ext cx="3648456" cy="530352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>
                  <a:solidFill>
                    <a:schemeClr val="lt1"/>
                  </a:solidFill>
                  <a:latin typeface="Yu Gothic"/>
                  <a:ea typeface="Yu Gothic"/>
                </a:rPr>
                <a:t>受付を集約</a:t>
              </a:r>
            </a:p>
          </p:txBody>
        </p:sp>
        <p:sp>
          <p:nvSpPr>
            <p:cNvPr id="7" name="Card 1 copy" descr="pptx-deck-generated"/>
            <p:cNvSpPr txBox="1"/>
            <p:nvPr/>
          </p:nvSpPr>
          <p:spPr>
            <a:xfrm>
              <a:off x="109728" y="530352"/>
              <a:ext cx="3429000" cy="10708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申請先を一つにして迷いを減らす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受付通知を自動で返し、受領状況を明確にする</a:t>
              </a:r>
            </a:p>
          </p:txBody>
        </p:sp>
      </p:grpSp>
      <p:grpSp>
        <p:nvGrpSpPr>
          <p:cNvPr id="8" name="Cards 2" descr="pptx-deck-generated"/>
          <p:cNvGrpSpPr/>
          <p:nvPr/>
        </p:nvGrpSpPr>
        <p:grpSpPr>
          <a:xfrm>
            <a:off x="4270248" y="2176272"/>
            <a:ext cx="3648456" cy="1674368"/>
            <a:chOff x="0" y="0"/>
            <a:chExt cx="3648456" cy="1674368"/>
          </a:xfrm>
        </p:grpSpPr>
        <p:sp>
          <p:nvSpPr>
            <p:cNvPr id="9" name="Card 2 body" descr="pptx-deck-generated"/>
            <p:cNvSpPr/>
            <p:nvPr/>
          </p:nvSpPr>
          <p:spPr>
            <a:xfrm>
              <a:off x="0" y="0"/>
              <a:ext cx="3648456" cy="1674368"/>
            </a:xfrm>
            <a:prstGeom prst="roundRect">
              <a:avLst>
                <a:gd name="adj" fmla="val 3277"/>
              </a:avLst>
            </a:prstGeom>
            <a:solidFill>
              <a:schemeClr val="lt1"/>
            </a:solidFill>
            <a:ln w="25400">
              <a:solidFill>
                <a:schemeClr val="accent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Card 2 heading" descr="pptx-deck-generated"/>
            <p:cNvSpPr/>
            <p:nvPr/>
          </p:nvSpPr>
          <p:spPr>
            <a:xfrm>
              <a:off x="0" y="0"/>
              <a:ext cx="3648456" cy="530352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>
                  <a:solidFill>
                    <a:schemeClr val="lt1"/>
                  </a:solidFill>
                  <a:latin typeface="Yu Gothic"/>
                  <a:ea typeface="Yu Gothic"/>
                </a:rPr>
                <a:t>分類を共通化</a:t>
              </a:r>
            </a:p>
          </p:txBody>
        </p:sp>
        <p:sp>
          <p:nvSpPr>
            <p:cNvPr id="11" name="Card 2 copy" descr="pptx-deck-generated"/>
            <p:cNvSpPr txBox="1"/>
            <p:nvPr/>
          </p:nvSpPr>
          <p:spPr>
            <a:xfrm>
              <a:off x="109728" y="530352"/>
              <a:ext cx="3429000" cy="10708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カテゴリと優先度を統一する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必要情報をそろえて担当へ引き継ぐ</a:t>
              </a:r>
            </a:p>
          </p:txBody>
        </p:sp>
      </p:grpSp>
      <p:grpSp>
        <p:nvGrpSpPr>
          <p:cNvPr id="12" name="Cards 3" descr="pptx-deck-generated"/>
          <p:cNvGrpSpPr/>
          <p:nvPr/>
        </p:nvGrpSpPr>
        <p:grpSpPr>
          <a:xfrm>
            <a:off x="8083296" y="2176272"/>
            <a:ext cx="3648456" cy="1674368"/>
            <a:chOff x="0" y="0"/>
            <a:chExt cx="3648456" cy="1674368"/>
          </a:xfrm>
        </p:grpSpPr>
        <p:sp>
          <p:nvSpPr>
            <p:cNvPr id="13" name="Card 3 body" descr="pptx-deck-generated"/>
            <p:cNvSpPr/>
            <p:nvPr/>
          </p:nvSpPr>
          <p:spPr>
            <a:xfrm>
              <a:off x="0" y="0"/>
              <a:ext cx="3648456" cy="1674368"/>
            </a:xfrm>
            <a:prstGeom prst="roundRect">
              <a:avLst>
                <a:gd name="adj" fmla="val 3277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Card 3 heading" descr="pptx-deck-generated"/>
            <p:cNvSpPr/>
            <p:nvPr/>
          </p:nvSpPr>
          <p:spPr>
            <a:xfrm>
              <a:off x="0" y="0"/>
              <a:ext cx="3648456" cy="530352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>
                  <a:solidFill>
                    <a:schemeClr val="lt1"/>
                  </a:solidFill>
                  <a:latin typeface="Yu Gothic"/>
                  <a:ea typeface="Yu Gothic"/>
                </a:rPr>
                <a:t>回答を再利用</a:t>
              </a:r>
            </a:p>
          </p:txBody>
        </p:sp>
        <p:sp>
          <p:nvSpPr>
            <p:cNvPr id="15" name="Card 3 copy" descr="pptx-deck-generated"/>
            <p:cNvSpPr txBox="1"/>
            <p:nvPr/>
          </p:nvSpPr>
          <p:spPr>
            <a:xfrm>
              <a:off x="109727" y="530352"/>
              <a:ext cx="3429000" cy="10708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FAQを育て、重複対応を減らす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解決内容を記録して次の回答に活用する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受付から回答までを標準化する</a:t>
            </a:r>
          </a:p>
        </p:txBody>
      </p:sp>
      <p:grpSp>
        <p:nvGrpSpPr>
          <p:cNvPr id="3" name="Cards 1" descr="pptx-deck-generated"/>
          <p:cNvGrpSpPr/>
          <p:nvPr/>
        </p:nvGrpSpPr>
        <p:grpSpPr>
          <a:xfrm>
            <a:off x="457200" y="1645920"/>
            <a:ext cx="3648456" cy="1461008"/>
            <a:chOff x="0" y="0"/>
            <a:chExt cx="3648456" cy="1461008"/>
          </a:xfrm>
        </p:grpSpPr>
        <p:sp>
          <p:nvSpPr>
            <p:cNvPr id="4" name="Card 1 panel" descr="pptx-deck-generated"/>
            <p:cNvSpPr/>
            <p:nvPr/>
          </p:nvSpPr>
          <p:spPr>
            <a:xfrm>
              <a:off x="0" y="0"/>
              <a:ext cx="3648456" cy="1461008"/>
            </a:xfrm>
            <a:prstGeom prst="roundRect">
              <a:avLst>
                <a:gd name="adj" fmla="val 3755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Card 1 heading" descr="pptx-deck-generated"/>
            <p:cNvSpPr txBox="1"/>
            <p:nvPr/>
          </p:nvSpPr>
          <p:spPr>
            <a:xfrm>
              <a:off x="109728" y="73152"/>
              <a:ext cx="3429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>
                  <a:solidFill>
                    <a:schemeClr val="accent1"/>
                  </a:solidFill>
                  <a:latin typeface="Yu Gothic"/>
                  <a:ea typeface="Yu Gothic"/>
                </a:rPr>
                <a:t>受け付ける</a:t>
              </a:r>
            </a:p>
          </p:txBody>
        </p:sp>
        <p:sp>
          <p:nvSpPr>
            <p:cNvPr id="6" name="Card 1 body" descr="pptx-deck-generated"/>
            <p:cNvSpPr txBox="1"/>
            <p:nvPr/>
          </p:nvSpPr>
          <p:spPr>
            <a:xfrm>
              <a:off x="109728" y="530352"/>
              <a:ext cx="3429000" cy="7477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フォームで必要情報を収集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受付通知を自動送信</a:t>
              </a:r>
            </a:p>
          </p:txBody>
        </p:sp>
        <p:sp>
          <p:nvSpPr>
            <p:cNvPr id="7" name="Card 1 accent" descr="pptx-deck-generated"/>
            <p:cNvSpPr/>
            <p:nvPr/>
          </p:nvSpPr>
          <p:spPr>
            <a:xfrm>
              <a:off x="54864" y="54864"/>
              <a:ext cx="3538728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" name="Cards 2" descr="pptx-deck-generated"/>
          <p:cNvGrpSpPr/>
          <p:nvPr/>
        </p:nvGrpSpPr>
        <p:grpSpPr>
          <a:xfrm>
            <a:off x="4270248" y="1645920"/>
            <a:ext cx="3648456" cy="1461008"/>
            <a:chOff x="0" y="0"/>
            <a:chExt cx="3648456" cy="1461008"/>
          </a:xfrm>
        </p:grpSpPr>
        <p:sp>
          <p:nvSpPr>
            <p:cNvPr id="9" name="Card 2 panel" descr="pptx-deck-generated"/>
            <p:cNvSpPr/>
            <p:nvPr/>
          </p:nvSpPr>
          <p:spPr>
            <a:xfrm>
              <a:off x="0" y="0"/>
              <a:ext cx="3648456" cy="1461008"/>
            </a:xfrm>
            <a:prstGeom prst="roundRect">
              <a:avLst>
                <a:gd name="adj" fmla="val 3755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Card 2 heading" descr="pptx-deck-generated"/>
            <p:cNvSpPr txBox="1"/>
            <p:nvPr/>
          </p:nvSpPr>
          <p:spPr>
            <a:xfrm>
              <a:off x="109728" y="73152"/>
              <a:ext cx="3429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>
                  <a:solidFill>
                    <a:schemeClr val="accent1"/>
                  </a:solidFill>
                  <a:latin typeface="Yu Gothic"/>
                  <a:ea typeface="Yu Gothic"/>
                </a:rPr>
                <a:t>振り分ける</a:t>
              </a:r>
            </a:p>
          </p:txBody>
        </p:sp>
        <p:sp>
          <p:nvSpPr>
            <p:cNvPr id="11" name="Card 2 body" descr="pptx-deck-generated"/>
            <p:cNvSpPr txBox="1"/>
            <p:nvPr/>
          </p:nvSpPr>
          <p:spPr>
            <a:xfrm>
              <a:off x="109728" y="530352"/>
              <a:ext cx="3429000" cy="7477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共通カテゴリで分類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担当チームへ割り当て</a:t>
              </a:r>
            </a:p>
          </p:txBody>
        </p:sp>
        <p:sp>
          <p:nvSpPr>
            <p:cNvPr id="12" name="Card 2 accent" descr="pptx-deck-generated"/>
            <p:cNvSpPr/>
            <p:nvPr/>
          </p:nvSpPr>
          <p:spPr>
            <a:xfrm>
              <a:off x="54864" y="54864"/>
              <a:ext cx="3538728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3" name="Cards 3" descr="pptx-deck-generated"/>
          <p:cNvGrpSpPr/>
          <p:nvPr/>
        </p:nvGrpSpPr>
        <p:grpSpPr>
          <a:xfrm>
            <a:off x="8083296" y="1645920"/>
            <a:ext cx="3648456" cy="1461008"/>
            <a:chOff x="0" y="0"/>
            <a:chExt cx="3648456" cy="1461008"/>
          </a:xfrm>
        </p:grpSpPr>
        <p:sp>
          <p:nvSpPr>
            <p:cNvPr id="14" name="Card 3 panel" descr="pptx-deck-generated"/>
            <p:cNvSpPr/>
            <p:nvPr/>
          </p:nvSpPr>
          <p:spPr>
            <a:xfrm>
              <a:off x="0" y="0"/>
              <a:ext cx="3648456" cy="1461008"/>
            </a:xfrm>
            <a:prstGeom prst="roundRect">
              <a:avLst>
                <a:gd name="adj" fmla="val 3755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ard 3 heading" descr="pptx-deck-generated"/>
            <p:cNvSpPr txBox="1"/>
            <p:nvPr/>
          </p:nvSpPr>
          <p:spPr>
            <a:xfrm>
              <a:off x="109727" y="73152"/>
              <a:ext cx="3429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>
                  <a:solidFill>
                    <a:schemeClr val="accent1"/>
                  </a:solidFill>
                  <a:latin typeface="Yu Gothic"/>
                  <a:ea typeface="Yu Gothic"/>
                </a:rPr>
                <a:t>回答する</a:t>
              </a:r>
            </a:p>
          </p:txBody>
        </p:sp>
        <p:sp>
          <p:nvSpPr>
            <p:cNvPr id="16" name="Card 3 body" descr="pptx-deck-generated"/>
            <p:cNvSpPr txBox="1"/>
            <p:nvPr/>
          </p:nvSpPr>
          <p:spPr>
            <a:xfrm>
              <a:off x="109727" y="530352"/>
              <a:ext cx="3429000" cy="74777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FAQを確認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解決内容を記録</a:t>
              </a:r>
            </a:p>
          </p:txBody>
        </p:sp>
        <p:sp>
          <p:nvSpPr>
            <p:cNvPr id="17" name="Card 3 accent" descr="pptx-deck-generated"/>
            <p:cNvSpPr/>
            <p:nvPr/>
          </p:nvSpPr>
          <p:spPr>
            <a:xfrm>
              <a:off x="54864" y="54864"/>
              <a:ext cx="3538728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18" name="Component takeaway" descr="pptx-deck-generated"/>
          <p:cNvSpPr/>
          <p:nvPr/>
        </p:nvSpPr>
        <p:spPr>
          <a:xfrm>
            <a:off x="457200" y="3335528"/>
            <a:ext cx="11274552" cy="457200"/>
          </a:xfrm>
          <a:prstGeom prst="roundRect">
            <a:avLst>
              <a:gd name="adj" fmla="val 12000"/>
            </a:avLst>
          </a:prstGeom>
          <a:solidFill>
            <a:schemeClr val="lt2"/>
          </a:solidFill>
          <a:ln w="9525">
            <a:solidFill>
              <a:schemeClr val="lt1">
                <a:lumMod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akeaway accent" descr="pptx-deck-generated"/>
          <p:cNvSpPr/>
          <p:nvPr/>
        </p:nvSpPr>
        <p:spPr>
          <a:xfrm>
            <a:off x="457200" y="3335528"/>
            <a:ext cx="82296" cy="457200"/>
          </a:xfrm>
          <a:prstGeom prst="rect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20" name="Takeaway text" descr="pptx-deck-generated"/>
          <p:cNvSpPr txBox="1"/>
          <p:nvPr/>
        </p:nvSpPr>
        <p:spPr>
          <a:xfrm>
            <a:off x="603504" y="3335528"/>
            <a:ext cx="11073384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chemeClr val="dk1"/>
                </a:solidFill>
                <a:latin typeface="Yu Gothic"/>
                <a:ea typeface="Yu Gothic"/>
              </a:rPr>
              <a:t>問い合わせ状況と解決内容を一元管理する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段階的に定着させる</a:t>
            </a:r>
          </a:p>
        </p:txBody>
      </p:sp>
      <p:grpSp>
        <p:nvGrpSpPr>
          <p:cNvPr id="3" name="Cards 1" descr="pptx-deck-generated"/>
          <p:cNvGrpSpPr/>
          <p:nvPr/>
        </p:nvGrpSpPr>
        <p:grpSpPr>
          <a:xfrm>
            <a:off x="457200" y="1645920"/>
            <a:ext cx="3648456" cy="1674368"/>
            <a:chOff x="0" y="0"/>
            <a:chExt cx="3648456" cy="1674368"/>
          </a:xfrm>
        </p:grpSpPr>
        <p:sp>
          <p:nvSpPr>
            <p:cNvPr id="4" name="Card 1 panel" descr="pptx-deck-generated"/>
            <p:cNvSpPr/>
            <p:nvPr/>
          </p:nvSpPr>
          <p:spPr>
            <a:xfrm>
              <a:off x="0" y="0"/>
              <a:ext cx="3648456" cy="1674368"/>
            </a:xfrm>
            <a:prstGeom prst="roundRect">
              <a:avLst>
                <a:gd name="adj" fmla="val 3277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Card 1 number" descr="pptx-deck-generated"/>
            <p:cNvSpPr/>
            <p:nvPr/>
          </p:nvSpPr>
          <p:spPr>
            <a:xfrm>
              <a:off x="128016" y="109728"/>
              <a:ext cx="384048" cy="384048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1</a:t>
              </a:r>
            </a:p>
          </p:txBody>
        </p:sp>
        <p:sp>
          <p:nvSpPr>
            <p:cNvPr id="6" name="Card 1 heading" descr="pptx-deck-generated"/>
            <p:cNvSpPr txBox="1"/>
            <p:nvPr/>
          </p:nvSpPr>
          <p:spPr>
            <a:xfrm>
              <a:off x="585216" y="91440"/>
              <a:ext cx="2935224" cy="5303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>
                  <a:solidFill>
                    <a:schemeClr val="accent1"/>
                  </a:solidFill>
                  <a:latin typeface="Yu Gothic"/>
                  <a:ea typeface="Yu Gothic"/>
                </a:rPr>
                <a:t>試行</a:t>
              </a:r>
            </a:p>
          </p:txBody>
        </p:sp>
        <p:sp>
          <p:nvSpPr>
            <p:cNvPr id="7" name="Card 1 copy" descr="pptx-deck-generated"/>
            <p:cNvSpPr txBox="1"/>
            <p:nvPr/>
          </p:nvSpPr>
          <p:spPr>
            <a:xfrm>
              <a:off x="146304" y="640080"/>
              <a:ext cx="3355848" cy="9611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対象部門を絞り、受付項目を検証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利用者の声を集め、入力負荷を確認</a:t>
              </a:r>
            </a:p>
          </p:txBody>
        </p:sp>
      </p:grpSp>
      <p:grpSp>
        <p:nvGrpSpPr>
          <p:cNvPr id="8" name="Cards 2" descr="pptx-deck-generated"/>
          <p:cNvGrpSpPr/>
          <p:nvPr/>
        </p:nvGrpSpPr>
        <p:grpSpPr>
          <a:xfrm>
            <a:off x="4270248" y="1645920"/>
            <a:ext cx="3648456" cy="1674368"/>
            <a:chOff x="0" y="0"/>
            <a:chExt cx="3648456" cy="1674368"/>
          </a:xfrm>
        </p:grpSpPr>
        <p:sp>
          <p:nvSpPr>
            <p:cNvPr id="9" name="Card 2 panel" descr="pptx-deck-generated"/>
            <p:cNvSpPr/>
            <p:nvPr/>
          </p:nvSpPr>
          <p:spPr>
            <a:xfrm>
              <a:off x="0" y="0"/>
              <a:ext cx="3648456" cy="1674368"/>
            </a:xfrm>
            <a:prstGeom prst="roundRect">
              <a:avLst>
                <a:gd name="adj" fmla="val 3277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Card 2 number" descr="pptx-deck-generated"/>
            <p:cNvSpPr/>
            <p:nvPr/>
          </p:nvSpPr>
          <p:spPr>
            <a:xfrm>
              <a:off x="128016" y="109728"/>
              <a:ext cx="384048" cy="384048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2</a:t>
              </a:r>
            </a:p>
          </p:txBody>
        </p:sp>
        <p:sp>
          <p:nvSpPr>
            <p:cNvPr id="11" name="Card 2 heading" descr="pptx-deck-generated"/>
            <p:cNvSpPr txBox="1"/>
            <p:nvPr/>
          </p:nvSpPr>
          <p:spPr>
            <a:xfrm>
              <a:off x="585216" y="91440"/>
              <a:ext cx="2935224" cy="5303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>
                  <a:solidFill>
                    <a:schemeClr val="accent1"/>
                  </a:solidFill>
                  <a:latin typeface="Yu Gothic"/>
                  <a:ea typeface="Yu Gothic"/>
                </a:rPr>
                <a:t>展開</a:t>
              </a:r>
            </a:p>
          </p:txBody>
        </p:sp>
        <p:sp>
          <p:nvSpPr>
            <p:cNvPr id="12" name="Card 2 copy" descr="pptx-deck-generated"/>
            <p:cNvSpPr txBox="1"/>
            <p:nvPr/>
          </p:nvSpPr>
          <p:spPr>
            <a:xfrm>
              <a:off x="146304" y="640080"/>
              <a:ext cx="3355848" cy="9611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FAQと担当範囲を整えて対象拡大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運用状況を見ながら対象を段階的に広げる</a:t>
              </a:r>
            </a:p>
          </p:txBody>
        </p:sp>
      </p:grpSp>
      <p:grpSp>
        <p:nvGrpSpPr>
          <p:cNvPr id="13" name="Cards 3" descr="pptx-deck-generated"/>
          <p:cNvGrpSpPr/>
          <p:nvPr/>
        </p:nvGrpSpPr>
        <p:grpSpPr>
          <a:xfrm>
            <a:off x="8083296" y="1645920"/>
            <a:ext cx="3648456" cy="1674368"/>
            <a:chOff x="0" y="0"/>
            <a:chExt cx="3648456" cy="1674368"/>
          </a:xfrm>
        </p:grpSpPr>
        <p:sp>
          <p:nvSpPr>
            <p:cNvPr id="14" name="Card 3 panel" descr="pptx-deck-generated"/>
            <p:cNvSpPr/>
            <p:nvPr/>
          </p:nvSpPr>
          <p:spPr>
            <a:xfrm>
              <a:off x="0" y="0"/>
              <a:ext cx="3648456" cy="1674368"/>
            </a:xfrm>
            <a:prstGeom prst="roundRect">
              <a:avLst>
                <a:gd name="adj" fmla="val 3277"/>
              </a:avLst>
            </a:prstGeom>
            <a:solidFill>
              <a:schemeClr val="lt2"/>
            </a:solidFill>
            <a:ln w="25400">
              <a:solidFill>
                <a:schemeClr val="accent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ard 3 number" descr="pptx-deck-generated"/>
            <p:cNvSpPr/>
            <p:nvPr/>
          </p:nvSpPr>
          <p:spPr>
            <a:xfrm>
              <a:off x="128016" y="109728"/>
              <a:ext cx="384048" cy="384048"/>
            </a:xfrm>
            <a:prstGeom prst="ellipse">
              <a:avLst/>
            </a:prstGeom>
            <a:solidFill>
              <a:schemeClr val="accent2"/>
            </a:solidFill>
          </p:spPr>
          <p:txBody>
            <a:bodyPr rtlCol="0" anchor="t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dk1"/>
                  </a:solidFill>
                  <a:latin typeface="Yu Gothic"/>
                  <a:ea typeface="Yu Gothic"/>
                </a:rPr>
                <a:t>3</a:t>
              </a:r>
            </a:p>
          </p:txBody>
        </p:sp>
        <p:sp>
          <p:nvSpPr>
            <p:cNvPr id="16" name="Card 3 heading" descr="pptx-deck-generated"/>
            <p:cNvSpPr txBox="1"/>
            <p:nvPr/>
          </p:nvSpPr>
          <p:spPr>
            <a:xfrm>
              <a:off x="585216" y="91440"/>
              <a:ext cx="2935224" cy="5303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>
                  <a:solidFill>
                    <a:schemeClr val="accent2"/>
                  </a:solidFill>
                  <a:latin typeface="Yu Gothic"/>
                  <a:ea typeface="Yu Gothic"/>
                </a:rPr>
                <a:t>定着</a:t>
              </a:r>
            </a:p>
          </p:txBody>
        </p:sp>
        <p:sp>
          <p:nvSpPr>
            <p:cNvPr id="17" name="Card 3 copy" descr="pptx-deck-generated"/>
            <p:cNvSpPr txBox="1"/>
            <p:nvPr/>
          </p:nvSpPr>
          <p:spPr>
            <a:xfrm>
              <a:off x="146304" y="640080"/>
              <a:ext cx="3355848" cy="9611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実績を見て手順とナレッジを更新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定期的に課題を確認し、改善を続ける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受付集約で対応状況を見える化</a:t>
            </a:r>
          </a:p>
        </p:txBody>
      </p:sp>
      <p:grpSp>
        <p:nvGrpSpPr>
          <p:cNvPr id="3" name="KPI 1" descr="pptx-deck-generated"/>
          <p:cNvGrpSpPr/>
          <p:nvPr/>
        </p:nvGrpSpPr>
        <p:grpSpPr>
          <a:xfrm>
            <a:off x="457200" y="1645920"/>
            <a:ext cx="2708910" cy="1786127"/>
            <a:chOff x="0" y="0"/>
            <a:chExt cx="2708910" cy="1786127"/>
          </a:xfrm>
        </p:grpSpPr>
        <p:sp>
          <p:nvSpPr>
            <p:cNvPr id="4" name="KPI 1 tile" descr="pptx-deck-generated"/>
            <p:cNvSpPr/>
            <p:nvPr/>
          </p:nvSpPr>
          <p:spPr>
            <a:xfrm>
              <a:off x="0" y="0"/>
              <a:ext cx="2708910" cy="1786127"/>
            </a:xfrm>
            <a:prstGeom prst="roundRect">
              <a:avLst>
                <a:gd name="adj" fmla="val 3072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KPI 1 accent" descr="pptx-deck-generated"/>
            <p:cNvSpPr/>
            <p:nvPr/>
          </p:nvSpPr>
          <p:spPr>
            <a:xfrm>
              <a:off x="54864" y="36576"/>
              <a:ext cx="2599182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KPI 1 value" descr="pptx-deck-generated"/>
            <p:cNvSpPr txBox="1"/>
            <p:nvPr/>
          </p:nvSpPr>
          <p:spPr>
            <a:xfrm>
              <a:off x="109728" y="91440"/>
              <a:ext cx="2489454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4000" b="1">
                  <a:solidFill>
                    <a:schemeClr val="accent1"/>
                  </a:solidFill>
                  <a:latin typeface="Yu Gothic"/>
                  <a:ea typeface="Yu Gothic"/>
                </a:rPr>
                <a:t>1</a:t>
              </a:r>
              <a:r>
                <a:rPr sz="18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 窓口</a:t>
              </a:r>
            </a:p>
          </p:txBody>
        </p:sp>
        <p:sp>
          <p:nvSpPr>
            <p:cNvPr id="7" name="KPI 1 label" descr="pptx-deck-generated"/>
            <p:cNvSpPr txBox="1"/>
            <p:nvPr/>
          </p:nvSpPr>
          <p:spPr>
            <a:xfrm>
              <a:off x="109728" y="877824"/>
              <a:ext cx="2489454" cy="4328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dk1"/>
                  </a:solidFill>
                  <a:latin typeface="Yu Gothic"/>
                  <a:ea typeface="Yu Gothic"/>
                </a:rPr>
                <a:t>受付先</a:t>
              </a:r>
            </a:p>
          </p:txBody>
        </p:sp>
      </p:grpSp>
      <p:grpSp>
        <p:nvGrpSpPr>
          <p:cNvPr id="8" name="KPI 2" descr="pptx-deck-generated"/>
          <p:cNvGrpSpPr/>
          <p:nvPr/>
        </p:nvGrpSpPr>
        <p:grpSpPr>
          <a:xfrm>
            <a:off x="3312414" y="1645920"/>
            <a:ext cx="2708910" cy="1786127"/>
            <a:chOff x="0" y="0"/>
            <a:chExt cx="2708910" cy="1786127"/>
          </a:xfrm>
        </p:grpSpPr>
        <p:sp>
          <p:nvSpPr>
            <p:cNvPr id="9" name="KPI 2 tile" descr="pptx-deck-generated"/>
            <p:cNvSpPr/>
            <p:nvPr/>
          </p:nvSpPr>
          <p:spPr>
            <a:xfrm>
              <a:off x="0" y="0"/>
              <a:ext cx="2708910" cy="1786127"/>
            </a:xfrm>
            <a:prstGeom prst="roundRect">
              <a:avLst>
                <a:gd name="adj" fmla="val 3072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KPI 2 accent" descr="pptx-deck-generated"/>
            <p:cNvSpPr/>
            <p:nvPr/>
          </p:nvSpPr>
          <p:spPr>
            <a:xfrm>
              <a:off x="54864" y="36576"/>
              <a:ext cx="2599182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KPI 2 value" descr="pptx-deck-generated"/>
            <p:cNvSpPr txBox="1"/>
            <p:nvPr/>
          </p:nvSpPr>
          <p:spPr>
            <a:xfrm>
              <a:off x="109728" y="91440"/>
              <a:ext cx="2489454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4000" b="1">
                  <a:solidFill>
                    <a:schemeClr val="accent1"/>
                  </a:solidFill>
                  <a:latin typeface="Yu Gothic"/>
                  <a:ea typeface="Yu Gothic"/>
                </a:rPr>
                <a:t>3</a:t>
              </a:r>
              <a:r>
                <a:rPr sz="18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 営業日</a:t>
              </a:r>
            </a:p>
          </p:txBody>
        </p:sp>
        <p:sp>
          <p:nvSpPr>
            <p:cNvPr id="12" name="KPI 2 label" descr="pptx-deck-generated"/>
            <p:cNvSpPr txBox="1"/>
            <p:nvPr/>
          </p:nvSpPr>
          <p:spPr>
            <a:xfrm>
              <a:off x="109728" y="877824"/>
              <a:ext cx="2489454" cy="4328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dk1"/>
                  </a:solidFill>
                  <a:latin typeface="Yu Gothic"/>
                  <a:ea typeface="Yu Gothic"/>
                </a:rPr>
                <a:t>初回回答目標</a:t>
              </a:r>
            </a:p>
          </p:txBody>
        </p:sp>
      </p:grpSp>
      <p:grpSp>
        <p:nvGrpSpPr>
          <p:cNvPr id="13" name="KPI 3" descr="pptx-deck-generated"/>
          <p:cNvGrpSpPr/>
          <p:nvPr/>
        </p:nvGrpSpPr>
        <p:grpSpPr>
          <a:xfrm>
            <a:off x="6167628" y="1645920"/>
            <a:ext cx="2708910" cy="1786127"/>
            <a:chOff x="0" y="0"/>
            <a:chExt cx="2708910" cy="1786127"/>
          </a:xfrm>
        </p:grpSpPr>
        <p:sp>
          <p:nvSpPr>
            <p:cNvPr id="14" name="KPI 3 tile" descr="pptx-deck-generated"/>
            <p:cNvSpPr/>
            <p:nvPr/>
          </p:nvSpPr>
          <p:spPr>
            <a:xfrm>
              <a:off x="0" y="0"/>
              <a:ext cx="2708910" cy="1786127"/>
            </a:xfrm>
            <a:prstGeom prst="roundRect">
              <a:avLst>
                <a:gd name="adj" fmla="val 3072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KPI 3 accent" descr="pptx-deck-generated"/>
            <p:cNvSpPr/>
            <p:nvPr/>
          </p:nvSpPr>
          <p:spPr>
            <a:xfrm>
              <a:off x="54864" y="36576"/>
              <a:ext cx="2599182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KPI 3 value" descr="pptx-deck-generated"/>
            <p:cNvSpPr txBox="1"/>
            <p:nvPr/>
          </p:nvSpPr>
          <p:spPr>
            <a:xfrm>
              <a:off x="109728" y="91440"/>
              <a:ext cx="2489454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4000" b="1">
                  <a:solidFill>
                    <a:schemeClr val="accent1"/>
                  </a:solidFill>
                  <a:latin typeface="Yu Gothic"/>
                  <a:ea typeface="Yu Gothic"/>
                </a:rPr>
                <a:t>80</a:t>
              </a:r>
              <a:r>
                <a:rPr sz="18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 %</a:t>
              </a:r>
            </a:p>
          </p:txBody>
        </p:sp>
        <p:sp>
          <p:nvSpPr>
            <p:cNvPr id="17" name="KPI 3 label" descr="pptx-deck-generated"/>
            <p:cNvSpPr txBox="1"/>
            <p:nvPr/>
          </p:nvSpPr>
          <p:spPr>
            <a:xfrm>
              <a:off x="109728" y="877824"/>
              <a:ext cx="2489454" cy="4328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dk1"/>
                  </a:solidFill>
                  <a:latin typeface="Yu Gothic"/>
                  <a:ea typeface="Yu Gothic"/>
                </a:rPr>
                <a:t>FAQ自己解決目標</a:t>
              </a:r>
            </a:p>
          </p:txBody>
        </p:sp>
        <p:sp>
          <p:nvSpPr>
            <p:cNvPr id="18" name="KPI 3 note" descr="pptx-deck-generated"/>
            <p:cNvSpPr txBox="1"/>
            <p:nvPr/>
          </p:nvSpPr>
          <p:spPr>
            <a:xfrm>
              <a:off x="109728" y="1383791"/>
              <a:ext cx="2489454" cy="36575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試行後に見直し</a:t>
              </a:r>
            </a:p>
          </p:txBody>
        </p:sp>
      </p:grpSp>
      <p:grpSp>
        <p:nvGrpSpPr>
          <p:cNvPr id="19" name="KPI 4" descr="pptx-deck-generated"/>
          <p:cNvGrpSpPr/>
          <p:nvPr/>
        </p:nvGrpSpPr>
        <p:grpSpPr>
          <a:xfrm>
            <a:off x="9022842" y="1645920"/>
            <a:ext cx="2708910" cy="1786127"/>
            <a:chOff x="0" y="0"/>
            <a:chExt cx="2708910" cy="1786127"/>
          </a:xfrm>
        </p:grpSpPr>
        <p:sp>
          <p:nvSpPr>
            <p:cNvPr id="20" name="KPI 4 tile" descr="pptx-deck-generated"/>
            <p:cNvSpPr/>
            <p:nvPr/>
          </p:nvSpPr>
          <p:spPr>
            <a:xfrm>
              <a:off x="0" y="0"/>
              <a:ext cx="2708910" cy="1786127"/>
            </a:xfrm>
            <a:prstGeom prst="roundRect">
              <a:avLst>
                <a:gd name="adj" fmla="val 3072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KPI 4 accent" descr="pptx-deck-generated"/>
            <p:cNvSpPr/>
            <p:nvPr/>
          </p:nvSpPr>
          <p:spPr>
            <a:xfrm>
              <a:off x="54864" y="36576"/>
              <a:ext cx="2599182" cy="54864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KPI 4 value" descr="pptx-deck-generated"/>
            <p:cNvSpPr txBox="1"/>
            <p:nvPr/>
          </p:nvSpPr>
          <p:spPr>
            <a:xfrm>
              <a:off x="109727" y="91440"/>
              <a:ext cx="2489454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4000" b="1">
                  <a:solidFill>
                    <a:schemeClr val="accent1"/>
                  </a:solidFill>
                  <a:latin typeface="Yu Gothic"/>
                  <a:ea typeface="Yu Gothic"/>
                </a:rPr>
                <a:t>100</a:t>
              </a:r>
              <a:r>
                <a:rPr sz="18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 %</a:t>
              </a:r>
            </a:p>
          </p:txBody>
        </p:sp>
        <p:sp>
          <p:nvSpPr>
            <p:cNvPr id="23" name="KPI 4 label" descr="pptx-deck-generated"/>
            <p:cNvSpPr txBox="1"/>
            <p:nvPr/>
          </p:nvSpPr>
          <p:spPr>
            <a:xfrm>
              <a:off x="109727" y="877824"/>
              <a:ext cx="2489454" cy="4328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dk1"/>
                  </a:solidFill>
                  <a:latin typeface="Yu Gothic"/>
                  <a:ea typeface="Yu Gothic"/>
                </a:rPr>
                <a:t>対応記録率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受付先と応答基準を統一する</a:t>
            </a:r>
          </a:p>
        </p:txBody>
      </p:sp>
      <p:grpSp>
        <p:nvGrpSpPr>
          <p:cNvPr id="3" name="KPI 1" descr="pptx-deck-generated"/>
          <p:cNvGrpSpPr/>
          <p:nvPr/>
        </p:nvGrpSpPr>
        <p:grpSpPr>
          <a:xfrm>
            <a:off x="457200" y="1645920"/>
            <a:ext cx="11274552" cy="1383791"/>
            <a:chOff x="0" y="0"/>
            <a:chExt cx="11274552" cy="1383791"/>
          </a:xfrm>
        </p:grpSpPr>
        <p:sp>
          <p:nvSpPr>
            <p:cNvPr id="4" name="KPI band" descr="pptx-deck-generated"/>
            <p:cNvSpPr/>
            <p:nvPr/>
          </p:nvSpPr>
          <p:spPr>
            <a:xfrm>
              <a:off x="0" y="0"/>
              <a:ext cx="11274552" cy="1383791"/>
            </a:xfrm>
            <a:prstGeom prst="roundRect">
              <a:avLst>
                <a:gd name="adj" fmla="val 3965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KPI 1 value" descr="pptx-deck-generated"/>
            <p:cNvSpPr txBox="1"/>
            <p:nvPr/>
          </p:nvSpPr>
          <p:spPr>
            <a:xfrm>
              <a:off x="73152" y="73152"/>
              <a:ext cx="3514343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4000" b="1">
                  <a:solidFill>
                    <a:schemeClr val="accent1"/>
                  </a:solidFill>
                  <a:latin typeface="Yu Gothic"/>
                  <a:ea typeface="Yu Gothic"/>
                </a:rPr>
                <a:t>1</a:t>
              </a:r>
              <a:r>
                <a:rPr sz="18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 窓口</a:t>
              </a:r>
            </a:p>
          </p:txBody>
        </p:sp>
        <p:sp>
          <p:nvSpPr>
            <p:cNvPr id="6" name="KPI 1 label" descr="pptx-deck-generated"/>
            <p:cNvSpPr txBox="1"/>
            <p:nvPr/>
          </p:nvSpPr>
          <p:spPr>
            <a:xfrm>
              <a:off x="73152" y="877824"/>
              <a:ext cx="3514343" cy="4328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dk1"/>
                  </a:solidFill>
                  <a:latin typeface="Yu Gothic"/>
                  <a:ea typeface="Yu Gothic"/>
                </a:rPr>
                <a:t>受付</a:t>
              </a:r>
            </a:p>
          </p:txBody>
        </p:sp>
      </p:grpSp>
      <p:grpSp>
        <p:nvGrpSpPr>
          <p:cNvPr id="7" name="KPI 2" descr="pptx-deck-generated"/>
          <p:cNvGrpSpPr/>
          <p:nvPr/>
        </p:nvGrpSpPr>
        <p:grpSpPr>
          <a:xfrm>
            <a:off x="4190999" y="1719072"/>
            <a:ext cx="3660648" cy="1237488"/>
            <a:chOff x="0" y="0"/>
            <a:chExt cx="3660648" cy="1237488"/>
          </a:xfrm>
        </p:grpSpPr>
        <p:sp>
          <p:nvSpPr>
            <p:cNvPr id="8" name="KPI 2 divider" descr="pptx-deck-generated"/>
            <p:cNvSpPr/>
            <p:nvPr/>
          </p:nvSpPr>
          <p:spPr>
            <a:xfrm>
              <a:off x="0" y="36576"/>
              <a:ext cx="9144" cy="1164336"/>
            </a:xfrm>
            <a:prstGeom prst="rect">
              <a:avLst/>
            </a:prstGeom>
            <a:solidFill>
              <a:schemeClr val="lt1">
                <a:lumMod val="85000"/>
              </a:schemeClr>
            </a:solidFill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KPI 2 value" descr="pptx-deck-generated"/>
            <p:cNvSpPr txBox="1"/>
            <p:nvPr/>
          </p:nvSpPr>
          <p:spPr>
            <a:xfrm>
              <a:off x="146305" y="0"/>
              <a:ext cx="3514343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4000" b="1">
                  <a:solidFill>
                    <a:schemeClr val="accent1"/>
                  </a:solidFill>
                  <a:latin typeface="Yu Gothic"/>
                  <a:ea typeface="Yu Gothic"/>
                </a:rPr>
                <a:t>3</a:t>
              </a:r>
              <a:r>
                <a:rPr sz="18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 日</a:t>
              </a:r>
            </a:p>
          </p:txBody>
        </p:sp>
        <p:sp>
          <p:nvSpPr>
            <p:cNvPr id="10" name="KPI 2 label" descr="pptx-deck-generated"/>
            <p:cNvSpPr txBox="1"/>
            <p:nvPr/>
          </p:nvSpPr>
          <p:spPr>
            <a:xfrm>
              <a:off x="146305" y="804672"/>
              <a:ext cx="3514343" cy="4328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dk1"/>
                  </a:solidFill>
                  <a:latin typeface="Yu Gothic"/>
                  <a:ea typeface="Yu Gothic"/>
                </a:rPr>
                <a:t>初回回答目標</a:t>
              </a:r>
            </a:p>
          </p:txBody>
        </p:sp>
      </p:grpSp>
      <p:grpSp>
        <p:nvGrpSpPr>
          <p:cNvPr id="11" name="KPI 3" descr="pptx-deck-generated"/>
          <p:cNvGrpSpPr/>
          <p:nvPr/>
        </p:nvGrpSpPr>
        <p:grpSpPr>
          <a:xfrm>
            <a:off x="7997951" y="1719072"/>
            <a:ext cx="3660648" cy="1237488"/>
            <a:chOff x="0" y="0"/>
            <a:chExt cx="3660648" cy="1237488"/>
          </a:xfrm>
        </p:grpSpPr>
        <p:sp>
          <p:nvSpPr>
            <p:cNvPr id="12" name="KPI 3 divider" descr="pptx-deck-generated"/>
            <p:cNvSpPr/>
            <p:nvPr/>
          </p:nvSpPr>
          <p:spPr>
            <a:xfrm>
              <a:off x="0" y="36576"/>
              <a:ext cx="9144" cy="1164336"/>
            </a:xfrm>
            <a:prstGeom prst="rect">
              <a:avLst/>
            </a:prstGeom>
            <a:solidFill>
              <a:schemeClr val="lt1">
                <a:lumMod val="85000"/>
              </a:schemeClr>
            </a:solidFill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KPI 3 value" descr="pptx-deck-generated"/>
            <p:cNvSpPr txBox="1"/>
            <p:nvPr/>
          </p:nvSpPr>
          <p:spPr>
            <a:xfrm>
              <a:off x="146305" y="0"/>
              <a:ext cx="3514343" cy="7680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ctr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4000" b="1">
                  <a:solidFill>
                    <a:schemeClr val="accent1"/>
                  </a:solidFill>
                  <a:latin typeface="Yu Gothic"/>
                  <a:ea typeface="Yu Gothic"/>
                </a:rPr>
                <a:t>80</a:t>
              </a:r>
              <a:r>
                <a:rPr sz="1800" b="1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 %</a:t>
              </a:r>
            </a:p>
          </p:txBody>
        </p:sp>
        <p:sp>
          <p:nvSpPr>
            <p:cNvPr id="14" name="KPI 3 label" descr="pptx-deck-generated"/>
            <p:cNvSpPr txBox="1"/>
            <p:nvPr/>
          </p:nvSpPr>
          <p:spPr>
            <a:xfrm>
              <a:off x="146305" y="804672"/>
              <a:ext cx="3514343" cy="4328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dk1"/>
                  </a:solidFill>
                  <a:latin typeface="Yu Gothic"/>
                  <a:ea typeface="Yu Gothic"/>
                </a:rPr>
                <a:t>FAQ活用目標</a:t>
              </a:r>
            </a:p>
          </p:txBody>
        </p:sp>
      </p:grpSp>
      <p:sp>
        <p:nvSpPr>
          <p:cNvPr id="15" name="Component takeaway" descr="pptx-deck-generated"/>
          <p:cNvSpPr/>
          <p:nvPr/>
        </p:nvSpPr>
        <p:spPr>
          <a:xfrm>
            <a:off x="457200" y="3258312"/>
            <a:ext cx="11274552" cy="457200"/>
          </a:xfrm>
          <a:prstGeom prst="roundRect">
            <a:avLst>
              <a:gd name="adj" fmla="val 12000"/>
            </a:avLst>
          </a:prstGeom>
          <a:solidFill>
            <a:schemeClr val="lt2"/>
          </a:solidFill>
          <a:ln w="9525">
            <a:solidFill>
              <a:schemeClr val="lt1">
                <a:lumMod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akeaway accent" descr="pptx-deck-generated"/>
          <p:cNvSpPr/>
          <p:nvPr/>
        </p:nvSpPr>
        <p:spPr>
          <a:xfrm>
            <a:off x="457200" y="3258312"/>
            <a:ext cx="82296" cy="457200"/>
          </a:xfrm>
          <a:prstGeom prst="rect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17" name="Takeaway text" descr="pptx-deck-generated"/>
          <p:cNvSpPr txBox="1"/>
          <p:nvPr/>
        </p:nvSpPr>
        <p:spPr>
          <a:xfrm>
            <a:off x="603504" y="3258312"/>
            <a:ext cx="11073384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chemeClr val="dk1"/>
                </a:solidFill>
                <a:latin typeface="Yu Gothic"/>
                <a:ea typeface="Yu Gothic"/>
              </a:rPr>
              <a:t>目標値は試行期間後に合意する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分類から解決記録までをつなぐ</a:t>
            </a:r>
          </a:p>
        </p:txBody>
      </p:sp>
      <p:grpSp>
        <p:nvGrpSpPr>
          <p:cNvPr id="3" name="Process 1" descr="pptx-deck-generated"/>
          <p:cNvGrpSpPr/>
          <p:nvPr/>
        </p:nvGrpSpPr>
        <p:grpSpPr>
          <a:xfrm>
            <a:off x="457200" y="1645920"/>
            <a:ext cx="2686050" cy="1691640"/>
            <a:chOff x="0" y="0"/>
            <a:chExt cx="2686050" cy="1691640"/>
          </a:xfrm>
        </p:grpSpPr>
        <p:sp>
          <p:nvSpPr>
            <p:cNvPr id="4" name="Process 1 chevron" descr="pptx-deck-generated"/>
            <p:cNvSpPr/>
            <p:nvPr/>
          </p:nvSpPr>
          <p:spPr>
            <a:xfrm>
              <a:off x="0" y="0"/>
              <a:ext cx="2686050" cy="731520"/>
            </a:xfrm>
            <a:prstGeom prst="chevron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lt1"/>
                  </a:solidFill>
                  <a:latin typeface="Yu Gothic"/>
                  <a:ea typeface="Yu Gothic"/>
                </a:rPr>
                <a:t>受付</a:t>
              </a:r>
            </a:p>
          </p:txBody>
        </p:sp>
        <p:sp>
          <p:nvSpPr>
            <p:cNvPr id="5" name="Process 1 detail" descr="pptx-deck-generated"/>
            <p:cNvSpPr txBox="1"/>
            <p:nvPr/>
          </p:nvSpPr>
          <p:spPr>
            <a:xfrm>
              <a:off x="36576" y="868680"/>
              <a:ext cx="2539746" cy="8229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内容と希望日を記録する。必要情報が不足していれば確認する。</a:t>
              </a:r>
            </a:p>
          </p:txBody>
        </p:sp>
      </p:grpSp>
      <p:grpSp>
        <p:nvGrpSpPr>
          <p:cNvPr id="6" name="Process 2" descr="pptx-deck-generated"/>
          <p:cNvGrpSpPr/>
          <p:nvPr/>
        </p:nvGrpSpPr>
        <p:grpSpPr>
          <a:xfrm>
            <a:off x="3344418" y="1645920"/>
            <a:ext cx="2686050" cy="1691640"/>
            <a:chOff x="0" y="0"/>
            <a:chExt cx="2686050" cy="1691640"/>
          </a:xfrm>
        </p:grpSpPr>
        <p:sp>
          <p:nvSpPr>
            <p:cNvPr id="7" name="Process 2 chevron" descr="pptx-deck-generated"/>
            <p:cNvSpPr/>
            <p:nvPr/>
          </p:nvSpPr>
          <p:spPr>
            <a:xfrm>
              <a:off x="0" y="0"/>
              <a:ext cx="2686050" cy="731520"/>
            </a:xfrm>
            <a:prstGeom prst="chevron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lt1"/>
                  </a:solidFill>
                  <a:latin typeface="Yu Gothic"/>
                  <a:ea typeface="Yu Gothic"/>
                </a:rPr>
                <a:t>分類</a:t>
              </a:r>
            </a:p>
          </p:txBody>
        </p:sp>
        <p:sp>
          <p:nvSpPr>
            <p:cNvPr id="8" name="Process 2 detail" descr="pptx-deck-generated"/>
            <p:cNvSpPr txBox="1"/>
            <p:nvPr/>
          </p:nvSpPr>
          <p:spPr>
            <a:xfrm>
              <a:off x="36576" y="868680"/>
              <a:ext cx="2539746" cy="8229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カテゴリと優先度を設定する。緊急性に応じて優先順位を決める。</a:t>
              </a:r>
            </a:p>
          </p:txBody>
        </p:sp>
      </p:grpSp>
      <p:grpSp>
        <p:nvGrpSpPr>
          <p:cNvPr id="9" name="Process 3" descr="pptx-deck-generated"/>
          <p:cNvGrpSpPr/>
          <p:nvPr/>
        </p:nvGrpSpPr>
        <p:grpSpPr>
          <a:xfrm>
            <a:off x="6231636" y="1645920"/>
            <a:ext cx="2686050" cy="1691640"/>
            <a:chOff x="0" y="0"/>
            <a:chExt cx="2686050" cy="1691640"/>
          </a:xfrm>
        </p:grpSpPr>
        <p:sp>
          <p:nvSpPr>
            <p:cNvPr id="10" name="Process 3 chevron" descr="pptx-deck-generated"/>
            <p:cNvSpPr/>
            <p:nvPr/>
          </p:nvSpPr>
          <p:spPr>
            <a:xfrm>
              <a:off x="0" y="0"/>
              <a:ext cx="2686050" cy="731520"/>
            </a:xfrm>
            <a:prstGeom prst="chevron">
              <a:avLst/>
            </a:prstGeom>
            <a:solidFill>
              <a:schemeClr val="accent2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dk1"/>
                  </a:solidFill>
                  <a:latin typeface="Yu Gothic"/>
                  <a:ea typeface="Yu Gothic"/>
                </a:rPr>
                <a:t>対応</a:t>
              </a:r>
            </a:p>
          </p:txBody>
        </p:sp>
        <p:sp>
          <p:nvSpPr>
            <p:cNvPr id="11" name="Process 3 detail" descr="pptx-deck-generated"/>
            <p:cNvSpPr txBox="1"/>
            <p:nvPr/>
          </p:nvSpPr>
          <p:spPr>
            <a:xfrm>
              <a:off x="36576" y="868680"/>
              <a:ext cx="2539746" cy="8229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担当チームが状況を調べて回答する。必要に応じて専門担当と連携する。</a:t>
              </a:r>
            </a:p>
          </p:txBody>
        </p:sp>
      </p:grpSp>
      <p:grpSp>
        <p:nvGrpSpPr>
          <p:cNvPr id="12" name="Process 4" descr="pptx-deck-generated"/>
          <p:cNvGrpSpPr/>
          <p:nvPr/>
        </p:nvGrpSpPr>
        <p:grpSpPr>
          <a:xfrm>
            <a:off x="9118854" y="1645920"/>
            <a:ext cx="2686050" cy="1691640"/>
            <a:chOff x="0" y="0"/>
            <a:chExt cx="2686050" cy="1691640"/>
          </a:xfrm>
        </p:grpSpPr>
        <p:sp>
          <p:nvSpPr>
            <p:cNvPr id="13" name="Process 4 chevron" descr="pptx-deck-generated"/>
            <p:cNvSpPr/>
            <p:nvPr/>
          </p:nvSpPr>
          <p:spPr>
            <a:xfrm>
              <a:off x="0" y="0"/>
              <a:ext cx="2686050" cy="731520"/>
            </a:xfrm>
            <a:prstGeom prst="chevron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lt1"/>
                  </a:solidFill>
                  <a:latin typeface="Yu Gothic"/>
                  <a:ea typeface="Yu Gothic"/>
                </a:rPr>
                <a:t>記録</a:t>
              </a:r>
            </a:p>
          </p:txBody>
        </p:sp>
        <p:sp>
          <p:nvSpPr>
            <p:cNvPr id="14" name="Process 4 detail" descr="pptx-deck-generated"/>
            <p:cNvSpPr txBox="1"/>
            <p:nvPr/>
          </p:nvSpPr>
          <p:spPr>
            <a:xfrm>
              <a:off x="36576" y="868680"/>
              <a:ext cx="2539746" cy="8229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解決内容をFAQへ反映する。再利用できる知見を残す。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受付・対応・改善を循環させる</a:t>
            </a:r>
          </a:p>
        </p:txBody>
      </p:sp>
      <p:cxnSp>
        <p:nvCxnSpPr>
          <p:cNvPr id="3" name="Process connector 1" descr="pptx-deck-generated"/>
          <p:cNvCxnSpPr/>
          <p:nvPr/>
        </p:nvCxnSpPr>
        <p:spPr>
          <a:xfrm>
            <a:off x="2674620" y="2057400"/>
            <a:ext cx="3008376" cy="0"/>
          </a:xfrm>
          <a:prstGeom prst="line">
            <a:avLst/>
          </a:prstGeom>
          <a:ln w="19050">
            <a:solidFill>
              <a:schemeClr val="lt1">
                <a:lumMod val="85000"/>
              </a:schemeClr>
            </a:solidFill>
          </a:ln>
        </p:spPr>
      </p:cxnSp>
      <p:grpSp>
        <p:nvGrpSpPr>
          <p:cNvPr id="4" name="Process 1" descr="pptx-deck-generated"/>
          <p:cNvGrpSpPr/>
          <p:nvPr/>
        </p:nvGrpSpPr>
        <p:grpSpPr>
          <a:xfrm>
            <a:off x="457200" y="1645920"/>
            <a:ext cx="3611879" cy="1975104"/>
            <a:chOff x="0" y="0"/>
            <a:chExt cx="3611879" cy="1975104"/>
          </a:xfrm>
        </p:grpSpPr>
        <p:sp>
          <p:nvSpPr>
            <p:cNvPr id="5" name="Process 1 node" descr="pptx-deck-generated"/>
            <p:cNvSpPr/>
            <p:nvPr/>
          </p:nvSpPr>
          <p:spPr>
            <a:xfrm>
              <a:off x="1394460" y="0"/>
              <a:ext cx="822960" cy="822960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lt1"/>
                  </a:solidFill>
                  <a:latin typeface="Yu Gothic"/>
                  <a:ea typeface="Yu Gothic"/>
                </a:rPr>
                <a:t>1</a:t>
              </a:r>
            </a:p>
          </p:txBody>
        </p:sp>
        <p:sp>
          <p:nvSpPr>
            <p:cNvPr id="6" name="Process 1 label" descr="pptx-deck-generated"/>
            <p:cNvSpPr txBox="1"/>
            <p:nvPr/>
          </p:nvSpPr>
          <p:spPr>
            <a:xfrm>
              <a:off x="0" y="932688"/>
              <a:ext cx="3611879" cy="39623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dk1"/>
                  </a:solidFill>
                  <a:latin typeface="Yu Gothic"/>
                  <a:ea typeface="Yu Gothic"/>
                </a:rPr>
                <a:t>受付</a:t>
              </a:r>
            </a:p>
          </p:txBody>
        </p:sp>
        <p:sp>
          <p:nvSpPr>
            <p:cNvPr id="7" name="Process 1 detail" descr="pptx-deck-generated"/>
            <p:cNvSpPr txBox="1"/>
            <p:nvPr/>
          </p:nvSpPr>
          <p:spPr>
            <a:xfrm>
              <a:off x="18288" y="1365504"/>
              <a:ext cx="3575303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共通フォームで受け付ける。必要情報を揃えて次工程へ渡す。</a:t>
              </a:r>
            </a:p>
          </p:txBody>
        </p:sp>
      </p:grpSp>
      <p:cxnSp>
        <p:nvCxnSpPr>
          <p:cNvPr id="8" name="Process connector 2" descr="pptx-deck-generated"/>
          <p:cNvCxnSpPr/>
          <p:nvPr/>
        </p:nvCxnSpPr>
        <p:spPr>
          <a:xfrm>
            <a:off x="6505956" y="2057400"/>
            <a:ext cx="3008376" cy="0"/>
          </a:xfrm>
          <a:prstGeom prst="line">
            <a:avLst/>
          </a:prstGeom>
          <a:ln w="19050">
            <a:solidFill>
              <a:schemeClr val="lt1">
                <a:lumMod val="85000"/>
              </a:schemeClr>
            </a:solidFill>
          </a:ln>
        </p:spPr>
      </p:cxnSp>
      <p:grpSp>
        <p:nvGrpSpPr>
          <p:cNvPr id="9" name="Process 2" descr="pptx-deck-generated"/>
          <p:cNvGrpSpPr/>
          <p:nvPr/>
        </p:nvGrpSpPr>
        <p:grpSpPr>
          <a:xfrm>
            <a:off x="4288536" y="1645920"/>
            <a:ext cx="3611879" cy="1975104"/>
            <a:chOff x="0" y="0"/>
            <a:chExt cx="3611879" cy="1975104"/>
          </a:xfrm>
        </p:grpSpPr>
        <p:sp>
          <p:nvSpPr>
            <p:cNvPr id="10" name="Process 2 node" descr="pptx-deck-generated"/>
            <p:cNvSpPr/>
            <p:nvPr/>
          </p:nvSpPr>
          <p:spPr>
            <a:xfrm>
              <a:off x="1394460" y="0"/>
              <a:ext cx="822960" cy="822960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lt1"/>
                  </a:solidFill>
                  <a:latin typeface="Yu Gothic"/>
                  <a:ea typeface="Yu Gothic"/>
                </a:rPr>
                <a:t>2</a:t>
              </a:r>
            </a:p>
          </p:txBody>
        </p:sp>
        <p:sp>
          <p:nvSpPr>
            <p:cNvPr id="11" name="Process 2 label" descr="pptx-deck-generated"/>
            <p:cNvSpPr txBox="1"/>
            <p:nvPr/>
          </p:nvSpPr>
          <p:spPr>
            <a:xfrm>
              <a:off x="0" y="932688"/>
              <a:ext cx="3611879" cy="39623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dk1"/>
                  </a:solidFill>
                  <a:latin typeface="Yu Gothic"/>
                  <a:ea typeface="Yu Gothic"/>
                </a:rPr>
                <a:t>回答</a:t>
              </a:r>
            </a:p>
          </p:txBody>
        </p:sp>
        <p:sp>
          <p:nvSpPr>
            <p:cNvPr id="12" name="Process 2 detail" descr="pptx-deck-generated"/>
            <p:cNvSpPr txBox="1"/>
            <p:nvPr/>
          </p:nvSpPr>
          <p:spPr>
            <a:xfrm>
              <a:off x="18287" y="1365504"/>
              <a:ext cx="3575303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担当チームが回答する。対応状況は受付台帳で共有する。</a:t>
              </a:r>
            </a:p>
          </p:txBody>
        </p:sp>
      </p:grpSp>
      <p:grpSp>
        <p:nvGrpSpPr>
          <p:cNvPr id="13" name="Process 3" descr="pptx-deck-generated"/>
          <p:cNvGrpSpPr/>
          <p:nvPr/>
        </p:nvGrpSpPr>
        <p:grpSpPr>
          <a:xfrm>
            <a:off x="8119871" y="1645920"/>
            <a:ext cx="3611879" cy="1975104"/>
            <a:chOff x="0" y="0"/>
            <a:chExt cx="3611879" cy="1975104"/>
          </a:xfrm>
        </p:grpSpPr>
        <p:sp>
          <p:nvSpPr>
            <p:cNvPr id="14" name="Process 3 node" descr="pptx-deck-generated"/>
            <p:cNvSpPr/>
            <p:nvPr/>
          </p:nvSpPr>
          <p:spPr>
            <a:xfrm>
              <a:off x="1394461" y="0"/>
              <a:ext cx="822960" cy="822960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lt1"/>
                  </a:solidFill>
                  <a:latin typeface="Yu Gothic"/>
                  <a:ea typeface="Yu Gothic"/>
                </a:rPr>
                <a:t>3</a:t>
              </a:r>
            </a:p>
          </p:txBody>
        </p:sp>
        <p:sp>
          <p:nvSpPr>
            <p:cNvPr id="15" name="Process 3 label" descr="pptx-deck-generated"/>
            <p:cNvSpPr txBox="1"/>
            <p:nvPr/>
          </p:nvSpPr>
          <p:spPr>
            <a:xfrm>
              <a:off x="0" y="932688"/>
              <a:ext cx="3611879" cy="39623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dk1"/>
                  </a:solidFill>
                  <a:latin typeface="Yu Gothic"/>
                  <a:ea typeface="Yu Gothic"/>
                </a:rPr>
                <a:t>蓄積</a:t>
              </a:r>
            </a:p>
          </p:txBody>
        </p:sp>
        <p:sp>
          <p:nvSpPr>
            <p:cNvPr id="16" name="Process 3 detail" descr="pptx-deck-generated"/>
            <p:cNvSpPr txBox="1"/>
            <p:nvPr/>
          </p:nvSpPr>
          <p:spPr>
            <a:xfrm>
              <a:off x="18288" y="1365504"/>
              <a:ext cx="3575303" cy="609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>
                      <a:lumMod val="65000"/>
                      <a:lumOff val="35000"/>
                    </a:schemeClr>
                  </a:solidFill>
                  <a:latin typeface="Yu Gothic"/>
                  <a:ea typeface="Yu Gothic"/>
                </a:rPr>
                <a:t>解決内容を記録する。FAQを更新して次の対応に活かす。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分類・共有で対応</a:t>
            </a:r>
          </a:p>
        </p:txBody>
      </p:sp>
      <p:grpSp>
        <p:nvGrpSpPr>
          <p:cNvPr id="3" name="Process 1" descr="pptx-deck-generated"/>
          <p:cNvGrpSpPr/>
          <p:nvPr/>
        </p:nvGrpSpPr>
        <p:grpSpPr>
          <a:xfrm>
            <a:off x="457200" y="1645920"/>
            <a:ext cx="3575304" cy="1261872"/>
            <a:chOff x="0" y="0"/>
            <a:chExt cx="3575304" cy="1261872"/>
          </a:xfrm>
        </p:grpSpPr>
        <p:sp>
          <p:nvSpPr>
            <p:cNvPr id="4" name="Process 1 box" descr="pptx-deck-generated"/>
            <p:cNvSpPr/>
            <p:nvPr/>
          </p:nvSpPr>
          <p:spPr>
            <a:xfrm>
              <a:off x="0" y="0"/>
              <a:ext cx="3575304" cy="1261872"/>
            </a:xfrm>
            <a:prstGeom prst="roundRect">
              <a:avLst>
                <a:gd name="adj" fmla="val 4348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Process 1 label" descr="pptx-deck-generated"/>
            <p:cNvSpPr txBox="1"/>
            <p:nvPr/>
          </p:nvSpPr>
          <p:spPr>
            <a:xfrm>
              <a:off x="109728" y="73152"/>
              <a:ext cx="3355848" cy="39623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dk1"/>
                  </a:solidFill>
                  <a:latin typeface="Yu Gothic"/>
                  <a:ea typeface="Yu Gothic"/>
                </a:rPr>
                <a:t>受け付ける</a:t>
              </a:r>
            </a:p>
          </p:txBody>
        </p:sp>
        <p:sp>
          <p:nvSpPr>
            <p:cNvPr id="6" name="Process 1 detail" descr="pptx-deck-generated"/>
            <p:cNvSpPr txBox="1"/>
            <p:nvPr/>
          </p:nvSpPr>
          <p:spPr>
            <a:xfrm>
              <a:off x="109728" y="505967"/>
              <a:ext cx="3355848" cy="6827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必要情報を揃えて受付台帳に登録する。</a:t>
              </a:r>
            </a:p>
          </p:txBody>
        </p:sp>
      </p:grpSp>
      <p:sp>
        <p:nvSpPr>
          <p:cNvPr id="7" name="Process arrow 1" descr="pptx-deck-generated"/>
          <p:cNvSpPr/>
          <p:nvPr/>
        </p:nvSpPr>
        <p:spPr>
          <a:xfrm rot="5400000">
            <a:off x="4069080" y="2167128"/>
            <a:ext cx="219456" cy="219456"/>
          </a:xfrm>
          <a:prstGeom prst="triangle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grpSp>
        <p:nvGrpSpPr>
          <p:cNvPr id="8" name="Process 2" descr="pptx-deck-generated"/>
          <p:cNvGrpSpPr/>
          <p:nvPr/>
        </p:nvGrpSpPr>
        <p:grpSpPr>
          <a:xfrm>
            <a:off x="4306824" y="1645920"/>
            <a:ext cx="3575304" cy="1261872"/>
            <a:chOff x="0" y="0"/>
            <a:chExt cx="3575304" cy="1261872"/>
          </a:xfrm>
        </p:grpSpPr>
        <p:sp>
          <p:nvSpPr>
            <p:cNvPr id="9" name="Process 2 box" descr="pptx-deck-generated"/>
            <p:cNvSpPr/>
            <p:nvPr/>
          </p:nvSpPr>
          <p:spPr>
            <a:xfrm>
              <a:off x="0" y="0"/>
              <a:ext cx="3575304" cy="1261872"/>
            </a:xfrm>
            <a:prstGeom prst="roundRect">
              <a:avLst>
                <a:gd name="adj" fmla="val 4348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Process 2 label" descr="pptx-deck-generated"/>
            <p:cNvSpPr txBox="1"/>
            <p:nvPr/>
          </p:nvSpPr>
          <p:spPr>
            <a:xfrm>
              <a:off x="109728" y="73152"/>
              <a:ext cx="3355848" cy="39623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dk1"/>
                  </a:solidFill>
                  <a:latin typeface="Yu Gothic"/>
                  <a:ea typeface="Yu Gothic"/>
                </a:rPr>
                <a:t>振り分ける</a:t>
              </a:r>
            </a:p>
          </p:txBody>
        </p:sp>
        <p:sp>
          <p:nvSpPr>
            <p:cNvPr id="11" name="Process 2 detail" descr="pptx-deck-generated"/>
            <p:cNvSpPr txBox="1"/>
            <p:nvPr/>
          </p:nvSpPr>
          <p:spPr>
            <a:xfrm>
              <a:off x="109728" y="505967"/>
              <a:ext cx="3355848" cy="6827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担当と期限を決めて引き継ぐ。</a:t>
              </a:r>
            </a:p>
          </p:txBody>
        </p:sp>
      </p:grpSp>
      <p:sp>
        <p:nvSpPr>
          <p:cNvPr id="12" name="Process arrow 2" descr="pptx-deck-generated"/>
          <p:cNvSpPr/>
          <p:nvPr/>
        </p:nvSpPr>
        <p:spPr>
          <a:xfrm rot="5400000">
            <a:off x="7918704" y="2167128"/>
            <a:ext cx="219456" cy="219456"/>
          </a:xfrm>
          <a:prstGeom prst="triangle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grpSp>
        <p:nvGrpSpPr>
          <p:cNvPr id="13" name="Process 3" descr="pptx-deck-generated"/>
          <p:cNvGrpSpPr/>
          <p:nvPr/>
        </p:nvGrpSpPr>
        <p:grpSpPr>
          <a:xfrm>
            <a:off x="8156448" y="1645920"/>
            <a:ext cx="3575304" cy="1261872"/>
            <a:chOff x="0" y="0"/>
            <a:chExt cx="3575304" cy="1261872"/>
          </a:xfrm>
        </p:grpSpPr>
        <p:sp>
          <p:nvSpPr>
            <p:cNvPr id="14" name="Process 3 box" descr="pptx-deck-generated"/>
            <p:cNvSpPr/>
            <p:nvPr/>
          </p:nvSpPr>
          <p:spPr>
            <a:xfrm>
              <a:off x="0" y="0"/>
              <a:ext cx="3575304" cy="1261872"/>
            </a:xfrm>
            <a:prstGeom prst="roundRect">
              <a:avLst>
                <a:gd name="adj" fmla="val 4348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Process 3 label" descr="pptx-deck-generated"/>
            <p:cNvSpPr txBox="1"/>
            <p:nvPr/>
          </p:nvSpPr>
          <p:spPr>
            <a:xfrm>
              <a:off x="109727" y="73152"/>
              <a:ext cx="3355848" cy="39623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dk1"/>
                  </a:solidFill>
                  <a:latin typeface="Yu Gothic"/>
                  <a:ea typeface="Yu Gothic"/>
                </a:rPr>
                <a:t>解決する</a:t>
              </a:r>
            </a:p>
          </p:txBody>
        </p:sp>
        <p:sp>
          <p:nvSpPr>
            <p:cNvPr id="16" name="Process 3 detail" descr="pptx-deck-generated"/>
            <p:cNvSpPr txBox="1"/>
            <p:nvPr/>
          </p:nvSpPr>
          <p:spPr>
            <a:xfrm>
              <a:off x="109727" y="505967"/>
              <a:ext cx="3355848" cy="68275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結果を記録し、再利用できる知識にする。</a:t>
              </a:r>
            </a:p>
          </p:txBody>
        </p:sp>
      </p:grpSp>
      <p:sp>
        <p:nvSpPr>
          <p:cNvPr id="17" name="Component takeaway" descr="pptx-deck-generated"/>
          <p:cNvSpPr/>
          <p:nvPr/>
        </p:nvSpPr>
        <p:spPr>
          <a:xfrm>
            <a:off x="457200" y="3136392"/>
            <a:ext cx="11274552" cy="457200"/>
          </a:xfrm>
          <a:prstGeom prst="roundRect">
            <a:avLst>
              <a:gd name="adj" fmla="val 12000"/>
            </a:avLst>
          </a:prstGeom>
          <a:solidFill>
            <a:schemeClr val="lt2"/>
          </a:solidFill>
          <a:ln w="9525">
            <a:solidFill>
              <a:schemeClr val="lt1">
                <a:lumMod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akeaway accent" descr="pptx-deck-generated"/>
          <p:cNvSpPr/>
          <p:nvPr/>
        </p:nvSpPr>
        <p:spPr>
          <a:xfrm>
            <a:off x="457200" y="3136392"/>
            <a:ext cx="82296" cy="457200"/>
          </a:xfrm>
          <a:prstGeom prst="rect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19" name="Takeaway text" descr="pptx-deck-generated"/>
          <p:cNvSpPr txBox="1"/>
          <p:nvPr/>
        </p:nvSpPr>
        <p:spPr>
          <a:xfrm>
            <a:off x="603504" y="3136392"/>
            <a:ext cx="11073384" cy="45720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chemeClr val="dk1"/>
                </a:solidFill>
                <a:latin typeface="Yu Gothic"/>
                <a:ea typeface="Yu Gothic"/>
              </a:rPr>
              <a:t>進捗は共通の受付台帳で確認する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窓口統合で受付漏れを防ぐ</a:t>
            </a:r>
          </a:p>
        </p:txBody>
      </p:sp>
      <p:grpSp>
        <p:nvGrpSpPr>
          <p:cNvPr id="3" name="Comparison 1" descr="pptx-deck-generated"/>
          <p:cNvGrpSpPr/>
          <p:nvPr/>
        </p:nvGrpSpPr>
        <p:grpSpPr>
          <a:xfrm>
            <a:off x="457200" y="1645920"/>
            <a:ext cx="5308092" cy="1952752"/>
            <a:chOff x="0" y="0"/>
            <a:chExt cx="5308092" cy="1952752"/>
          </a:xfrm>
        </p:grpSpPr>
        <p:sp>
          <p:nvSpPr>
            <p:cNvPr id="4" name="Comparison 1 panel" descr="pptx-deck-generated"/>
            <p:cNvSpPr/>
            <p:nvPr/>
          </p:nvSpPr>
          <p:spPr>
            <a:xfrm>
              <a:off x="0" y="0"/>
              <a:ext cx="5308092" cy="1952752"/>
            </a:xfrm>
            <a:prstGeom prst="roundRect">
              <a:avLst>
                <a:gd name="adj" fmla="val 2810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Comparison 1 heading" descr="pptx-deck-generated"/>
            <p:cNvSpPr/>
            <p:nvPr/>
          </p:nvSpPr>
          <p:spPr>
            <a:xfrm>
              <a:off x="0" y="0"/>
              <a:ext cx="5308092" cy="457200"/>
            </a:xfrm>
            <a:prstGeom prst="rect">
              <a:avLst/>
            </a:prstGeom>
            <a:solidFill>
              <a:schemeClr val="dk1">
                <a:lumMod val="65000"/>
                <a:lumOff val="35000"/>
              </a:schemeClr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>
                  <a:solidFill>
                    <a:schemeClr val="lt1"/>
                  </a:solidFill>
                  <a:latin typeface="Yu Gothic"/>
                  <a:ea typeface="Yu Gothic"/>
                </a:rPr>
                <a:t>現状</a:t>
              </a:r>
            </a:p>
          </p:txBody>
        </p:sp>
        <p:sp>
          <p:nvSpPr>
            <p:cNvPr id="6" name="Comparison 1 items" descr="pptx-deck-generated"/>
            <p:cNvSpPr txBox="1"/>
            <p:nvPr/>
          </p:nvSpPr>
          <p:spPr>
            <a:xfrm>
              <a:off x="155448" y="530352"/>
              <a:ext cx="4997196" cy="136753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連絡先が複数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担当が見つけにくい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履歴が個人に分散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進捗を横断して把握しにくい</a:t>
              </a:r>
            </a:p>
          </p:txBody>
        </p:sp>
      </p:grpSp>
      <p:grpSp>
        <p:nvGrpSpPr>
          <p:cNvPr id="7" name="Comparison 2" descr="pptx-deck-generated"/>
          <p:cNvGrpSpPr/>
          <p:nvPr/>
        </p:nvGrpSpPr>
        <p:grpSpPr>
          <a:xfrm>
            <a:off x="6423659" y="1645920"/>
            <a:ext cx="5308092" cy="1952752"/>
            <a:chOff x="0" y="0"/>
            <a:chExt cx="5308092" cy="1952752"/>
          </a:xfrm>
        </p:grpSpPr>
        <p:sp>
          <p:nvSpPr>
            <p:cNvPr id="8" name="Comparison 2 panel" descr="pptx-deck-generated"/>
            <p:cNvSpPr/>
            <p:nvPr/>
          </p:nvSpPr>
          <p:spPr>
            <a:xfrm>
              <a:off x="0" y="0"/>
              <a:ext cx="5308092" cy="1952752"/>
            </a:xfrm>
            <a:prstGeom prst="roundRect">
              <a:avLst>
                <a:gd name="adj" fmla="val 2810"/>
              </a:avLst>
            </a:prstGeom>
            <a:solidFill>
              <a:schemeClr val="lt2"/>
            </a:solidFill>
            <a:ln w="25400">
              <a:solidFill>
                <a:schemeClr val="accent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Comparison 2 heading" descr="pptx-deck-generated"/>
            <p:cNvSpPr/>
            <p:nvPr/>
          </p:nvSpPr>
          <p:spPr>
            <a:xfrm>
              <a:off x="0" y="0"/>
              <a:ext cx="5308092" cy="457200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>
                  <a:solidFill>
                    <a:schemeClr val="accent2"/>
                  </a:solidFill>
                  <a:latin typeface="Yu Gothic"/>
                  <a:ea typeface="Yu Gothic"/>
                </a:rPr>
                <a:t>統合後</a:t>
              </a:r>
            </a:p>
          </p:txBody>
        </p:sp>
        <p:sp>
          <p:nvSpPr>
            <p:cNvPr id="10" name="Comparison 2 items" descr="pptx-deck-generated"/>
            <p:cNvSpPr txBox="1"/>
            <p:nvPr/>
          </p:nvSpPr>
          <p:spPr>
            <a:xfrm>
              <a:off x="155448" y="530352"/>
              <a:ext cx="4997196" cy="136753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受付先を一本化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担当と期限を明確化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履歴を共有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進捗を共通台帳で確認</a:t>
              </a:r>
            </a:p>
          </p:txBody>
        </p:sp>
      </p:grpSp>
      <p:sp>
        <p:nvSpPr>
          <p:cNvPr id="11" name="Comparison transition" descr="pptx-deck-generated"/>
          <p:cNvSpPr/>
          <p:nvPr/>
        </p:nvSpPr>
        <p:spPr>
          <a:xfrm>
            <a:off x="5911596" y="2466075"/>
            <a:ext cx="365760" cy="256032"/>
          </a:xfrm>
          <a:prstGeom prst="rightArrow">
            <a:avLst/>
          </a:prstGeom>
          <a:solidFill>
            <a:schemeClr val="accent2"/>
          </a:solidFill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一次回答と専門対応</a:t>
            </a:r>
          </a:p>
        </p:txBody>
      </p:sp>
      <p:grpSp>
        <p:nvGrpSpPr>
          <p:cNvPr id="3" name="Comparison 1" descr="pptx-deck-generated"/>
          <p:cNvGrpSpPr/>
          <p:nvPr/>
        </p:nvGrpSpPr>
        <p:grpSpPr>
          <a:xfrm>
            <a:off x="457200" y="1645920"/>
            <a:ext cx="5399532" cy="1952752"/>
            <a:chOff x="0" y="0"/>
            <a:chExt cx="5399532" cy="1952752"/>
          </a:xfrm>
        </p:grpSpPr>
        <p:sp>
          <p:nvSpPr>
            <p:cNvPr id="4" name="Comparison 1 panel" descr="pptx-deck-generated"/>
            <p:cNvSpPr/>
            <p:nvPr/>
          </p:nvSpPr>
          <p:spPr>
            <a:xfrm>
              <a:off x="0" y="0"/>
              <a:ext cx="5399532" cy="1952752"/>
            </a:xfrm>
            <a:prstGeom prst="roundRect">
              <a:avLst>
                <a:gd name="adj" fmla="val 2810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Comparison 1 heading" descr="pptx-deck-generated"/>
            <p:cNvSpPr/>
            <p:nvPr/>
          </p:nvSpPr>
          <p:spPr>
            <a:xfrm>
              <a:off x="0" y="0"/>
              <a:ext cx="5399532" cy="457200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>
                  <a:solidFill>
                    <a:schemeClr val="lt1"/>
                  </a:solidFill>
                  <a:latin typeface="Yu Gothic"/>
                  <a:ea typeface="Yu Gothic"/>
                </a:rPr>
                <a:t>一次窓口</a:t>
              </a:r>
            </a:p>
          </p:txBody>
        </p:sp>
        <p:sp>
          <p:nvSpPr>
            <p:cNvPr id="6" name="Comparison 1 items" descr="pptx-deck-generated"/>
            <p:cNvSpPr txBox="1"/>
            <p:nvPr/>
          </p:nvSpPr>
          <p:spPr>
            <a:xfrm>
              <a:off x="155448" y="530352"/>
              <a:ext cx="5088636" cy="136753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受付と分類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FAQ案内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進捗連絡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不足情報の確認</a:t>
              </a:r>
            </a:p>
          </p:txBody>
        </p:sp>
      </p:grpSp>
      <p:grpSp>
        <p:nvGrpSpPr>
          <p:cNvPr id="7" name="Comparison 2" descr="pptx-deck-generated"/>
          <p:cNvGrpSpPr/>
          <p:nvPr/>
        </p:nvGrpSpPr>
        <p:grpSpPr>
          <a:xfrm>
            <a:off x="6332220" y="1645920"/>
            <a:ext cx="5399532" cy="1952752"/>
            <a:chOff x="0" y="0"/>
            <a:chExt cx="5399532" cy="1952752"/>
          </a:xfrm>
        </p:grpSpPr>
        <p:sp>
          <p:nvSpPr>
            <p:cNvPr id="8" name="Comparison 2 panel" descr="pptx-deck-generated"/>
            <p:cNvSpPr/>
            <p:nvPr/>
          </p:nvSpPr>
          <p:spPr>
            <a:xfrm>
              <a:off x="0" y="0"/>
              <a:ext cx="5399532" cy="1952752"/>
            </a:xfrm>
            <a:prstGeom prst="roundRect">
              <a:avLst>
                <a:gd name="adj" fmla="val 2810"/>
              </a:avLst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Comparison 2 heading" descr="pptx-deck-generated"/>
            <p:cNvSpPr/>
            <p:nvPr/>
          </p:nvSpPr>
          <p:spPr>
            <a:xfrm>
              <a:off x="0" y="0"/>
              <a:ext cx="5399532" cy="457200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800" b="1">
                  <a:solidFill>
                    <a:schemeClr val="lt1"/>
                  </a:solidFill>
                  <a:latin typeface="Yu Gothic"/>
                  <a:ea typeface="Yu Gothic"/>
                </a:rPr>
                <a:t>専門チーム</a:t>
              </a:r>
            </a:p>
          </p:txBody>
        </p:sp>
        <p:sp>
          <p:nvSpPr>
            <p:cNvPr id="10" name="Comparison 2 items" descr="pptx-deck-generated"/>
            <p:cNvSpPr txBox="1"/>
            <p:nvPr/>
          </p:nvSpPr>
          <p:spPr>
            <a:xfrm>
              <a:off x="155448" y="530352"/>
              <a:ext cx="5088636" cy="136753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技術調査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個別判断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恒久対応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FAQへの知見反映</a:t>
              </a:r>
            </a:p>
          </p:txBody>
        </p:sp>
      </p:grpSp>
      <p:sp>
        <p:nvSpPr>
          <p:cNvPr id="11" name="Comparison VS" descr="pptx-deck-generated"/>
          <p:cNvSpPr/>
          <p:nvPr/>
        </p:nvSpPr>
        <p:spPr>
          <a:xfrm>
            <a:off x="5765292" y="2466075"/>
            <a:ext cx="658368" cy="658368"/>
          </a:xfrm>
          <a:prstGeom prst="ellipse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12" name="Comparison VS label" descr="pptx-deck-generated"/>
          <p:cNvSpPr txBox="1"/>
          <p:nvPr/>
        </p:nvSpPr>
        <p:spPr>
          <a:xfrm>
            <a:off x="5765292" y="2466075"/>
            <a:ext cx="658368" cy="658368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chemeClr val="lt1"/>
                </a:solidFill>
                <a:latin typeface="Yu Gothic"/>
                <a:ea typeface="Yu Gothic"/>
              </a:rPr>
              <a:t>VS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緊急度で優先順位</a:t>
            </a:r>
          </a:p>
        </p:txBody>
      </p:sp>
      <p:sp>
        <p:nvSpPr>
          <p:cNvPr id="3" name="Component lead" descr="pptx-deck-generated"/>
          <p:cNvSpPr txBox="1"/>
          <p:nvPr/>
        </p:nvSpPr>
        <p:spPr>
          <a:xfrm>
            <a:off x="457200" y="1645920"/>
            <a:ext cx="11274552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chemeClr val="dk1"/>
                </a:solidFill>
                <a:latin typeface="Yu Gothic"/>
                <a:ea typeface="Yu Gothic"/>
              </a:rPr>
              <a:t>影響の大きさと緊急度を組み合わせて対応順を決める</a:t>
            </a:r>
          </a:p>
        </p:txBody>
      </p:sp>
      <p:grpSp>
        <p:nvGrpSpPr>
          <p:cNvPr id="4" name="Matrix 1" descr="pptx-deck-generated"/>
          <p:cNvGrpSpPr/>
          <p:nvPr/>
        </p:nvGrpSpPr>
        <p:grpSpPr>
          <a:xfrm>
            <a:off x="1303019" y="2382012"/>
            <a:ext cx="5116068" cy="1426463"/>
            <a:chOff x="0" y="0"/>
            <a:chExt cx="5116068" cy="1426463"/>
          </a:xfrm>
        </p:grpSpPr>
        <p:sp>
          <p:nvSpPr>
            <p:cNvPr id="5" name="Matrix quadrant 1" descr="pptx-deck-generated"/>
            <p:cNvSpPr/>
            <p:nvPr/>
          </p:nvSpPr>
          <p:spPr>
            <a:xfrm>
              <a:off x="0" y="0"/>
              <a:ext cx="5116068" cy="1426463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Matrix quadrant 1 title" descr="pptx-deck-generated"/>
            <p:cNvSpPr txBox="1"/>
            <p:nvPr/>
          </p:nvSpPr>
          <p:spPr>
            <a:xfrm>
              <a:off x="86869" y="50292"/>
              <a:ext cx="4942331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accent1"/>
                  </a:solidFill>
                  <a:latin typeface="Yu Gothic"/>
                  <a:ea typeface="Yu Gothic"/>
                </a:rPr>
                <a:t>計画対応</a:t>
              </a:r>
            </a:p>
          </p:txBody>
        </p:sp>
        <p:sp>
          <p:nvSpPr>
            <p:cNvPr id="7" name="Matrix quadrant 1 items" descr="pptx-deck-generated"/>
            <p:cNvSpPr txBox="1"/>
            <p:nvPr/>
          </p:nvSpPr>
          <p:spPr>
            <a:xfrm>
              <a:off x="86869" y="397764"/>
              <a:ext cx="4942331" cy="9784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改善要望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操作方法の相談</a:t>
              </a:r>
            </a:p>
          </p:txBody>
        </p:sp>
      </p:grpSp>
      <p:grpSp>
        <p:nvGrpSpPr>
          <p:cNvPr id="8" name="Matrix 2" descr="pptx-deck-generated"/>
          <p:cNvGrpSpPr/>
          <p:nvPr/>
        </p:nvGrpSpPr>
        <p:grpSpPr>
          <a:xfrm>
            <a:off x="6464808" y="2382012"/>
            <a:ext cx="5116068" cy="1426463"/>
            <a:chOff x="0" y="0"/>
            <a:chExt cx="5116068" cy="1426463"/>
          </a:xfrm>
        </p:grpSpPr>
        <p:sp>
          <p:nvSpPr>
            <p:cNvPr id="9" name="Matrix quadrant 2" descr="pptx-deck-generated"/>
            <p:cNvSpPr/>
            <p:nvPr/>
          </p:nvSpPr>
          <p:spPr>
            <a:xfrm>
              <a:off x="0" y="0"/>
              <a:ext cx="5116068" cy="1426463"/>
            </a:xfrm>
            <a:prstGeom prst="rect">
              <a:avLst/>
            </a:prstGeom>
            <a:solidFill>
              <a:schemeClr val="lt2"/>
            </a:solidFill>
            <a:ln w="25400">
              <a:solidFill>
                <a:schemeClr val="accent2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Matrix quadrant 2 title" descr="pptx-deck-generated"/>
            <p:cNvSpPr txBox="1"/>
            <p:nvPr/>
          </p:nvSpPr>
          <p:spPr>
            <a:xfrm>
              <a:off x="86868" y="50292"/>
              <a:ext cx="4942331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accent2"/>
                  </a:solidFill>
                  <a:latin typeface="Yu Gothic"/>
                  <a:ea typeface="Yu Gothic"/>
                </a:rPr>
                <a:t>即時確認</a:t>
              </a:r>
            </a:p>
          </p:txBody>
        </p:sp>
        <p:sp>
          <p:nvSpPr>
            <p:cNvPr id="11" name="Matrix quadrant 2 items" descr="pptx-deck-generated"/>
            <p:cNvSpPr txBox="1"/>
            <p:nvPr/>
          </p:nvSpPr>
          <p:spPr>
            <a:xfrm>
              <a:off x="86868" y="397764"/>
              <a:ext cx="4942331" cy="9784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業務停止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広範囲の障害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期限直前の処理不能</a:t>
              </a:r>
            </a:p>
          </p:txBody>
        </p:sp>
      </p:grpSp>
      <p:grpSp>
        <p:nvGrpSpPr>
          <p:cNvPr id="12" name="Matrix 3" descr="pptx-deck-generated"/>
          <p:cNvGrpSpPr/>
          <p:nvPr/>
        </p:nvGrpSpPr>
        <p:grpSpPr>
          <a:xfrm>
            <a:off x="1303019" y="3854196"/>
            <a:ext cx="5116068" cy="1426463"/>
            <a:chOff x="0" y="0"/>
            <a:chExt cx="5116068" cy="1426463"/>
          </a:xfrm>
        </p:grpSpPr>
        <p:sp>
          <p:nvSpPr>
            <p:cNvPr id="13" name="Matrix quadrant 3" descr="pptx-deck-generated"/>
            <p:cNvSpPr/>
            <p:nvPr/>
          </p:nvSpPr>
          <p:spPr>
            <a:xfrm>
              <a:off x="0" y="0"/>
              <a:ext cx="5116068" cy="1426463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Matrix quadrant 3 title" descr="pptx-deck-generated"/>
            <p:cNvSpPr txBox="1"/>
            <p:nvPr/>
          </p:nvSpPr>
          <p:spPr>
            <a:xfrm>
              <a:off x="86869" y="50291"/>
              <a:ext cx="4942331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accent1"/>
                  </a:solidFill>
                  <a:latin typeface="Yu Gothic"/>
                  <a:ea typeface="Yu Gothic"/>
                </a:rPr>
                <a:t>定期確認</a:t>
              </a:r>
            </a:p>
          </p:txBody>
        </p:sp>
        <p:sp>
          <p:nvSpPr>
            <p:cNvPr id="15" name="Matrix quadrant 3 items" descr="pptx-deck-generated"/>
            <p:cNvSpPr txBox="1"/>
            <p:nvPr/>
          </p:nvSpPr>
          <p:spPr>
            <a:xfrm>
              <a:off x="86869" y="397763"/>
              <a:ext cx="4942331" cy="9784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軽微な質問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個人設定の相談</a:t>
              </a:r>
            </a:p>
          </p:txBody>
        </p:sp>
      </p:grpSp>
      <p:grpSp>
        <p:nvGrpSpPr>
          <p:cNvPr id="16" name="Matrix 4" descr="pptx-deck-generated"/>
          <p:cNvGrpSpPr/>
          <p:nvPr/>
        </p:nvGrpSpPr>
        <p:grpSpPr>
          <a:xfrm>
            <a:off x="6464808" y="3854196"/>
            <a:ext cx="5116068" cy="1426463"/>
            <a:chOff x="0" y="0"/>
            <a:chExt cx="5116068" cy="1426463"/>
          </a:xfrm>
        </p:grpSpPr>
        <p:sp>
          <p:nvSpPr>
            <p:cNvPr id="17" name="Matrix quadrant 4" descr="pptx-deck-generated"/>
            <p:cNvSpPr/>
            <p:nvPr/>
          </p:nvSpPr>
          <p:spPr>
            <a:xfrm>
              <a:off x="0" y="0"/>
              <a:ext cx="5116068" cy="1426463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Matrix quadrant 4 title" descr="pptx-deck-generated"/>
            <p:cNvSpPr txBox="1"/>
            <p:nvPr/>
          </p:nvSpPr>
          <p:spPr>
            <a:xfrm>
              <a:off x="86868" y="50291"/>
              <a:ext cx="4942331" cy="34747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300" b="1">
                  <a:solidFill>
                    <a:schemeClr val="accent1"/>
                  </a:solidFill>
                  <a:latin typeface="Yu Gothic"/>
                  <a:ea typeface="Yu Gothic"/>
                </a:rPr>
                <a:t>優先対応</a:t>
              </a:r>
            </a:p>
          </p:txBody>
        </p:sp>
        <p:sp>
          <p:nvSpPr>
            <p:cNvPr id="19" name="Matrix quadrant 4 items" descr="pptx-deck-generated"/>
            <p:cNvSpPr txBox="1"/>
            <p:nvPr/>
          </p:nvSpPr>
          <p:spPr>
            <a:xfrm>
              <a:off x="86868" y="397763"/>
              <a:ext cx="4942331" cy="97840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複数部門へ影響</a:t>
              </a:r>
            </a:p>
            <a:p>
              <a:pPr algn="l" marL="201168" indent="-109728">
                <a:lnSpc>
                  <a:spcPct val="100000"/>
                </a:lnSpc>
                <a:spcAft>
                  <a:spcPts val="400"/>
                </a:spcAft>
                <a:buChar char="•"/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重要業務の遅延</a:t>
              </a:r>
            </a:p>
          </p:txBody>
        </p:sp>
      </p:grpSp>
      <p:cxnSp>
        <p:nvCxnSpPr>
          <p:cNvPr id="20" name="Matrix vertical grid" descr="pptx-deck-generated"/>
          <p:cNvCxnSpPr/>
          <p:nvPr/>
        </p:nvCxnSpPr>
        <p:spPr>
          <a:xfrm>
            <a:off x="6441948" y="2359152"/>
            <a:ext cx="0" cy="2944367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21" name="Matrix horizontal grid" descr="pptx-deck-generated"/>
          <p:cNvCxnSpPr/>
          <p:nvPr/>
        </p:nvCxnSpPr>
        <p:spPr>
          <a:xfrm>
            <a:off x="1280160" y="3831335"/>
            <a:ext cx="10323576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sp>
        <p:nvSpPr>
          <p:cNvPr id="22" name="Matrix x low" descr="pptx-deck-generated"/>
          <p:cNvSpPr txBox="1"/>
          <p:nvPr/>
        </p:nvSpPr>
        <p:spPr>
          <a:xfrm>
            <a:off x="1280160" y="5340095"/>
            <a:ext cx="5161788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低</a:t>
            </a:r>
          </a:p>
        </p:txBody>
      </p:sp>
      <p:sp>
        <p:nvSpPr>
          <p:cNvPr id="23" name="Matrix x high" descr="pptx-deck-generated"/>
          <p:cNvSpPr txBox="1"/>
          <p:nvPr/>
        </p:nvSpPr>
        <p:spPr>
          <a:xfrm>
            <a:off x="6441948" y="5340095"/>
            <a:ext cx="5161788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高</a:t>
            </a:r>
          </a:p>
        </p:txBody>
      </p:sp>
      <p:sp>
        <p:nvSpPr>
          <p:cNvPr id="24" name="Matrix x label" descr="pptx-deck-generated"/>
          <p:cNvSpPr txBox="1"/>
          <p:nvPr/>
        </p:nvSpPr>
        <p:spPr>
          <a:xfrm>
            <a:off x="1280160" y="5696711"/>
            <a:ext cx="10323576" cy="310896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chemeClr val="dk1"/>
                </a:solidFill>
                <a:latin typeface="Yu Gothic"/>
                <a:ea typeface="Yu Gothic"/>
              </a:rPr>
              <a:t>緊急度</a:t>
            </a:r>
          </a:p>
        </p:txBody>
      </p:sp>
      <p:sp>
        <p:nvSpPr>
          <p:cNvPr id="25" name="Matrix y label" descr="pptx-deck-generated"/>
          <p:cNvSpPr txBox="1"/>
          <p:nvPr/>
        </p:nvSpPr>
        <p:spPr>
          <a:xfrm>
            <a:off x="457200" y="2359152"/>
            <a:ext cx="329184" cy="2944367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 vert="vert27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chemeClr val="dk1"/>
                </a:solidFill>
                <a:latin typeface="Yu Gothic"/>
                <a:ea typeface="Yu Gothic"/>
              </a:rPr>
              <a:t>影響度</a:t>
            </a:r>
          </a:p>
        </p:txBody>
      </p:sp>
      <p:sp>
        <p:nvSpPr>
          <p:cNvPr id="26" name="Matrix y high" descr="pptx-deck-generated"/>
          <p:cNvSpPr txBox="1"/>
          <p:nvPr/>
        </p:nvSpPr>
        <p:spPr>
          <a:xfrm>
            <a:off x="786384" y="2404872"/>
            <a:ext cx="4572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大</a:t>
            </a:r>
          </a:p>
        </p:txBody>
      </p:sp>
      <p:sp>
        <p:nvSpPr>
          <p:cNvPr id="27" name="Matrix y low" descr="pptx-deck-generated"/>
          <p:cNvSpPr txBox="1"/>
          <p:nvPr/>
        </p:nvSpPr>
        <p:spPr>
          <a:xfrm>
            <a:off x="786384" y="4928615"/>
            <a:ext cx="457200" cy="329184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FAQから専門担当へ</a:t>
            </a:r>
          </a:p>
        </p:txBody>
      </p:sp>
      <p:grpSp>
        <p:nvGrpSpPr>
          <p:cNvPr id="3" name="Pyramid 1" descr="pptx-deck-generated"/>
          <p:cNvGrpSpPr/>
          <p:nvPr/>
        </p:nvGrpSpPr>
        <p:grpSpPr>
          <a:xfrm>
            <a:off x="1821420" y="1645920"/>
            <a:ext cx="9837179" cy="694944"/>
            <a:chOff x="0" y="0"/>
            <a:chExt cx="9837179" cy="694944"/>
          </a:xfrm>
        </p:grpSpPr>
        <p:sp>
          <p:nvSpPr>
            <p:cNvPr id="4" name="Level 1" descr="pptx-deck-generated"/>
            <p:cNvSpPr/>
            <p:nvPr/>
          </p:nvSpPr>
          <p:spPr>
            <a:xfrm>
              <a:off x="0" y="0"/>
              <a:ext cx="3472562" cy="694944"/>
            </a:xfrm>
            <a:prstGeom prst="triangle">
              <a:avLst/>
            </a:prstGeom>
            <a:solidFill>
              <a:schemeClr val="accent1">
                <a:lumMod val="100000"/>
                <a:lumOff val="0"/>
              </a:schemeClr>
            </a:solidFill>
            <a:ln w="9525">
              <a:solidFill>
                <a:schemeClr val="lt1"/>
              </a:solidFill>
            </a:ln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lt1"/>
                  </a:solidFill>
                  <a:latin typeface="Yu Gothic"/>
                  <a:ea typeface="Yu Gothic"/>
                </a:rPr>
                <a:t>専門対応</a:t>
              </a:r>
            </a:p>
          </p:txBody>
        </p:sp>
        <p:sp>
          <p:nvSpPr>
            <p:cNvPr id="5" name="Level 1 detail" descr="pptx-deck-generated"/>
            <p:cNvSpPr txBox="1"/>
            <p:nvPr/>
          </p:nvSpPr>
          <p:spPr>
            <a:xfrm>
              <a:off x="5220831" y="0"/>
              <a:ext cx="4616348" cy="6949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個別調査</a:t>
              </a:r>
            </a:p>
          </p:txBody>
        </p:sp>
      </p:grpSp>
      <p:cxnSp>
        <p:nvCxnSpPr>
          <p:cNvPr id="6" name="Level 1 leader" descr="pptx-deck-generated"/>
          <p:cNvCxnSpPr/>
          <p:nvPr/>
        </p:nvCxnSpPr>
        <p:spPr>
          <a:xfrm>
            <a:off x="5293982" y="1993392"/>
            <a:ext cx="1693405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7" name="Pyramid 2" descr="pptx-deck-generated"/>
          <p:cNvGrpSpPr/>
          <p:nvPr/>
        </p:nvGrpSpPr>
        <p:grpSpPr>
          <a:xfrm>
            <a:off x="1139310" y="2377440"/>
            <a:ext cx="10519289" cy="694944"/>
            <a:chOff x="0" y="0"/>
            <a:chExt cx="10519289" cy="694944"/>
          </a:xfrm>
        </p:grpSpPr>
        <p:sp>
          <p:nvSpPr>
            <p:cNvPr id="8" name="Level 2" descr="pptx-deck-generated"/>
            <p:cNvSpPr/>
            <p:nvPr/>
          </p:nvSpPr>
          <p:spPr>
            <a:xfrm>
              <a:off x="0" y="0"/>
              <a:ext cx="4836782" cy="694944"/>
            </a:xfrm>
            <a:prstGeom prst="trapezoid">
              <a:avLst/>
            </a:prstGeom>
            <a:solidFill>
              <a:schemeClr val="accent1">
                <a:lumMod val="88000"/>
                <a:lumOff val="12000"/>
              </a:schemeClr>
            </a:solidFill>
            <a:ln w="9525">
              <a:solidFill>
                <a:schemeClr val="lt1"/>
              </a:solidFill>
            </a:ln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lt1"/>
                  </a:solidFill>
                  <a:latin typeface="Yu Gothic"/>
                  <a:ea typeface="Yu Gothic"/>
                </a:rPr>
                <a:t>担当チーム</a:t>
              </a:r>
            </a:p>
          </p:txBody>
        </p:sp>
        <p:sp>
          <p:nvSpPr>
            <p:cNvPr id="9" name="Level 2 detail" descr="pptx-deck-generated"/>
            <p:cNvSpPr txBox="1"/>
            <p:nvPr/>
          </p:nvSpPr>
          <p:spPr>
            <a:xfrm>
              <a:off x="5902941" y="0"/>
              <a:ext cx="4616348" cy="6949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手順に沿って解決</a:t>
              </a:r>
            </a:p>
          </p:txBody>
        </p:sp>
      </p:grpSp>
      <p:cxnSp>
        <p:nvCxnSpPr>
          <p:cNvPr id="10" name="Level 2 leader" descr="pptx-deck-generated"/>
          <p:cNvCxnSpPr/>
          <p:nvPr/>
        </p:nvCxnSpPr>
        <p:spPr>
          <a:xfrm>
            <a:off x="5976093" y="2724912"/>
            <a:ext cx="1011294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11" name="Pyramid 3" descr="pptx-deck-generated"/>
          <p:cNvGrpSpPr/>
          <p:nvPr/>
        </p:nvGrpSpPr>
        <p:grpSpPr>
          <a:xfrm>
            <a:off x="457200" y="3108960"/>
            <a:ext cx="11201399" cy="694944"/>
            <a:chOff x="0" y="0"/>
            <a:chExt cx="11201399" cy="694944"/>
          </a:xfrm>
        </p:grpSpPr>
        <p:sp>
          <p:nvSpPr>
            <p:cNvPr id="12" name="Level 3" descr="pptx-deck-generated"/>
            <p:cNvSpPr/>
            <p:nvPr/>
          </p:nvSpPr>
          <p:spPr>
            <a:xfrm>
              <a:off x="0" y="0"/>
              <a:ext cx="6201003" cy="694944"/>
            </a:xfrm>
            <a:prstGeom prst="trapezoid">
              <a:avLst/>
            </a:prstGeom>
            <a:solidFill>
              <a:schemeClr val="accent1">
                <a:lumMod val="76000"/>
                <a:lumOff val="24000"/>
              </a:schemeClr>
            </a:solidFill>
            <a:ln w="9525">
              <a:solidFill>
                <a:schemeClr val="lt1"/>
              </a:solidFill>
            </a:ln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lt1"/>
                  </a:solidFill>
                  <a:latin typeface="Yu Gothic"/>
                  <a:ea typeface="Yu Gothic"/>
                </a:rPr>
                <a:t>FAQ</a:t>
              </a:r>
            </a:p>
          </p:txBody>
        </p:sp>
        <p:sp>
          <p:nvSpPr>
            <p:cNvPr id="13" name="Level 3 detail" descr="pptx-deck-generated"/>
            <p:cNvSpPr txBox="1"/>
            <p:nvPr/>
          </p:nvSpPr>
          <p:spPr>
            <a:xfrm>
              <a:off x="6585051" y="0"/>
              <a:ext cx="4616348" cy="6949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よくある質問を自己解決</a:t>
              </a:r>
            </a:p>
          </p:txBody>
        </p:sp>
      </p:grpSp>
      <p:cxnSp>
        <p:nvCxnSpPr>
          <p:cNvPr id="14" name="Level 3 leader" descr="pptx-deck-generated"/>
          <p:cNvCxnSpPr/>
          <p:nvPr/>
        </p:nvCxnSpPr>
        <p:spPr>
          <a:xfrm>
            <a:off x="6658203" y="3456432"/>
            <a:ext cx="329184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必要情報から担当窓口へつなぐ</a:t>
            </a:r>
          </a:p>
        </p:txBody>
      </p:sp>
      <p:grpSp>
        <p:nvGrpSpPr>
          <p:cNvPr id="3" name="Pyramid 1" descr="pptx-deck-generated"/>
          <p:cNvGrpSpPr/>
          <p:nvPr/>
        </p:nvGrpSpPr>
        <p:grpSpPr>
          <a:xfrm>
            <a:off x="457200" y="1645920"/>
            <a:ext cx="11201399" cy="694944"/>
            <a:chOff x="0" y="0"/>
            <a:chExt cx="11201399" cy="694944"/>
          </a:xfrm>
        </p:grpSpPr>
        <p:sp>
          <p:nvSpPr>
            <p:cNvPr id="4" name="Level 1" descr="pptx-deck-generated"/>
            <p:cNvSpPr/>
            <p:nvPr/>
          </p:nvSpPr>
          <p:spPr>
            <a:xfrm rot="10800000">
              <a:off x="0" y="0"/>
              <a:ext cx="6201003" cy="694944"/>
            </a:xfrm>
            <a:prstGeom prst="trapezoid">
              <a:avLst/>
            </a:prstGeom>
            <a:solidFill>
              <a:schemeClr val="accent1">
                <a:lumMod val="76000"/>
                <a:lumOff val="24000"/>
              </a:schemeClr>
            </a:solidFill>
            <a:ln w="9525">
              <a:solidFill>
                <a:schemeClr val="l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Level 1 label" descr="pptx-deck-generated"/>
            <p:cNvSpPr txBox="1"/>
            <p:nvPr/>
          </p:nvSpPr>
          <p:spPr>
            <a:xfrm>
              <a:off x="620100" y="0"/>
              <a:ext cx="4960802" cy="6949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lt1"/>
                  </a:solidFill>
                  <a:latin typeface="Yu Gothic"/>
                  <a:ea typeface="Yu Gothic"/>
                </a:rPr>
                <a:t>問い合わせ</a:t>
              </a:r>
            </a:p>
          </p:txBody>
        </p:sp>
        <p:sp>
          <p:nvSpPr>
            <p:cNvPr id="6" name="Level 1 detail" descr="pptx-deck-generated"/>
            <p:cNvSpPr txBox="1"/>
            <p:nvPr/>
          </p:nvSpPr>
          <p:spPr>
            <a:xfrm>
              <a:off x="6585051" y="0"/>
              <a:ext cx="4616348" cy="6949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幅広く受け付ける</a:t>
              </a:r>
            </a:p>
          </p:txBody>
        </p:sp>
      </p:grpSp>
      <p:cxnSp>
        <p:nvCxnSpPr>
          <p:cNvPr id="7" name="Level 1 leader" descr="pptx-deck-generated"/>
          <p:cNvCxnSpPr/>
          <p:nvPr/>
        </p:nvCxnSpPr>
        <p:spPr>
          <a:xfrm>
            <a:off x="6658203" y="1993392"/>
            <a:ext cx="329184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8" name="Pyramid 2" descr="pptx-deck-generated"/>
          <p:cNvGrpSpPr/>
          <p:nvPr/>
        </p:nvGrpSpPr>
        <p:grpSpPr>
          <a:xfrm>
            <a:off x="1139310" y="2377440"/>
            <a:ext cx="10519289" cy="694944"/>
            <a:chOff x="0" y="0"/>
            <a:chExt cx="10519289" cy="694944"/>
          </a:xfrm>
        </p:grpSpPr>
        <p:sp>
          <p:nvSpPr>
            <p:cNvPr id="9" name="Level 2" descr="pptx-deck-generated"/>
            <p:cNvSpPr/>
            <p:nvPr/>
          </p:nvSpPr>
          <p:spPr>
            <a:xfrm rot="10800000">
              <a:off x="0" y="0"/>
              <a:ext cx="4836782" cy="694944"/>
            </a:xfrm>
            <a:prstGeom prst="trapezoid">
              <a:avLst/>
            </a:prstGeom>
            <a:solidFill>
              <a:schemeClr val="accent1">
                <a:lumMod val="88000"/>
                <a:lumOff val="12000"/>
              </a:schemeClr>
            </a:solidFill>
            <a:ln w="9525">
              <a:solidFill>
                <a:schemeClr val="l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Level 2 label" descr="pptx-deck-generated"/>
            <p:cNvSpPr txBox="1"/>
            <p:nvPr/>
          </p:nvSpPr>
          <p:spPr>
            <a:xfrm>
              <a:off x="483678" y="0"/>
              <a:ext cx="3869426" cy="6949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lt1"/>
                  </a:solidFill>
                  <a:latin typeface="Yu Gothic"/>
                  <a:ea typeface="Yu Gothic"/>
                </a:rPr>
                <a:t>分類</a:t>
              </a:r>
            </a:p>
          </p:txBody>
        </p:sp>
        <p:sp>
          <p:nvSpPr>
            <p:cNvPr id="11" name="Level 2 detail" descr="pptx-deck-generated"/>
            <p:cNvSpPr txBox="1"/>
            <p:nvPr/>
          </p:nvSpPr>
          <p:spPr>
            <a:xfrm>
              <a:off x="5902941" y="0"/>
              <a:ext cx="4616348" cy="6949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カテゴリと緊急度を確認</a:t>
              </a:r>
            </a:p>
          </p:txBody>
        </p:sp>
      </p:grpSp>
      <p:cxnSp>
        <p:nvCxnSpPr>
          <p:cNvPr id="12" name="Level 2 leader" descr="pptx-deck-generated"/>
          <p:cNvCxnSpPr/>
          <p:nvPr/>
        </p:nvCxnSpPr>
        <p:spPr>
          <a:xfrm>
            <a:off x="5976093" y="2724912"/>
            <a:ext cx="1011294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13" name="Pyramid 3" descr="pptx-deck-generated"/>
          <p:cNvGrpSpPr/>
          <p:nvPr/>
        </p:nvGrpSpPr>
        <p:grpSpPr>
          <a:xfrm>
            <a:off x="1821420" y="3108960"/>
            <a:ext cx="9837179" cy="694944"/>
            <a:chOff x="0" y="0"/>
            <a:chExt cx="9837179" cy="694944"/>
          </a:xfrm>
        </p:grpSpPr>
        <p:sp>
          <p:nvSpPr>
            <p:cNvPr id="14" name="Level 3" descr="pptx-deck-generated"/>
            <p:cNvSpPr/>
            <p:nvPr/>
          </p:nvSpPr>
          <p:spPr>
            <a:xfrm rot="10800000">
              <a:off x="0" y="0"/>
              <a:ext cx="3472562" cy="694944"/>
            </a:xfrm>
            <a:prstGeom prst="trapezoid">
              <a:avLst/>
            </a:prstGeom>
            <a:solidFill>
              <a:schemeClr val="accent1">
                <a:lumMod val="100000"/>
                <a:lumOff val="0"/>
              </a:schemeClr>
            </a:solidFill>
            <a:ln w="9525">
              <a:solidFill>
                <a:schemeClr val="l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Level 3 label" descr="pptx-deck-generated"/>
            <p:cNvSpPr txBox="1"/>
            <p:nvPr/>
          </p:nvSpPr>
          <p:spPr>
            <a:xfrm>
              <a:off x="347256" y="0"/>
              <a:ext cx="2778049" cy="6949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lt1"/>
                  </a:solidFill>
                  <a:latin typeface="Yu Gothic"/>
                  <a:ea typeface="Yu Gothic"/>
                </a:rPr>
                <a:t>担当へ連携</a:t>
              </a:r>
            </a:p>
          </p:txBody>
        </p:sp>
        <p:sp>
          <p:nvSpPr>
            <p:cNvPr id="16" name="Level 3 detail" descr="pptx-deck-generated"/>
            <p:cNvSpPr txBox="1"/>
            <p:nvPr/>
          </p:nvSpPr>
          <p:spPr>
            <a:xfrm>
              <a:off x="5220831" y="0"/>
              <a:ext cx="4616348" cy="6949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適切なチームへ割り当て</a:t>
              </a:r>
            </a:p>
          </p:txBody>
        </p:sp>
      </p:grpSp>
      <p:cxnSp>
        <p:nvCxnSpPr>
          <p:cNvPr id="17" name="Level 3 leader" descr="pptx-deck-generated"/>
          <p:cNvCxnSpPr/>
          <p:nvPr/>
        </p:nvCxnSpPr>
        <p:spPr>
          <a:xfrm>
            <a:off x="5293982" y="3456432"/>
            <a:ext cx="1693405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対応結果をFAQへ活用する</a:t>
            </a:r>
          </a:p>
        </p:txBody>
      </p:sp>
      <p:cxnSp>
        <p:nvCxnSpPr>
          <p:cNvPr id="3" name="Cycle connector 1" descr="pptx-deck-generated"/>
          <p:cNvCxnSpPr/>
          <p:nvPr/>
        </p:nvCxnSpPr>
        <p:spPr>
          <a:xfrm>
            <a:off x="7008876" y="2251684"/>
            <a:ext cx="2185335" cy="468694"/>
          </a:xfrm>
          <a:prstGeom prst="line">
            <a:avLst/>
          </a:prstGeom>
          <a:ln w="15875">
            <a:solidFill>
              <a:schemeClr val="accent1"/>
            </a:solidFill>
            <a:headEnd type="triangle" w="med" len="med"/>
          </a:ln>
        </p:spPr>
      </p:cxnSp>
      <p:cxnSp>
        <p:nvCxnSpPr>
          <p:cNvPr id="4" name="Cycle connector 2" descr="pptx-deck-generated"/>
          <p:cNvCxnSpPr/>
          <p:nvPr/>
        </p:nvCxnSpPr>
        <p:spPr>
          <a:xfrm flipH="1">
            <a:off x="7053579" y="3122193"/>
            <a:ext cx="2185335" cy="468694"/>
          </a:xfrm>
          <a:prstGeom prst="line">
            <a:avLst/>
          </a:prstGeom>
          <a:ln w="15875">
            <a:solidFill>
              <a:schemeClr val="accent1"/>
            </a:solidFill>
            <a:headEnd type="triangle" w="med" len="med"/>
          </a:ln>
        </p:spPr>
      </p:cxnSp>
      <p:cxnSp>
        <p:nvCxnSpPr>
          <p:cNvPr id="5" name="Cycle connector 3" descr="pptx-deck-generated"/>
          <p:cNvCxnSpPr/>
          <p:nvPr/>
        </p:nvCxnSpPr>
        <p:spPr>
          <a:xfrm flipH="1" flipV="1">
            <a:off x="2994740" y="3131781"/>
            <a:ext cx="2185336" cy="468694"/>
          </a:xfrm>
          <a:prstGeom prst="line">
            <a:avLst/>
          </a:prstGeom>
          <a:ln w="15875">
            <a:solidFill>
              <a:schemeClr val="accent1"/>
            </a:solidFill>
            <a:headEnd type="triangle" w="med" len="med"/>
          </a:ln>
        </p:spPr>
      </p:cxnSp>
      <p:cxnSp>
        <p:nvCxnSpPr>
          <p:cNvPr id="6" name="Cycle connector 4" descr="pptx-deck-generated"/>
          <p:cNvCxnSpPr/>
          <p:nvPr/>
        </p:nvCxnSpPr>
        <p:spPr>
          <a:xfrm flipV="1">
            <a:off x="2950037" y="2261272"/>
            <a:ext cx="2185335" cy="468694"/>
          </a:xfrm>
          <a:prstGeom prst="line">
            <a:avLst/>
          </a:prstGeom>
          <a:ln w="15875">
            <a:solidFill>
              <a:schemeClr val="accent1"/>
            </a:solidFill>
            <a:headEnd type="triangle" w="med" len="med"/>
          </a:ln>
        </p:spPr>
      </p:cxnSp>
      <p:grpSp>
        <p:nvGrpSpPr>
          <p:cNvPr id="7" name="Cycle 1" descr="pptx-deck-generated"/>
          <p:cNvGrpSpPr/>
          <p:nvPr/>
        </p:nvGrpSpPr>
        <p:grpSpPr>
          <a:xfrm>
            <a:off x="5180076" y="1680667"/>
            <a:ext cx="1828800" cy="749808"/>
            <a:chOff x="0" y="0"/>
            <a:chExt cx="1828800" cy="749808"/>
          </a:xfrm>
        </p:grpSpPr>
        <p:sp>
          <p:nvSpPr>
            <p:cNvPr id="8" name="Cycle node 1" descr="pptx-deck-generated"/>
            <p:cNvSpPr/>
            <p:nvPr/>
          </p:nvSpPr>
          <p:spPr>
            <a:xfrm>
              <a:off x="0" y="0"/>
              <a:ext cx="1828800" cy="749808"/>
            </a:xfrm>
            <a:prstGeom prst="roundRect">
              <a:avLst>
                <a:gd name="adj" fmla="val 7317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Cycle node 1 label" descr="pptx-deck-generated"/>
            <p:cNvSpPr txBox="1"/>
            <p:nvPr/>
          </p:nvSpPr>
          <p:spPr>
            <a:xfrm>
              <a:off x="109728" y="109728"/>
              <a:ext cx="1609344" cy="3870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dk1"/>
                  </a:solidFill>
                  <a:latin typeface="Yu Gothic"/>
                  <a:ea typeface="Yu Gothic"/>
                </a:rPr>
                <a:t>受け付ける</a:t>
              </a:r>
            </a:p>
          </p:txBody>
        </p:sp>
      </p:grpSp>
      <p:grpSp>
        <p:nvGrpSpPr>
          <p:cNvPr id="10" name="Cycle 2" descr="pptx-deck-generated"/>
          <p:cNvGrpSpPr/>
          <p:nvPr/>
        </p:nvGrpSpPr>
        <p:grpSpPr>
          <a:xfrm>
            <a:off x="9238914" y="2551176"/>
            <a:ext cx="1828800" cy="749808"/>
            <a:chOff x="0" y="0"/>
            <a:chExt cx="1828800" cy="749808"/>
          </a:xfrm>
        </p:grpSpPr>
        <p:sp>
          <p:nvSpPr>
            <p:cNvPr id="11" name="Cycle node 2" descr="pptx-deck-generated"/>
            <p:cNvSpPr/>
            <p:nvPr/>
          </p:nvSpPr>
          <p:spPr>
            <a:xfrm>
              <a:off x="0" y="0"/>
              <a:ext cx="1828800" cy="749808"/>
            </a:xfrm>
            <a:prstGeom prst="roundRect">
              <a:avLst>
                <a:gd name="adj" fmla="val 7317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Cycle node 2 label" descr="pptx-deck-generated"/>
            <p:cNvSpPr txBox="1"/>
            <p:nvPr/>
          </p:nvSpPr>
          <p:spPr>
            <a:xfrm>
              <a:off x="109728" y="109728"/>
              <a:ext cx="1609344" cy="3870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dk1"/>
                  </a:solidFill>
                  <a:latin typeface="Yu Gothic"/>
                  <a:ea typeface="Yu Gothic"/>
                </a:rPr>
                <a:t>分類する</a:t>
              </a:r>
            </a:p>
          </p:txBody>
        </p:sp>
      </p:grpSp>
      <p:grpSp>
        <p:nvGrpSpPr>
          <p:cNvPr id="13" name="Cycle 3" descr="pptx-deck-generated"/>
          <p:cNvGrpSpPr/>
          <p:nvPr/>
        </p:nvGrpSpPr>
        <p:grpSpPr>
          <a:xfrm>
            <a:off x="5180076" y="3421684"/>
            <a:ext cx="1828800" cy="749808"/>
            <a:chOff x="0" y="0"/>
            <a:chExt cx="1828800" cy="749808"/>
          </a:xfrm>
        </p:grpSpPr>
        <p:sp>
          <p:nvSpPr>
            <p:cNvPr id="14" name="Cycle node 3" descr="pptx-deck-generated"/>
            <p:cNvSpPr/>
            <p:nvPr/>
          </p:nvSpPr>
          <p:spPr>
            <a:xfrm>
              <a:off x="0" y="0"/>
              <a:ext cx="1828800" cy="749808"/>
            </a:xfrm>
            <a:prstGeom prst="roundRect">
              <a:avLst>
                <a:gd name="adj" fmla="val 7317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ycle node 3 label" descr="pptx-deck-generated"/>
            <p:cNvSpPr txBox="1"/>
            <p:nvPr/>
          </p:nvSpPr>
          <p:spPr>
            <a:xfrm>
              <a:off x="109728" y="109728"/>
              <a:ext cx="1609344" cy="3870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dk1"/>
                  </a:solidFill>
                  <a:latin typeface="Yu Gothic"/>
                  <a:ea typeface="Yu Gothic"/>
                </a:rPr>
                <a:t>解決する</a:t>
              </a:r>
            </a:p>
          </p:txBody>
        </p:sp>
      </p:grpSp>
      <p:grpSp>
        <p:nvGrpSpPr>
          <p:cNvPr id="16" name="Cycle 4" descr="pptx-deck-generated"/>
          <p:cNvGrpSpPr/>
          <p:nvPr/>
        </p:nvGrpSpPr>
        <p:grpSpPr>
          <a:xfrm>
            <a:off x="1121237" y="2551176"/>
            <a:ext cx="1828800" cy="749808"/>
            <a:chOff x="0" y="0"/>
            <a:chExt cx="1828800" cy="749808"/>
          </a:xfrm>
        </p:grpSpPr>
        <p:sp>
          <p:nvSpPr>
            <p:cNvPr id="17" name="Cycle node 4" descr="pptx-deck-generated"/>
            <p:cNvSpPr/>
            <p:nvPr/>
          </p:nvSpPr>
          <p:spPr>
            <a:xfrm>
              <a:off x="0" y="0"/>
              <a:ext cx="1828800" cy="749808"/>
            </a:xfrm>
            <a:prstGeom prst="roundRect">
              <a:avLst>
                <a:gd name="adj" fmla="val 7317"/>
              </a:avLst>
            </a:prstGeom>
            <a:solidFill>
              <a:schemeClr val="lt2"/>
            </a:solidFill>
            <a:ln w="9525">
              <a:solidFill>
                <a:schemeClr val="accent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Cycle node 4 label" descr="pptx-deck-generated"/>
            <p:cNvSpPr txBox="1"/>
            <p:nvPr/>
          </p:nvSpPr>
          <p:spPr>
            <a:xfrm>
              <a:off x="109728" y="109728"/>
              <a:ext cx="1609344" cy="38709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dk1"/>
                  </a:solidFill>
                  <a:latin typeface="Yu Gothic"/>
                  <a:ea typeface="Yu Gothic"/>
                </a:rPr>
                <a:t>FAQを更新</a:t>
              </a:r>
            </a:p>
          </p:txBody>
        </p:sp>
      </p:grpSp>
      <p:sp>
        <p:nvSpPr>
          <p:cNvPr id="19" name="Cycle center" descr="pptx-deck-generated"/>
          <p:cNvSpPr/>
          <p:nvPr/>
        </p:nvSpPr>
        <p:spPr>
          <a:xfrm>
            <a:off x="5710428" y="2542032"/>
            <a:ext cx="768096" cy="768096"/>
          </a:xfrm>
          <a:prstGeom prst="ellipse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chemeClr val="lt1"/>
                </a:solidFill>
                <a:latin typeface="Yu Gothic"/>
                <a:ea typeface="Yu Gothic"/>
              </a:rPr>
              <a:t>継続改善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役割・手順・ツール</a:t>
            </a:r>
          </a:p>
        </p:txBody>
      </p:sp>
      <p:grpSp>
        <p:nvGrpSpPr>
          <p:cNvPr id="3" name="Layers 1" descr="pptx-deck-generated"/>
          <p:cNvGrpSpPr/>
          <p:nvPr/>
        </p:nvGrpSpPr>
        <p:grpSpPr>
          <a:xfrm>
            <a:off x="457200" y="1645920"/>
            <a:ext cx="11274552" cy="640080"/>
            <a:chOff x="0" y="0"/>
            <a:chExt cx="11274552" cy="640080"/>
          </a:xfrm>
        </p:grpSpPr>
        <p:sp>
          <p:nvSpPr>
            <p:cNvPr id="4" name="Layer 1 label" descr="pptx-deck-generated"/>
            <p:cNvSpPr/>
            <p:nvPr/>
          </p:nvSpPr>
          <p:spPr>
            <a:xfrm>
              <a:off x="0" y="0"/>
              <a:ext cx="2818638" cy="640080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lt1"/>
                  </a:solidFill>
                  <a:latin typeface="Yu Gothic"/>
                  <a:ea typeface="Yu Gothic"/>
                </a:rPr>
                <a:t>窓口</a:t>
              </a:r>
            </a:p>
          </p:txBody>
        </p:sp>
        <p:sp>
          <p:nvSpPr>
            <p:cNvPr id="5" name="Layer 1 item 1" descr="pptx-deck-generated"/>
            <p:cNvSpPr/>
            <p:nvPr/>
          </p:nvSpPr>
          <p:spPr>
            <a:xfrm>
              <a:off x="3001518" y="0"/>
              <a:ext cx="2684526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受付フォーム</a:t>
              </a:r>
            </a:p>
          </p:txBody>
        </p:sp>
        <p:sp>
          <p:nvSpPr>
            <p:cNvPr id="6" name="Layer 1 item 2" descr="pptx-deck-generated"/>
            <p:cNvSpPr/>
            <p:nvPr/>
          </p:nvSpPr>
          <p:spPr>
            <a:xfrm>
              <a:off x="5795772" y="0"/>
              <a:ext cx="2684526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共通メール</a:t>
              </a:r>
            </a:p>
          </p:txBody>
        </p:sp>
        <p:sp>
          <p:nvSpPr>
            <p:cNvPr id="7" name="Layer 1 item 3" descr="pptx-deck-generated"/>
            <p:cNvSpPr/>
            <p:nvPr/>
          </p:nvSpPr>
          <p:spPr>
            <a:xfrm>
              <a:off x="8590026" y="0"/>
              <a:ext cx="2684526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受付台帳</a:t>
              </a:r>
            </a:p>
          </p:txBody>
        </p:sp>
      </p:grpSp>
      <p:grpSp>
        <p:nvGrpSpPr>
          <p:cNvPr id="8" name="Layers 2" descr="pptx-deck-generated"/>
          <p:cNvGrpSpPr/>
          <p:nvPr/>
        </p:nvGrpSpPr>
        <p:grpSpPr>
          <a:xfrm>
            <a:off x="457200" y="2395728"/>
            <a:ext cx="11274552" cy="640080"/>
            <a:chOff x="0" y="0"/>
            <a:chExt cx="11274552" cy="640080"/>
          </a:xfrm>
        </p:grpSpPr>
        <p:sp>
          <p:nvSpPr>
            <p:cNvPr id="9" name="Layer 2 label" descr="pptx-deck-generated"/>
            <p:cNvSpPr/>
            <p:nvPr/>
          </p:nvSpPr>
          <p:spPr>
            <a:xfrm>
              <a:off x="0" y="0"/>
              <a:ext cx="2818638" cy="640080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lt1"/>
                  </a:solidFill>
                  <a:latin typeface="Yu Gothic"/>
                  <a:ea typeface="Yu Gothic"/>
                </a:rPr>
                <a:t>運用</a:t>
              </a:r>
            </a:p>
          </p:txBody>
        </p:sp>
        <p:sp>
          <p:nvSpPr>
            <p:cNvPr id="10" name="Layer 2 item 1" descr="pptx-deck-generated"/>
            <p:cNvSpPr/>
            <p:nvPr/>
          </p:nvSpPr>
          <p:spPr>
            <a:xfrm>
              <a:off x="3001518" y="0"/>
              <a:ext cx="2684526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分類基準</a:t>
              </a:r>
            </a:p>
          </p:txBody>
        </p:sp>
        <p:sp>
          <p:nvSpPr>
            <p:cNvPr id="11" name="Layer 2 item 2" descr="pptx-deck-generated"/>
            <p:cNvSpPr/>
            <p:nvPr/>
          </p:nvSpPr>
          <p:spPr>
            <a:xfrm>
              <a:off x="5795772" y="0"/>
              <a:ext cx="2684526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担当表</a:t>
              </a:r>
            </a:p>
          </p:txBody>
        </p:sp>
        <p:sp>
          <p:nvSpPr>
            <p:cNvPr id="12" name="Layer 2 item 3" descr="pptx-deck-generated"/>
            <p:cNvSpPr/>
            <p:nvPr/>
          </p:nvSpPr>
          <p:spPr>
            <a:xfrm>
              <a:off x="8590026" y="0"/>
              <a:ext cx="2684526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対応手順</a:t>
              </a:r>
            </a:p>
          </p:txBody>
        </p:sp>
      </p:grpSp>
      <p:grpSp>
        <p:nvGrpSpPr>
          <p:cNvPr id="13" name="Layers 3" descr="pptx-deck-generated"/>
          <p:cNvGrpSpPr/>
          <p:nvPr/>
        </p:nvGrpSpPr>
        <p:grpSpPr>
          <a:xfrm>
            <a:off x="457200" y="3145536"/>
            <a:ext cx="11274552" cy="640080"/>
            <a:chOff x="0" y="0"/>
            <a:chExt cx="11274552" cy="640080"/>
          </a:xfrm>
        </p:grpSpPr>
        <p:sp>
          <p:nvSpPr>
            <p:cNvPr id="14" name="Layer 3 label" descr="pptx-deck-generated"/>
            <p:cNvSpPr/>
            <p:nvPr/>
          </p:nvSpPr>
          <p:spPr>
            <a:xfrm>
              <a:off x="0" y="0"/>
              <a:ext cx="2818638" cy="640080"/>
            </a:xfrm>
            <a:prstGeom prst="rect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400" b="1">
                  <a:solidFill>
                    <a:schemeClr val="lt1"/>
                  </a:solidFill>
                  <a:latin typeface="Yu Gothic"/>
                  <a:ea typeface="Yu Gothic"/>
                </a:rPr>
                <a:t>ナレッジ</a:t>
              </a:r>
            </a:p>
          </p:txBody>
        </p:sp>
        <p:sp>
          <p:nvSpPr>
            <p:cNvPr id="15" name="Layer 3 item 1" descr="pptx-deck-generated"/>
            <p:cNvSpPr/>
            <p:nvPr/>
          </p:nvSpPr>
          <p:spPr>
            <a:xfrm>
              <a:off x="3001518" y="0"/>
              <a:ext cx="2684526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FAQ</a:t>
              </a:r>
            </a:p>
          </p:txBody>
        </p:sp>
        <p:sp>
          <p:nvSpPr>
            <p:cNvPr id="16" name="Layer 3 item 2" descr="pptx-deck-generated"/>
            <p:cNvSpPr/>
            <p:nvPr/>
          </p:nvSpPr>
          <p:spPr>
            <a:xfrm>
              <a:off x="5795772" y="0"/>
              <a:ext cx="2684526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対応履歴</a:t>
              </a:r>
            </a:p>
          </p:txBody>
        </p:sp>
        <p:sp>
          <p:nvSpPr>
            <p:cNvPr id="17" name="Layer 3 item 3" descr="pptx-deck-generated"/>
            <p:cNvSpPr/>
            <p:nvPr/>
          </p:nvSpPr>
          <p:spPr>
            <a:xfrm>
              <a:off x="8590026" y="0"/>
              <a:ext cx="2684526" cy="640080"/>
            </a:xfrm>
            <a:prstGeom prst="rect">
              <a:avLst/>
            </a:prstGeom>
            <a:solidFill>
              <a:schemeClr val="lt2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t" wrap="square" lIns="109728" rIns="109728" tIns="73152" bIns="73152"/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更新ルール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試行から全社展開</a:t>
            </a:r>
          </a:p>
        </p:txBody>
      </p:sp>
      <p:sp>
        <p:nvSpPr>
          <p:cNvPr id="3" name="Component lead" descr="pptx-deck-generated"/>
          <p:cNvSpPr txBox="1"/>
          <p:nvPr/>
        </p:nvSpPr>
        <p:spPr>
          <a:xfrm>
            <a:off x="457200" y="1645920"/>
            <a:ext cx="11274552" cy="420624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>
                <a:solidFill>
                  <a:schemeClr val="dk1"/>
                </a:solidFill>
                <a:latin typeface="Yu Gothic"/>
                <a:ea typeface="Yu Gothic"/>
              </a:rPr>
              <a:t>準備・試行・改善を順に進め、運用を定着させる</a:t>
            </a:r>
          </a:p>
        </p:txBody>
      </p:sp>
      <p:sp>
        <p:nvSpPr>
          <p:cNvPr id="4" name="Roadmap period 1" descr="pptx-deck-generated"/>
          <p:cNvSpPr/>
          <p:nvPr/>
        </p:nvSpPr>
        <p:spPr>
          <a:xfrm>
            <a:off x="2468880" y="2176272"/>
            <a:ext cx="2315718" cy="438912"/>
          </a:xfrm>
          <a:prstGeom prst="rect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chemeClr val="lt1"/>
                </a:solidFill>
                <a:latin typeface="Yu Gothic"/>
                <a:ea typeface="Yu Gothic"/>
              </a:rPr>
              <a:t>10月</a:t>
            </a:r>
          </a:p>
        </p:txBody>
      </p:sp>
      <p:sp>
        <p:nvSpPr>
          <p:cNvPr id="5" name="Roadmap period 2" descr="pptx-deck-generated"/>
          <p:cNvSpPr/>
          <p:nvPr/>
        </p:nvSpPr>
        <p:spPr>
          <a:xfrm>
            <a:off x="4784598" y="2176272"/>
            <a:ext cx="2315718" cy="438912"/>
          </a:xfrm>
          <a:prstGeom prst="rect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chemeClr val="lt1"/>
                </a:solidFill>
                <a:latin typeface="Yu Gothic"/>
                <a:ea typeface="Yu Gothic"/>
              </a:rPr>
              <a:t>11月</a:t>
            </a:r>
          </a:p>
        </p:txBody>
      </p:sp>
      <p:sp>
        <p:nvSpPr>
          <p:cNvPr id="6" name="Roadmap period 3" descr="pptx-deck-generated"/>
          <p:cNvSpPr/>
          <p:nvPr/>
        </p:nvSpPr>
        <p:spPr>
          <a:xfrm>
            <a:off x="7100316" y="2176272"/>
            <a:ext cx="2315718" cy="438912"/>
          </a:xfrm>
          <a:prstGeom prst="rect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chemeClr val="lt1"/>
                </a:solidFill>
                <a:latin typeface="Yu Gothic"/>
                <a:ea typeface="Yu Gothic"/>
              </a:rPr>
              <a:t>12月</a:t>
            </a:r>
          </a:p>
        </p:txBody>
      </p:sp>
      <p:sp>
        <p:nvSpPr>
          <p:cNvPr id="7" name="Roadmap period 4" descr="pptx-deck-generated"/>
          <p:cNvSpPr/>
          <p:nvPr/>
        </p:nvSpPr>
        <p:spPr>
          <a:xfrm>
            <a:off x="9416034" y="2176272"/>
            <a:ext cx="2315718" cy="438912"/>
          </a:xfrm>
          <a:prstGeom prst="rect">
            <a:avLst/>
          </a:prstGeom>
          <a:solidFill>
            <a:schemeClr val="accent1"/>
          </a:solidFill>
        </p:spPr>
        <p:txBody>
          <a:bodyPr rtlCol="0" anchor="ctr" wrap="square" lIns="109728" rIns="109728" tIns="73152" bIns="73152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chemeClr val="lt1"/>
                </a:solidFill>
                <a:latin typeface="Yu Gothic"/>
                <a:ea typeface="Yu Gothic"/>
              </a:rPr>
              <a:t>1月</a:t>
            </a:r>
          </a:p>
        </p:txBody>
      </p:sp>
      <p:sp>
        <p:nvSpPr>
          <p:cNvPr id="8" name="Roadmap milestone 1" descr="pptx-deck-generated"/>
          <p:cNvSpPr/>
          <p:nvPr/>
        </p:nvSpPr>
        <p:spPr>
          <a:xfrm>
            <a:off x="5860161" y="2642616"/>
            <a:ext cx="164592" cy="164592"/>
          </a:xfrm>
          <a:prstGeom prst="diamond">
            <a:avLst/>
          </a:prstGeom>
          <a:solidFill>
            <a:schemeClr val="accent2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9" name="Roadmap milestone 1 label" descr="pptx-deck-generated"/>
          <p:cNvSpPr txBox="1"/>
          <p:nvPr/>
        </p:nvSpPr>
        <p:spPr>
          <a:xfrm>
            <a:off x="5210937" y="2825496"/>
            <a:ext cx="146304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chemeClr val="dk1"/>
                </a:solidFill>
                <a:latin typeface="Yu Gothic"/>
                <a:ea typeface="Yu Gothic"/>
              </a:rPr>
              <a:t>試行開始</a:t>
            </a:r>
          </a:p>
        </p:txBody>
      </p:sp>
      <p:sp>
        <p:nvSpPr>
          <p:cNvPr id="10" name="Roadmap milestone 2" descr="pptx-deck-generated"/>
          <p:cNvSpPr/>
          <p:nvPr/>
        </p:nvSpPr>
        <p:spPr>
          <a:xfrm>
            <a:off x="10491597" y="2642616"/>
            <a:ext cx="164592" cy="164592"/>
          </a:xfrm>
          <a:prstGeom prst="diamond">
            <a:avLst/>
          </a:prstGeom>
          <a:solidFill>
            <a:schemeClr val="accent2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11" name="Roadmap milestone 2 label" descr="pptx-deck-generated"/>
          <p:cNvSpPr txBox="1"/>
          <p:nvPr/>
        </p:nvSpPr>
        <p:spPr>
          <a:xfrm>
            <a:off x="9842372" y="2825496"/>
            <a:ext cx="146304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chemeClr val="dk1"/>
                </a:solidFill>
                <a:latin typeface="Yu Gothic"/>
                <a:ea typeface="Yu Gothic"/>
              </a:rPr>
              <a:t>展開判断</a:t>
            </a:r>
          </a:p>
        </p:txBody>
      </p:sp>
      <p:sp>
        <p:nvSpPr>
          <p:cNvPr id="12" name="Roadmap row 2" descr="pptx-deck-generated"/>
          <p:cNvSpPr/>
          <p:nvPr/>
        </p:nvSpPr>
        <p:spPr>
          <a:xfrm>
            <a:off x="457200" y="3794760"/>
            <a:ext cx="11274552" cy="594359"/>
          </a:xfrm>
          <a:prstGeom prst="rect">
            <a:avLst/>
          </a:prstGeom>
          <a:solidFill>
            <a:schemeClr val="lt2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13" name="Roadmap row 4" descr="pptx-deck-generated"/>
          <p:cNvSpPr/>
          <p:nvPr/>
        </p:nvSpPr>
        <p:spPr>
          <a:xfrm>
            <a:off x="457200" y="4983479"/>
            <a:ext cx="11274552" cy="594359"/>
          </a:xfrm>
          <a:prstGeom prst="rect">
            <a:avLst/>
          </a:prstGeom>
          <a:solidFill>
            <a:schemeClr val="lt2"/>
          </a:solidFill>
        </p:spPr>
        <p:txBody>
          <a:bodyPr rtlCol="0" anchor="ctr"/>
          <a:lstStyle/>
          <a:p>
            <a:pPr algn="ctr"/>
          </a:p>
        </p:txBody>
      </p:sp>
      <p:cxnSp>
        <p:nvCxnSpPr>
          <p:cNvPr id="14" name="Roadmap grid 1" descr="pptx-deck-generated"/>
          <p:cNvCxnSpPr/>
          <p:nvPr/>
        </p:nvCxnSpPr>
        <p:spPr>
          <a:xfrm>
            <a:off x="2468880" y="3200400"/>
            <a:ext cx="0" cy="297180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15" name="Roadmap grid 2" descr="pptx-deck-generated"/>
          <p:cNvCxnSpPr/>
          <p:nvPr/>
        </p:nvCxnSpPr>
        <p:spPr>
          <a:xfrm>
            <a:off x="4784598" y="3200400"/>
            <a:ext cx="0" cy="297180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16" name="Roadmap grid 3" descr="pptx-deck-generated"/>
          <p:cNvCxnSpPr/>
          <p:nvPr/>
        </p:nvCxnSpPr>
        <p:spPr>
          <a:xfrm>
            <a:off x="7100316" y="3200400"/>
            <a:ext cx="0" cy="297180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17" name="Roadmap grid 4" descr="pptx-deck-generated"/>
          <p:cNvCxnSpPr/>
          <p:nvPr/>
        </p:nvCxnSpPr>
        <p:spPr>
          <a:xfrm>
            <a:off x="9416034" y="3200400"/>
            <a:ext cx="0" cy="297180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cxnSp>
        <p:nvCxnSpPr>
          <p:cNvPr id="18" name="Roadmap grid 5" descr="pptx-deck-generated"/>
          <p:cNvCxnSpPr/>
          <p:nvPr/>
        </p:nvCxnSpPr>
        <p:spPr>
          <a:xfrm>
            <a:off x="11731751" y="3200400"/>
            <a:ext cx="0" cy="297180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sp>
        <p:nvSpPr>
          <p:cNvPr id="19" name="Roadmap track 1" descr="pptx-deck-generated"/>
          <p:cNvSpPr txBox="1"/>
          <p:nvPr/>
        </p:nvSpPr>
        <p:spPr>
          <a:xfrm>
            <a:off x="493776" y="3227832"/>
            <a:ext cx="1920240" cy="539495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chemeClr val="dk1"/>
                </a:solidFill>
                <a:latin typeface="Yu Gothic"/>
                <a:ea typeface="Yu Gothic"/>
              </a:rPr>
              <a:t>運用設計</a:t>
            </a:r>
          </a:p>
        </p:txBody>
      </p:sp>
      <p:grpSp>
        <p:nvGrpSpPr>
          <p:cNvPr id="20" name="Roadmap 1" descr="pptx-deck-generated"/>
          <p:cNvGrpSpPr/>
          <p:nvPr/>
        </p:nvGrpSpPr>
        <p:grpSpPr>
          <a:xfrm>
            <a:off x="2505456" y="3305556"/>
            <a:ext cx="4558283" cy="384048"/>
            <a:chOff x="0" y="0"/>
            <a:chExt cx="4558283" cy="384048"/>
          </a:xfrm>
        </p:grpSpPr>
        <p:sp>
          <p:nvSpPr>
            <p:cNvPr id="21" name="Roadmap track 1 bar 1" descr="pptx-deck-generated"/>
            <p:cNvSpPr/>
            <p:nvPr/>
          </p:nvSpPr>
          <p:spPr>
            <a:xfrm>
              <a:off x="0" y="0"/>
              <a:ext cx="4558283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手順策定</a:t>
              </a:r>
            </a:p>
          </p:txBody>
        </p:sp>
      </p:grpSp>
      <p:sp>
        <p:nvSpPr>
          <p:cNvPr id="22" name="Roadmap track 2" descr="pptx-deck-generated"/>
          <p:cNvSpPr txBox="1"/>
          <p:nvPr/>
        </p:nvSpPr>
        <p:spPr>
          <a:xfrm>
            <a:off x="493776" y="3822192"/>
            <a:ext cx="1920240" cy="539495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chemeClr val="dk1"/>
                </a:solidFill>
                <a:latin typeface="Yu Gothic"/>
                <a:ea typeface="Yu Gothic"/>
              </a:rPr>
              <a:t>FAQ整備</a:t>
            </a:r>
          </a:p>
        </p:txBody>
      </p:sp>
      <p:grpSp>
        <p:nvGrpSpPr>
          <p:cNvPr id="23" name="Roadmap 11" descr="pptx-deck-generated"/>
          <p:cNvGrpSpPr/>
          <p:nvPr/>
        </p:nvGrpSpPr>
        <p:grpSpPr>
          <a:xfrm>
            <a:off x="2505456" y="3899916"/>
            <a:ext cx="6874001" cy="384048"/>
            <a:chOff x="0" y="0"/>
            <a:chExt cx="6874001" cy="384048"/>
          </a:xfrm>
        </p:grpSpPr>
        <p:sp>
          <p:nvSpPr>
            <p:cNvPr id="24" name="Roadmap track 2 bar 1" descr="pptx-deck-generated"/>
            <p:cNvSpPr/>
            <p:nvPr/>
          </p:nvSpPr>
          <p:spPr>
            <a:xfrm>
              <a:off x="0" y="0"/>
              <a:ext cx="6874001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初版・更新</a:t>
              </a:r>
            </a:p>
          </p:txBody>
        </p:sp>
      </p:grpSp>
      <p:sp>
        <p:nvSpPr>
          <p:cNvPr id="25" name="Roadmap track 3" descr="pptx-deck-generated"/>
          <p:cNvSpPr txBox="1"/>
          <p:nvPr/>
        </p:nvSpPr>
        <p:spPr>
          <a:xfrm>
            <a:off x="493776" y="4416552"/>
            <a:ext cx="1920240" cy="539495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chemeClr val="dk1"/>
                </a:solidFill>
                <a:latin typeface="Yu Gothic"/>
                <a:ea typeface="Yu Gothic"/>
              </a:rPr>
              <a:t>試行・展開</a:t>
            </a:r>
          </a:p>
        </p:txBody>
      </p:sp>
      <p:grpSp>
        <p:nvGrpSpPr>
          <p:cNvPr id="26" name="Roadmap 21" descr="pptx-deck-generated"/>
          <p:cNvGrpSpPr/>
          <p:nvPr/>
        </p:nvGrpSpPr>
        <p:grpSpPr>
          <a:xfrm>
            <a:off x="4821174" y="4494276"/>
            <a:ext cx="2242565" cy="384048"/>
            <a:chOff x="0" y="0"/>
            <a:chExt cx="2242565" cy="384048"/>
          </a:xfrm>
        </p:grpSpPr>
        <p:sp>
          <p:nvSpPr>
            <p:cNvPr id="27" name="Roadmap track 3 bar 1" descr="pptx-deck-generated"/>
            <p:cNvSpPr/>
            <p:nvPr/>
          </p:nvSpPr>
          <p:spPr>
            <a:xfrm>
              <a:off x="0" y="0"/>
              <a:ext cx="2242565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試行</a:t>
              </a:r>
            </a:p>
          </p:txBody>
        </p:sp>
      </p:grpSp>
      <p:grpSp>
        <p:nvGrpSpPr>
          <p:cNvPr id="28" name="Roadmap 22" descr="pptx-deck-generated"/>
          <p:cNvGrpSpPr/>
          <p:nvPr/>
        </p:nvGrpSpPr>
        <p:grpSpPr>
          <a:xfrm>
            <a:off x="7136892" y="4494276"/>
            <a:ext cx="4558283" cy="384048"/>
            <a:chOff x="0" y="0"/>
            <a:chExt cx="4558283" cy="384048"/>
          </a:xfrm>
        </p:grpSpPr>
        <p:sp>
          <p:nvSpPr>
            <p:cNvPr id="29" name="Roadmap track 3 bar 2" descr="pptx-deck-generated"/>
            <p:cNvSpPr/>
            <p:nvPr/>
          </p:nvSpPr>
          <p:spPr>
            <a:xfrm>
              <a:off x="0" y="0"/>
              <a:ext cx="4558283" cy="384048"/>
            </a:xfrm>
            <a:prstGeom prst="roundRect">
              <a:avLst>
                <a:gd name="adj" fmla="val 14286"/>
              </a:avLst>
            </a:prstGeom>
            <a:solidFill>
              <a:schemeClr val="accent2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dk1"/>
                  </a:solidFill>
                  <a:latin typeface="Yu Gothic"/>
                  <a:ea typeface="Yu Gothic"/>
                </a:rPr>
                <a:t>展開</a:t>
              </a:r>
            </a:p>
          </p:txBody>
        </p:sp>
      </p:grpSp>
      <p:sp>
        <p:nvSpPr>
          <p:cNvPr id="30" name="Roadmap track 4" descr="pptx-deck-generated"/>
          <p:cNvSpPr txBox="1"/>
          <p:nvPr/>
        </p:nvSpPr>
        <p:spPr>
          <a:xfrm>
            <a:off x="493776" y="5010912"/>
            <a:ext cx="1920240" cy="539495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chemeClr val="dk1"/>
                </a:solidFill>
                <a:latin typeface="Yu Gothic"/>
                <a:ea typeface="Yu Gothic"/>
              </a:rPr>
              <a:t>周知・説明</a:t>
            </a:r>
          </a:p>
        </p:txBody>
      </p:sp>
      <p:grpSp>
        <p:nvGrpSpPr>
          <p:cNvPr id="31" name="Roadmap 31" descr="pptx-deck-generated"/>
          <p:cNvGrpSpPr/>
          <p:nvPr/>
        </p:nvGrpSpPr>
        <p:grpSpPr>
          <a:xfrm>
            <a:off x="4821174" y="5088636"/>
            <a:ext cx="4558283" cy="384048"/>
            <a:chOff x="0" y="0"/>
            <a:chExt cx="4558283" cy="384048"/>
          </a:xfrm>
        </p:grpSpPr>
        <p:sp>
          <p:nvSpPr>
            <p:cNvPr id="32" name="Roadmap track 4 bar 1" descr="pptx-deck-generated"/>
            <p:cNvSpPr/>
            <p:nvPr/>
          </p:nvSpPr>
          <p:spPr>
            <a:xfrm>
              <a:off x="0" y="0"/>
              <a:ext cx="4558283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利用案内</a:t>
              </a:r>
            </a:p>
          </p:txBody>
        </p:sp>
      </p:grpSp>
      <p:sp>
        <p:nvSpPr>
          <p:cNvPr id="33" name="Roadmap track 5" descr="pptx-deck-generated"/>
          <p:cNvSpPr txBox="1"/>
          <p:nvPr/>
        </p:nvSpPr>
        <p:spPr>
          <a:xfrm>
            <a:off x="493776" y="5605272"/>
            <a:ext cx="1920240" cy="539495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chemeClr val="dk1"/>
                </a:solidFill>
                <a:latin typeface="Yu Gothic"/>
                <a:ea typeface="Yu Gothic"/>
              </a:rPr>
              <a:t>効果確認</a:t>
            </a:r>
          </a:p>
        </p:txBody>
      </p:sp>
      <p:grpSp>
        <p:nvGrpSpPr>
          <p:cNvPr id="34" name="Roadmap 41" descr="pptx-deck-generated"/>
          <p:cNvGrpSpPr/>
          <p:nvPr/>
        </p:nvGrpSpPr>
        <p:grpSpPr>
          <a:xfrm>
            <a:off x="7136892" y="5682996"/>
            <a:ext cx="4558283" cy="384048"/>
            <a:chOff x="0" y="0"/>
            <a:chExt cx="4558283" cy="384048"/>
          </a:xfrm>
        </p:grpSpPr>
        <p:sp>
          <p:nvSpPr>
            <p:cNvPr id="35" name="Roadmap track 5 bar 1" descr="pptx-deck-generated"/>
            <p:cNvSpPr/>
            <p:nvPr/>
          </p:nvSpPr>
          <p:spPr>
            <a:xfrm>
              <a:off x="0" y="0"/>
              <a:ext cx="4558283" cy="384048"/>
            </a:xfrm>
            <a:prstGeom prst="roundRect">
              <a:avLst>
                <a:gd name="adj" fmla="val 14286"/>
              </a:avLst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振り返り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誰でも同じ入口から相談できる</a:t>
            </a:r>
          </a:p>
        </p:txBody>
      </p:sp>
      <p:sp>
        <p:nvSpPr>
          <p:cNvPr id="3" name="Message banner accent" descr="pptx-deck-generated"/>
          <p:cNvSpPr/>
          <p:nvPr/>
        </p:nvSpPr>
        <p:spPr>
          <a:xfrm>
            <a:off x="457200" y="1645920"/>
            <a:ext cx="54864" cy="585215"/>
          </a:xfrm>
          <a:prstGeom prst="rect">
            <a:avLst/>
          </a:prstGeom>
          <a:solidFill>
            <a:schemeClr val="accent1"/>
          </a:solidFill>
        </p:spPr>
        <p:txBody>
          <a:bodyPr rtlCol="0" anchor="ctr"/>
          <a:lstStyle/>
          <a:p>
            <a:pPr algn="ctr"/>
          </a:p>
        </p:txBody>
      </p:sp>
      <p:sp>
        <p:nvSpPr>
          <p:cNvPr id="4" name="Message banner" descr="pptx-deck-generated"/>
          <p:cNvSpPr txBox="1"/>
          <p:nvPr/>
        </p:nvSpPr>
        <p:spPr>
          <a:xfrm>
            <a:off x="640080" y="1645920"/>
            <a:ext cx="11091672" cy="585215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chemeClr val="accent1"/>
                </a:solidFill>
                <a:latin typeface="Yu Gothic"/>
                <a:ea typeface="Yu Gothic"/>
              </a:rPr>
              <a:t>まず受付先を一本化する</a:t>
            </a:r>
          </a:p>
        </p:txBody>
      </p:sp>
      <p:grpSp>
        <p:nvGrpSpPr>
          <p:cNvPr id="5" name="Message 1" descr="pptx-deck-generated"/>
          <p:cNvGrpSpPr/>
          <p:nvPr/>
        </p:nvGrpSpPr>
        <p:grpSpPr>
          <a:xfrm>
            <a:off x="457200" y="2487168"/>
            <a:ext cx="3660647" cy="822960"/>
            <a:chOff x="0" y="0"/>
            <a:chExt cx="3660647" cy="822960"/>
          </a:xfrm>
        </p:grpSpPr>
        <p:sp>
          <p:nvSpPr>
            <p:cNvPr id="6" name="Message support 1 panel" descr="pptx-deck-generated"/>
            <p:cNvSpPr/>
            <p:nvPr/>
          </p:nvSpPr>
          <p:spPr>
            <a:xfrm>
              <a:off x="0" y="0"/>
              <a:ext cx="3660647" cy="822960"/>
            </a:xfrm>
            <a:prstGeom prst="roundRect">
              <a:avLst>
                <a:gd name="adj" fmla="val 6667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Message support 1 body" descr="pptx-deck-generated"/>
            <p:cNvSpPr txBox="1"/>
            <p:nvPr/>
          </p:nvSpPr>
          <p:spPr>
            <a:xfrm>
              <a:off x="109728" y="73152"/>
              <a:ext cx="3441191" cy="4328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共通フォーム</a:t>
              </a:r>
            </a:p>
          </p:txBody>
        </p:sp>
      </p:grpSp>
      <p:grpSp>
        <p:nvGrpSpPr>
          <p:cNvPr id="8" name="Message 2" descr="pptx-deck-generated"/>
          <p:cNvGrpSpPr/>
          <p:nvPr/>
        </p:nvGrpSpPr>
        <p:grpSpPr>
          <a:xfrm>
            <a:off x="4264152" y="2487168"/>
            <a:ext cx="3660647" cy="822960"/>
            <a:chOff x="0" y="0"/>
            <a:chExt cx="3660647" cy="822960"/>
          </a:xfrm>
        </p:grpSpPr>
        <p:sp>
          <p:nvSpPr>
            <p:cNvPr id="9" name="Message support 2 panel" descr="pptx-deck-generated"/>
            <p:cNvSpPr/>
            <p:nvPr/>
          </p:nvSpPr>
          <p:spPr>
            <a:xfrm>
              <a:off x="0" y="0"/>
              <a:ext cx="3660647" cy="822960"/>
            </a:xfrm>
            <a:prstGeom prst="roundRect">
              <a:avLst>
                <a:gd name="adj" fmla="val 6667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Message support 2 body" descr="pptx-deck-generated"/>
            <p:cNvSpPr txBox="1"/>
            <p:nvPr/>
          </p:nvSpPr>
          <p:spPr>
            <a:xfrm>
              <a:off x="109728" y="73152"/>
              <a:ext cx="3441191" cy="4328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共通の分類基準</a:t>
              </a:r>
            </a:p>
          </p:txBody>
        </p:sp>
      </p:grpSp>
      <p:grpSp>
        <p:nvGrpSpPr>
          <p:cNvPr id="11" name="Message 3" descr="pptx-deck-generated"/>
          <p:cNvGrpSpPr/>
          <p:nvPr/>
        </p:nvGrpSpPr>
        <p:grpSpPr>
          <a:xfrm>
            <a:off x="8071104" y="2487168"/>
            <a:ext cx="3660647" cy="822960"/>
            <a:chOff x="0" y="0"/>
            <a:chExt cx="3660647" cy="822960"/>
          </a:xfrm>
        </p:grpSpPr>
        <p:sp>
          <p:nvSpPr>
            <p:cNvPr id="12" name="Message support 3 panel" descr="pptx-deck-generated"/>
            <p:cNvSpPr/>
            <p:nvPr/>
          </p:nvSpPr>
          <p:spPr>
            <a:xfrm>
              <a:off x="0" y="0"/>
              <a:ext cx="3660647" cy="822960"/>
            </a:xfrm>
            <a:prstGeom prst="roundRect">
              <a:avLst>
                <a:gd name="adj" fmla="val 6667"/>
              </a:avLst>
            </a:prstGeom>
            <a:solidFill>
              <a:schemeClr val="lt1"/>
            </a:solidFill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Message support 3 body" descr="pptx-deck-generated"/>
            <p:cNvSpPr txBox="1"/>
            <p:nvPr/>
          </p:nvSpPr>
          <p:spPr>
            <a:xfrm>
              <a:off x="109727" y="73152"/>
              <a:ext cx="3441191" cy="4328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担当と進捗の見える化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対応履歴を組織の知識にする</a:t>
            </a:r>
          </a:p>
        </p:txBody>
      </p:sp>
      <p:sp>
        <p:nvSpPr>
          <p:cNvPr id="3" name="Message quote mark" descr="pptx-deck-generated"/>
          <p:cNvSpPr txBox="1"/>
          <p:nvPr/>
        </p:nvSpPr>
        <p:spPr>
          <a:xfrm>
            <a:off x="457200" y="1645920"/>
            <a:ext cx="502920" cy="475488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100" b="1">
                <a:solidFill>
                  <a:schemeClr val="accent2"/>
                </a:solidFill>
                <a:latin typeface="Yu Gothic"/>
                <a:ea typeface="Yu Gothic"/>
              </a:rPr>
              <a:t>“</a:t>
            </a:r>
          </a:p>
        </p:txBody>
      </p:sp>
      <p:sp>
        <p:nvSpPr>
          <p:cNvPr id="4" name="Message quote" descr="pptx-deck-generated"/>
          <p:cNvSpPr txBox="1"/>
          <p:nvPr/>
        </p:nvSpPr>
        <p:spPr>
          <a:xfrm>
            <a:off x="932688" y="1645920"/>
            <a:ext cx="10634472" cy="731520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200" b="1">
                <a:solidFill>
                  <a:schemeClr val="dk1"/>
                </a:solidFill>
                <a:latin typeface="Yu Gothic"/>
                <a:ea typeface="Yu Gothic"/>
              </a:rPr>
              <a:t>一度の回答を、次の人の近道に。</a:t>
            </a:r>
          </a:p>
        </p:txBody>
      </p:sp>
      <p:sp>
        <p:nvSpPr>
          <p:cNvPr id="5" name="Message quote support" descr="pptx-deck-generated"/>
          <p:cNvSpPr txBox="1"/>
          <p:nvPr/>
        </p:nvSpPr>
        <p:spPr>
          <a:xfrm>
            <a:off x="822960" y="2578608"/>
            <a:ext cx="10543032" cy="686816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ctr" marL="201168" indent="-109728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200" b="0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解決内容を記録</a:t>
            </a:r>
          </a:p>
          <a:p>
            <a:pPr algn="ctr" marL="201168" indent="-109728">
              <a:lnSpc>
                <a:spcPct val="100000"/>
              </a:lnSpc>
              <a:spcAft>
                <a:spcPts val="400"/>
              </a:spcAft>
              <a:buChar char="•"/>
            </a:pPr>
            <a:r>
              <a:rPr sz="1200" b="0">
                <a:solidFill>
                  <a:schemeClr val="dk1">
                    <a:lumMod val="65000"/>
                    <a:lumOff val="35000"/>
                  </a:schemeClr>
                </a:solidFill>
                <a:latin typeface="Yu Gothic"/>
                <a:ea typeface="Yu Gothic"/>
              </a:rPr>
              <a:t>FAQを継続更新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試行前に役割を決める</a:t>
            </a:r>
          </a:p>
        </p:txBody>
      </p:sp>
      <p:sp>
        <p:nvSpPr>
          <p:cNvPr id="3" name="Checklist heading 項目" descr="pptx-deck-generated"/>
          <p:cNvSpPr txBox="1"/>
          <p:nvPr/>
        </p:nvSpPr>
        <p:spPr>
          <a:xfrm>
            <a:off x="932688" y="1645920"/>
            <a:ext cx="5975512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chemeClr val="dk1"/>
                </a:solidFill>
                <a:latin typeface="Yu Gothic"/>
                <a:ea typeface="Yu Gothic"/>
              </a:rPr>
              <a:t>項目</a:t>
            </a:r>
          </a:p>
        </p:txBody>
      </p:sp>
      <p:sp>
        <p:nvSpPr>
          <p:cNvPr id="4" name="Checklist heading 担当" descr="pptx-deck-generated"/>
          <p:cNvSpPr txBox="1"/>
          <p:nvPr/>
        </p:nvSpPr>
        <p:spPr>
          <a:xfrm>
            <a:off x="8574877" y="1645920"/>
            <a:ext cx="1691182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chemeClr val="dk1"/>
                </a:solidFill>
                <a:latin typeface="Yu Gothic"/>
                <a:ea typeface="Yu Gothic"/>
              </a:rPr>
              <a:t>担当</a:t>
            </a:r>
          </a:p>
        </p:txBody>
      </p:sp>
      <p:sp>
        <p:nvSpPr>
          <p:cNvPr id="5" name="Checklist heading 期限" descr="pptx-deck-generated"/>
          <p:cNvSpPr txBox="1"/>
          <p:nvPr/>
        </p:nvSpPr>
        <p:spPr>
          <a:xfrm>
            <a:off x="10378805" y="1645920"/>
            <a:ext cx="1240200" cy="347472"/>
          </a:xfrm>
          <a:prstGeom prst="rect">
            <a:avLst/>
          </a:prstGeom>
          <a:noFill/>
          <a:ln>
            <a:noFill/>
          </a:ln>
        </p:spPr>
        <p:txBody>
          <a:bodyPr wrap="square" anchor="t" lIns="109728" rIns="109728" tIns="73152" bIns="73152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chemeClr val="dk1"/>
                </a:solidFill>
                <a:latin typeface="Yu Gothic"/>
                <a:ea typeface="Yu Gothic"/>
              </a:rPr>
              <a:t>期限</a:t>
            </a:r>
          </a:p>
        </p:txBody>
      </p:sp>
      <p:cxnSp>
        <p:nvCxnSpPr>
          <p:cNvPr id="6" name="Checklist heading divider" descr="pptx-deck-generated"/>
          <p:cNvCxnSpPr/>
          <p:nvPr/>
        </p:nvCxnSpPr>
        <p:spPr>
          <a:xfrm>
            <a:off x="457200" y="1993392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7" name="Checklist 1" descr="pptx-deck-generated"/>
          <p:cNvGrpSpPr/>
          <p:nvPr/>
        </p:nvGrpSpPr>
        <p:grpSpPr>
          <a:xfrm>
            <a:off x="484632" y="2011680"/>
            <a:ext cx="11134373" cy="548640"/>
            <a:chOff x="0" y="0"/>
            <a:chExt cx="11134373" cy="548640"/>
          </a:xfrm>
        </p:grpSpPr>
        <p:sp>
          <p:nvSpPr>
            <p:cNvPr id="8" name="Checklist status 1" descr="pptx-deck-generated"/>
            <p:cNvSpPr/>
            <p:nvPr/>
          </p:nvSpPr>
          <p:spPr>
            <a:xfrm>
              <a:off x="0" y="100584"/>
              <a:ext cx="347472" cy="347472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✓</a:t>
              </a:r>
            </a:p>
          </p:txBody>
        </p:sp>
        <p:sp>
          <p:nvSpPr>
            <p:cNvPr id="9" name="Checklist item 1" descr="pptx-deck-generated"/>
            <p:cNvSpPr txBox="1"/>
            <p:nvPr/>
          </p:nvSpPr>
          <p:spPr>
            <a:xfrm>
              <a:off x="356615" y="0"/>
              <a:ext cx="547871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対象部門と問い合わせ範囲を決める</a:t>
              </a:r>
            </a:p>
          </p:txBody>
        </p:sp>
        <p:sp>
          <p:nvSpPr>
            <p:cNvPr id="10" name="Checklist owner 1" descr="pptx-deck-generated"/>
            <p:cNvSpPr txBox="1"/>
            <p:nvPr/>
          </p:nvSpPr>
          <p:spPr>
            <a:xfrm>
              <a:off x="8090245" y="0"/>
              <a:ext cx="169118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/>
              </a:r>
            </a:p>
          </p:txBody>
        </p:sp>
        <p:sp>
          <p:nvSpPr>
            <p:cNvPr id="11" name="Checklist due 1" descr="pptx-deck-generated"/>
            <p:cNvSpPr txBox="1"/>
            <p:nvPr/>
          </p:nvSpPr>
          <p:spPr>
            <a:xfrm>
              <a:off x="9894173" y="0"/>
              <a:ext cx="12402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/>
              </a:r>
            </a:p>
          </p:txBody>
        </p:sp>
      </p:grpSp>
      <p:grpSp>
        <p:nvGrpSpPr>
          <p:cNvPr id="12" name="Checklist 2" descr="pptx-deck-generated"/>
          <p:cNvGrpSpPr/>
          <p:nvPr/>
        </p:nvGrpSpPr>
        <p:grpSpPr>
          <a:xfrm>
            <a:off x="484632" y="2596896"/>
            <a:ext cx="11134373" cy="548640"/>
            <a:chOff x="0" y="0"/>
            <a:chExt cx="11134373" cy="548640"/>
          </a:xfrm>
        </p:grpSpPr>
        <p:sp>
          <p:nvSpPr>
            <p:cNvPr id="13" name="Checklist status 2" descr="pptx-deck-generated"/>
            <p:cNvSpPr/>
            <p:nvPr/>
          </p:nvSpPr>
          <p:spPr>
            <a:xfrm>
              <a:off x="0" y="100584"/>
              <a:ext cx="347472" cy="347472"/>
            </a:xfrm>
            <a:prstGeom prst="ellipse">
              <a:avLst/>
            </a:prstGeom>
            <a:noFill/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Checklist item 2" descr="pptx-deck-generated"/>
            <p:cNvSpPr txBox="1"/>
            <p:nvPr/>
          </p:nvSpPr>
          <p:spPr>
            <a:xfrm>
              <a:off x="356615" y="0"/>
              <a:ext cx="547871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受付フォームの項目を確定する</a:t>
              </a:r>
            </a:p>
          </p:txBody>
        </p:sp>
        <p:sp>
          <p:nvSpPr>
            <p:cNvPr id="15" name="Checklist owner 2" descr="pptx-deck-generated"/>
            <p:cNvSpPr txBox="1"/>
            <p:nvPr/>
          </p:nvSpPr>
          <p:spPr>
            <a:xfrm>
              <a:off x="8090245" y="0"/>
              <a:ext cx="169118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業務企画</a:t>
              </a:r>
            </a:p>
          </p:txBody>
        </p:sp>
        <p:sp>
          <p:nvSpPr>
            <p:cNvPr id="16" name="Checklist due 2" descr="pptx-deck-generated"/>
            <p:cNvSpPr txBox="1"/>
            <p:nvPr/>
          </p:nvSpPr>
          <p:spPr>
            <a:xfrm>
              <a:off x="9894173" y="0"/>
              <a:ext cx="12402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10月中</a:t>
              </a:r>
            </a:p>
          </p:txBody>
        </p:sp>
      </p:grpSp>
      <p:cxnSp>
        <p:nvCxnSpPr>
          <p:cNvPr id="17" name="Checklist divider 2" descr="pptx-deck-generated"/>
          <p:cNvCxnSpPr/>
          <p:nvPr/>
        </p:nvCxnSpPr>
        <p:spPr>
          <a:xfrm>
            <a:off x="457200" y="2578608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18" name="Checklist 3" descr="pptx-deck-generated"/>
          <p:cNvGrpSpPr/>
          <p:nvPr/>
        </p:nvGrpSpPr>
        <p:grpSpPr>
          <a:xfrm>
            <a:off x="484632" y="3182112"/>
            <a:ext cx="11134373" cy="548640"/>
            <a:chOff x="0" y="0"/>
            <a:chExt cx="11134373" cy="548640"/>
          </a:xfrm>
        </p:grpSpPr>
        <p:sp>
          <p:nvSpPr>
            <p:cNvPr id="19" name="Checklist status 3" descr="pptx-deck-generated"/>
            <p:cNvSpPr/>
            <p:nvPr/>
          </p:nvSpPr>
          <p:spPr>
            <a:xfrm>
              <a:off x="0" y="100584"/>
              <a:ext cx="347472" cy="347472"/>
            </a:xfrm>
            <a:prstGeom prst="ellipse">
              <a:avLst/>
            </a:prstGeom>
            <a:solidFill>
              <a:schemeClr val="accent2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dk1"/>
                  </a:solidFill>
                  <a:latin typeface="Yu Gothic"/>
                  <a:ea typeface="Yu Gothic"/>
                </a:rPr>
                <a:t>!</a:t>
              </a:r>
            </a:p>
          </p:txBody>
        </p:sp>
        <p:sp>
          <p:nvSpPr>
            <p:cNvPr id="20" name="Checklist item 3" descr="pptx-deck-generated"/>
            <p:cNvSpPr txBox="1"/>
            <p:nvPr/>
          </p:nvSpPr>
          <p:spPr>
            <a:xfrm>
              <a:off x="356615" y="0"/>
              <a:ext cx="547871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一次窓口の当番表を作成する</a:t>
              </a:r>
            </a:p>
          </p:txBody>
        </p:sp>
        <p:sp>
          <p:nvSpPr>
            <p:cNvPr id="21" name="Checklist owner 3" descr="pptx-deck-generated"/>
            <p:cNvSpPr txBox="1"/>
            <p:nvPr/>
          </p:nvSpPr>
          <p:spPr>
            <a:xfrm>
              <a:off x="8090245" y="0"/>
              <a:ext cx="169118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情シス</a:t>
              </a:r>
            </a:p>
          </p:txBody>
        </p:sp>
        <p:sp>
          <p:nvSpPr>
            <p:cNvPr id="22" name="Checklist due 3" descr="pptx-deck-generated"/>
            <p:cNvSpPr txBox="1"/>
            <p:nvPr/>
          </p:nvSpPr>
          <p:spPr>
            <a:xfrm>
              <a:off x="9894173" y="0"/>
              <a:ext cx="12402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試行前</a:t>
              </a:r>
            </a:p>
          </p:txBody>
        </p:sp>
      </p:grpSp>
      <p:cxnSp>
        <p:nvCxnSpPr>
          <p:cNvPr id="23" name="Checklist divider 3" descr="pptx-deck-generated"/>
          <p:cNvCxnSpPr/>
          <p:nvPr/>
        </p:nvCxnSpPr>
        <p:spPr>
          <a:xfrm>
            <a:off x="457200" y="3163824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24" name="Checklist 4" descr="pptx-deck-generated"/>
          <p:cNvGrpSpPr/>
          <p:nvPr/>
        </p:nvGrpSpPr>
        <p:grpSpPr>
          <a:xfrm>
            <a:off x="484632" y="3767327"/>
            <a:ext cx="11134373" cy="548640"/>
            <a:chOff x="0" y="0"/>
            <a:chExt cx="11134373" cy="548640"/>
          </a:xfrm>
        </p:grpSpPr>
        <p:sp>
          <p:nvSpPr>
            <p:cNvPr id="25" name="Checklist status 4" descr="pptx-deck-generated"/>
            <p:cNvSpPr/>
            <p:nvPr/>
          </p:nvSpPr>
          <p:spPr>
            <a:xfrm>
              <a:off x="0" y="100584"/>
              <a:ext cx="347472" cy="347472"/>
            </a:xfrm>
            <a:prstGeom prst="ellipse">
              <a:avLst/>
            </a:prstGeom>
            <a:noFill/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Checklist item 4" descr="pptx-deck-generated"/>
            <p:cNvSpPr txBox="1"/>
            <p:nvPr/>
          </p:nvSpPr>
          <p:spPr>
            <a:xfrm>
              <a:off x="356615" y="0"/>
              <a:ext cx="547871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FAQの更新責任者を決める</a:t>
              </a:r>
            </a:p>
          </p:txBody>
        </p:sp>
        <p:sp>
          <p:nvSpPr>
            <p:cNvPr id="27" name="Checklist owner 4" descr="pptx-deck-generated"/>
            <p:cNvSpPr txBox="1"/>
            <p:nvPr/>
          </p:nvSpPr>
          <p:spPr>
            <a:xfrm>
              <a:off x="8090245" y="0"/>
              <a:ext cx="169118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/>
              </a:r>
            </a:p>
          </p:txBody>
        </p:sp>
        <p:sp>
          <p:nvSpPr>
            <p:cNvPr id="28" name="Checklist due 4" descr="pptx-deck-generated"/>
            <p:cNvSpPr txBox="1"/>
            <p:nvPr/>
          </p:nvSpPr>
          <p:spPr>
            <a:xfrm>
              <a:off x="9894173" y="0"/>
              <a:ext cx="12402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/>
              </a:r>
            </a:p>
          </p:txBody>
        </p:sp>
      </p:grpSp>
      <p:cxnSp>
        <p:nvCxnSpPr>
          <p:cNvPr id="29" name="Checklist divider 4" descr="pptx-deck-generated"/>
          <p:cNvCxnSpPr/>
          <p:nvPr/>
        </p:nvCxnSpPr>
        <p:spPr>
          <a:xfrm>
            <a:off x="457200" y="3749039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30" name="Checklist 5" descr="pptx-deck-generated"/>
          <p:cNvGrpSpPr/>
          <p:nvPr/>
        </p:nvGrpSpPr>
        <p:grpSpPr>
          <a:xfrm>
            <a:off x="484632" y="4352544"/>
            <a:ext cx="11134373" cy="548640"/>
            <a:chOff x="0" y="0"/>
            <a:chExt cx="11134373" cy="548640"/>
          </a:xfrm>
        </p:grpSpPr>
        <p:sp>
          <p:nvSpPr>
            <p:cNvPr id="31" name="Checklist status 5" descr="pptx-deck-generated"/>
            <p:cNvSpPr/>
            <p:nvPr/>
          </p:nvSpPr>
          <p:spPr>
            <a:xfrm>
              <a:off x="0" y="100584"/>
              <a:ext cx="347472" cy="347472"/>
            </a:xfrm>
            <a:prstGeom prst="ellipse">
              <a:avLst/>
            </a:prstGeom>
            <a:noFill/>
            <a:ln w="9525">
              <a:solidFill>
                <a:schemeClr val="lt1">
                  <a:lumMod val="85000"/>
                </a:schemeClr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Checklist item 5" descr="pptx-deck-generated"/>
            <p:cNvSpPr txBox="1"/>
            <p:nvPr/>
          </p:nvSpPr>
          <p:spPr>
            <a:xfrm>
              <a:off x="356615" y="0"/>
              <a:ext cx="547871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問い合わせ件数と対応状況の確認方法を決める</a:t>
              </a:r>
            </a:p>
          </p:txBody>
        </p:sp>
        <p:sp>
          <p:nvSpPr>
            <p:cNvPr id="33" name="Checklist owner 5" descr="pptx-deck-generated"/>
            <p:cNvSpPr txBox="1"/>
            <p:nvPr/>
          </p:nvSpPr>
          <p:spPr>
            <a:xfrm>
              <a:off x="8090245" y="0"/>
              <a:ext cx="169118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運用担当</a:t>
              </a:r>
            </a:p>
          </p:txBody>
        </p:sp>
        <p:sp>
          <p:nvSpPr>
            <p:cNvPr id="34" name="Checklist due 5" descr="pptx-deck-generated"/>
            <p:cNvSpPr txBox="1"/>
            <p:nvPr/>
          </p:nvSpPr>
          <p:spPr>
            <a:xfrm>
              <a:off x="9894173" y="0"/>
              <a:ext cx="12402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試行開始前</a:t>
              </a:r>
            </a:p>
          </p:txBody>
        </p:sp>
      </p:grpSp>
      <p:cxnSp>
        <p:nvCxnSpPr>
          <p:cNvPr id="35" name="Checklist divider 5" descr="pptx-deck-generated"/>
          <p:cNvCxnSpPr/>
          <p:nvPr/>
        </p:nvCxnSpPr>
        <p:spPr>
          <a:xfrm>
            <a:off x="457200" y="4334256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  <p:grpSp>
        <p:nvGrpSpPr>
          <p:cNvPr id="36" name="Checklist 6" descr="pptx-deck-generated"/>
          <p:cNvGrpSpPr/>
          <p:nvPr/>
        </p:nvGrpSpPr>
        <p:grpSpPr>
          <a:xfrm>
            <a:off x="484632" y="4937760"/>
            <a:ext cx="11134373" cy="548640"/>
            <a:chOff x="0" y="0"/>
            <a:chExt cx="11134373" cy="548640"/>
          </a:xfrm>
        </p:grpSpPr>
        <p:sp>
          <p:nvSpPr>
            <p:cNvPr id="37" name="Checklist status 6" descr="pptx-deck-generated"/>
            <p:cNvSpPr/>
            <p:nvPr/>
          </p:nvSpPr>
          <p:spPr>
            <a:xfrm>
              <a:off x="0" y="100584"/>
              <a:ext cx="347472" cy="347472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200" b="1">
                  <a:solidFill>
                    <a:schemeClr val="lt1"/>
                  </a:solidFill>
                  <a:latin typeface="Yu Gothic"/>
                  <a:ea typeface="Yu Gothic"/>
                </a:rPr>
                <a:t>✓</a:t>
              </a:r>
            </a:p>
          </p:txBody>
        </p:sp>
        <p:sp>
          <p:nvSpPr>
            <p:cNvPr id="38" name="Checklist item 6" descr="pptx-deck-generated"/>
            <p:cNvSpPr txBox="1"/>
            <p:nvPr/>
          </p:nvSpPr>
          <p:spPr>
            <a:xfrm>
              <a:off x="356615" y="0"/>
              <a:ext cx="5478719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試行結果を確認する日程を設定する</a:t>
              </a:r>
            </a:p>
          </p:txBody>
        </p:sp>
        <p:sp>
          <p:nvSpPr>
            <p:cNvPr id="39" name="Checklist owner 6" descr="pptx-deck-generated"/>
            <p:cNvSpPr txBox="1"/>
            <p:nvPr/>
          </p:nvSpPr>
          <p:spPr>
            <a:xfrm>
              <a:off x="8090245" y="0"/>
              <a:ext cx="1691182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/>
              </a:r>
            </a:p>
          </p:txBody>
        </p:sp>
        <p:sp>
          <p:nvSpPr>
            <p:cNvPr id="40" name="Checklist due 6" descr="pptx-deck-generated"/>
            <p:cNvSpPr txBox="1"/>
            <p:nvPr/>
          </p:nvSpPr>
          <p:spPr>
            <a:xfrm>
              <a:off x="9894173" y="0"/>
              <a:ext cx="12402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/>
              </a:r>
            </a:p>
          </p:txBody>
        </p:sp>
      </p:grpSp>
      <p:cxnSp>
        <p:nvCxnSpPr>
          <p:cNvPr id="41" name="Checklist divider 6" descr="pptx-deck-generated"/>
          <p:cNvCxnSpPr/>
          <p:nvPr/>
        </p:nvCxnSpPr>
        <p:spPr>
          <a:xfrm>
            <a:off x="457200" y="4919472"/>
            <a:ext cx="11274552" cy="0"/>
          </a:xfrm>
          <a:prstGeom prst="line">
            <a:avLst/>
          </a:prstGeom>
          <a:ln w="9525">
            <a:solidFill>
              <a:schemeClr val="lt1">
                <a:lumMod val="85000"/>
              </a:schemeClr>
            </a:solidFill>
          </a:ln>
        </p:spPr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FAQの効果を検証する</a:t>
            </a:r>
          </a:p>
        </p:txBody>
      </p:sp>
      <p:graphicFrame>
        <p:nvGraphicFramePr>
          <p:cNvPr id="3" name="Library chart" descr="pptx-deck-generated"/>
          <p:cNvGraphicFramePr>
            <a:graphicFrameLocks noGrp="1"/>
          </p:cNvGraphicFramePr>
          <p:nvPr/>
        </p:nvGraphicFramePr>
        <p:xfrm>
          <a:off x="457200" y="1645920"/>
          <a:ext cx="6990222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Chart key points panel" descr="pptx-deck-generated"/>
          <p:cNvSpPr/>
          <p:nvPr/>
        </p:nvSpPr>
        <p:spPr>
          <a:xfrm>
            <a:off x="7557150" y="1645920"/>
            <a:ext cx="4174601" cy="1883664"/>
          </a:xfrm>
          <a:prstGeom prst="roundRect">
            <a:avLst>
              <a:gd name="adj" fmla="val 2913"/>
            </a:avLst>
          </a:prstGeom>
          <a:solidFill>
            <a:schemeClr val="lt2"/>
          </a:solidFill>
          <a:ln w="9525">
            <a:solidFill>
              <a:schemeClr val="lt1">
                <a:lumMod val="85000"/>
              </a:schemeClr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5" name="Chart 1" descr="pptx-deck-generated"/>
          <p:cNvGrpSpPr/>
          <p:nvPr/>
        </p:nvGrpSpPr>
        <p:grpSpPr>
          <a:xfrm>
            <a:off x="7676022" y="1719072"/>
            <a:ext cx="3946001" cy="554735"/>
            <a:chOff x="0" y="0"/>
            <a:chExt cx="3946001" cy="554735"/>
          </a:xfrm>
        </p:grpSpPr>
        <p:sp>
          <p:nvSpPr>
            <p:cNvPr id="6" name="Chart point 1 number" descr="pptx-deck-generated"/>
            <p:cNvSpPr/>
            <p:nvPr/>
          </p:nvSpPr>
          <p:spPr>
            <a:xfrm>
              <a:off x="0" y="121919"/>
              <a:ext cx="310896" cy="310896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1">
                  <a:solidFill>
                    <a:schemeClr val="lt1"/>
                  </a:solidFill>
                  <a:latin typeface="Yu Gothic"/>
                  <a:ea typeface="Yu Gothic"/>
                </a:rPr>
                <a:t>1</a:t>
              </a:r>
            </a:p>
          </p:txBody>
        </p:sp>
        <p:sp>
          <p:nvSpPr>
            <p:cNvPr id="7" name="Chart point 1" descr="pptx-deck-generated"/>
            <p:cNvSpPr txBox="1"/>
            <p:nvPr/>
          </p:nvSpPr>
          <p:spPr>
            <a:xfrm>
              <a:off x="374904" y="0"/>
              <a:ext cx="3571097" cy="55473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FAQ利用の推移を確認</a:t>
              </a:r>
            </a:p>
          </p:txBody>
        </p:sp>
      </p:grpSp>
      <p:grpSp>
        <p:nvGrpSpPr>
          <p:cNvPr id="8" name="Chart 2" descr="pptx-deck-generated"/>
          <p:cNvGrpSpPr/>
          <p:nvPr/>
        </p:nvGrpSpPr>
        <p:grpSpPr>
          <a:xfrm>
            <a:off x="7676022" y="2310384"/>
            <a:ext cx="3946001" cy="554735"/>
            <a:chOff x="0" y="0"/>
            <a:chExt cx="3946001" cy="554735"/>
          </a:xfrm>
        </p:grpSpPr>
        <p:sp>
          <p:nvSpPr>
            <p:cNvPr id="9" name="Chart point 2 number" descr="pptx-deck-generated"/>
            <p:cNvSpPr/>
            <p:nvPr/>
          </p:nvSpPr>
          <p:spPr>
            <a:xfrm>
              <a:off x="0" y="121920"/>
              <a:ext cx="310896" cy="310896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1">
                  <a:solidFill>
                    <a:schemeClr val="lt1"/>
                  </a:solidFill>
                  <a:latin typeface="Yu Gothic"/>
                  <a:ea typeface="Yu Gothic"/>
                </a:rPr>
                <a:t>2</a:t>
              </a:r>
            </a:p>
          </p:txBody>
        </p:sp>
        <p:sp>
          <p:nvSpPr>
            <p:cNvPr id="10" name="Chart point 2" descr="pptx-deck-generated"/>
            <p:cNvSpPr txBox="1"/>
            <p:nvPr/>
          </p:nvSpPr>
          <p:spPr>
            <a:xfrm>
              <a:off x="374904" y="0"/>
              <a:ext cx="3571097" cy="55473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未解決の理由を分類</a:t>
              </a:r>
            </a:p>
          </p:txBody>
        </p:sp>
      </p:grpSp>
      <p:grpSp>
        <p:nvGrpSpPr>
          <p:cNvPr id="11" name="Chart 3" descr="pptx-deck-generated"/>
          <p:cNvGrpSpPr/>
          <p:nvPr/>
        </p:nvGrpSpPr>
        <p:grpSpPr>
          <a:xfrm>
            <a:off x="7676022" y="2901696"/>
            <a:ext cx="3946001" cy="554735"/>
            <a:chOff x="0" y="0"/>
            <a:chExt cx="3946001" cy="554735"/>
          </a:xfrm>
        </p:grpSpPr>
        <p:sp>
          <p:nvSpPr>
            <p:cNvPr id="12" name="Chart point 3 number" descr="pptx-deck-generated"/>
            <p:cNvSpPr/>
            <p:nvPr/>
          </p:nvSpPr>
          <p:spPr>
            <a:xfrm>
              <a:off x="0" y="121920"/>
              <a:ext cx="310896" cy="310896"/>
            </a:xfrm>
            <a:prstGeom prst="ellipse">
              <a:avLst/>
            </a:prstGeom>
            <a:solidFill>
              <a:schemeClr val="accent1"/>
            </a:solidFill>
          </p:spPr>
          <p:txBody>
            <a:bodyPr rtlCol="0" anchor="ctr" wrap="square" lIns="109728" rIns="109728" tIns="73152" bIns="73152"/>
            <a:lstStyle/>
            <a:p>
              <a:pPr algn="ctr">
                <a:lnSpc>
                  <a:spcPct val="100000"/>
                </a:lnSpc>
                <a:spcAft>
                  <a:spcPts val="0"/>
                </a:spcAft>
              </a:pPr>
              <a:r>
                <a:rPr sz="1000" b="1">
                  <a:solidFill>
                    <a:schemeClr val="lt1"/>
                  </a:solidFill>
                  <a:latin typeface="Yu Gothic"/>
                  <a:ea typeface="Yu Gothic"/>
                </a:rPr>
                <a:t>3</a:t>
              </a:r>
            </a:p>
          </p:txBody>
        </p:sp>
        <p:sp>
          <p:nvSpPr>
            <p:cNvPr id="13" name="Chart point 3" descr="pptx-deck-generated"/>
            <p:cNvSpPr txBox="1"/>
            <p:nvPr/>
          </p:nvSpPr>
          <p:spPr>
            <a:xfrm>
              <a:off x="374904" y="0"/>
              <a:ext cx="3571097" cy="55473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anchor="t" lIns="109728" rIns="109728" tIns="73152" bIns="73152">
              <a:spAutoFit/>
            </a:bodyPr>
            <a:lstStyle/>
            <a:p>
              <a:pPr algn="l">
                <a:lnSpc>
                  <a:spcPct val="100000"/>
                </a:lnSpc>
                <a:spcAft>
                  <a:spcPts val="0"/>
                </a:spcAft>
              </a:pPr>
              <a:r>
                <a:rPr sz="1400" b="0">
                  <a:solidFill>
                    <a:schemeClr val="dk1"/>
                  </a:solidFill>
                  <a:latin typeface="Yu Gothic"/>
                  <a:ea typeface="Yu Gothic"/>
                </a:rPr>
                <a:t>月次で内容を更新</a:t>
              </a:r>
            </a:p>
          </p:txBody>
        </p:sp>
      </p:grp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760"/>
            <a:ext cx="11274552" cy="1051560"/>
          </a:xfrm>
        </p:spPr>
        <p:txBody>
          <a:bodyPr/>
          <a:lstStyle/>
          <a:p>
            <a:r>
              <a:t>受付・解決数を把握</a:t>
            </a:r>
          </a:p>
        </p:txBody>
      </p:sp>
      <p:graphicFrame>
        <p:nvGraphicFramePr>
          <p:cNvPr id="3" name="Library chart" descr="pptx-deck-generated"/>
          <p:cNvGraphicFramePr>
            <a:graphicFrameLocks noGrp="1"/>
          </p:cNvGraphicFramePr>
          <p:nvPr/>
        </p:nvGraphicFramePr>
        <p:xfrm>
          <a:off x="457200" y="1645920"/>
          <a:ext cx="11274552" cy="3154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202124"/>
      </a:dk1>
      <a:lt1>
        <a:srgbClr val="FFFFFF"/>
      </a:lt1>
      <a:dk2>
        <a:srgbClr val="0F5B4F"/>
      </a:dk2>
      <a:lt2>
        <a:srgbClr val="EEF4F2"/>
      </a:lt2>
      <a:accent1>
        <a:srgbClr val="0F5B4F"/>
      </a:accent1>
      <a:accent2>
        <a:srgbClr val="E07A1F"/>
      </a:accent2>
      <a:accent3>
        <a:srgbClr val="6C817B"/>
      </a:accent3>
      <a:accent4>
        <a:srgbClr val="9DAEA9"/>
      </a:accent4>
      <a:accent5>
        <a:srgbClr val="CAD4D1"/>
      </a:accent5>
      <a:accent6>
        <a:srgbClr val="718782"/>
      </a:accent6>
      <a:hlink>
        <a:srgbClr val="E07A1F"/>
      </a:hlink>
      <a:folHlink>
        <a:srgbClr val="8F5522"/>
      </a:folHlink>
    </a:clrScheme>
    <a:fontScheme name="Office">
      <a:majorFont>
        <a:latin typeface="Yu Gothic"/>
        <a:ea typeface="Yu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Yu Gothic"/>
        <a:ea typeface="Yu Gothic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