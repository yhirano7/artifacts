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自己解決率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0.42</c:v>
                </c:pt>
                <c:pt idx="1">
                  <c:v>0.58</c:v>
                </c:pt>
                <c:pt idx="2">
                  <c:v>0.72</c:v>
                </c:pt>
              </c:numCache>
            </c:numRef>
          </c:val>
          <c:spPr>
            <a:solidFill>
              <a:schemeClr val="accent1"/>
            </a:solidFill>
          </c:spPr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chemeClr val="dk1"/>
          </a:solidFill>
        </a:defRPr>
      </a:pPr>
      <a:endParaRPr lang="en-US" sz="1600">
        <a:solidFill>
          <a:schemeClr val="dk1"/>
        </a:solidFill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受付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  <c:pt idx="3">
                  <c:v>1月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146</c:v>
                </c:pt>
              </c:numCache>
            </c:numRef>
          </c:val>
          <c:smooth val="0"/>
          <c:spPr>
            <a:solidFill>
              <a:schemeClr val="accent1"/>
            </a:solidFill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解決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  <c:pt idx="3">
                  <c:v>1月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</c:v>
                </c:pt>
                <c:pt idx="1">
                  <c:v>122</c:v>
                </c:pt>
                <c:pt idx="2">
                  <c:v>136</c:v>
                </c:pt>
                <c:pt idx="3">
                  <c:v>158</c:v>
                </c:pt>
              </c:numCache>
            </c:numRef>
          </c:val>
          <c:smooth val="0"/>
          <c:spPr>
            <a:solidFill>
              <a:schemeClr val="accent2"/>
            </a:solidFill>
          </c:spPr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600">
          <a:solidFill>
            <a:schemeClr val="dk1"/>
          </a:solidFill>
        </a:defRPr>
      </a:pPr>
      <a:endParaRPr lang="en-US" sz="1600">
        <a:solidFill>
          <a:schemeClr val="dk1"/>
        </a:solidFill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窓口を一本化し、共通の分類と回答ナレッジで運用する。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標準化した受付情報をチーム間で共有する。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試行結果を反映してから全社へ展開する。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数値は初期目標の例であり、試行結果に基づいて見直す。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初期の運用目標をシンプルに示した例。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受付から記録までの標準フローを示す。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問い合わせをナレッジ改善へつなげる循環を示す。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部門をまたぐ問い合わせの流れを示す。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導入前後の運用差を比較する。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一次窓口と専門チームの役割分担を示す。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分類基準は部門間で合意して運用する。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自己解決を土台に、専門性が必要な案件へ人員を集中する。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共通の受付情報を使って担当を判断する。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日々の対応とナレッジ更新をつなぐ。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複数の運用要素を一体として整備する。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小規模な試行で受付項目を確かめてから対象を広げる。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提案の中心となるメッセージを強調する。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ナレッジ共有の目指す状態を短く表現する。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準備状況と担当・期限を一覧で確認する。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数値は運用イメージを示す架空の例で、実績値ではない。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問い合わせ件数は説明用の架空データ。受付と解決の差を継続確認する。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表はテンプレの表が無いか、トーン付けが要るときにライブラリで描く。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表はテンプレの表が無いか、トーン付けが要るときにライブラリで描く。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評価表は合計を自動計算し、推奨列を強調する。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評価表は合計を自動計算し、推奨列を強調する。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時系列は日付と出来事を対で置く。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時系列は日付と出来事を対で置く。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ロジックツリーは葉にアクションIDを付けて後続スライドとつなぐ。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中心と周辺の関係を示す。flowは入力から出力への流れ。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中心と周辺の関係を示す。flowは入力から出力への流れ。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担当ごとのレーンで手順の受け渡しを示す。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課題から打ち手、担当、期限、完了条件までを1行で結ぶ。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377440"/>
            <a:ext cx="10515600" cy="685800"/>
          </a:xfrm>
        </p:spPr>
        <p:txBody>
          <a:bodyPr anchor="t"/>
          <a:lstStyle>
            <a:lvl1pPr algn="l">
              <a:defRPr sz="40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172968"/>
            <a:ext cx="10515600" cy="50292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rgbClr val="595F6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Slide Accent"/>
          <p:cNvSpPr/>
          <p:nvPr/>
        </p:nvSpPr>
        <p:spPr>
          <a:xfrm>
            <a:off x="822960" y="2084831"/>
            <a:ext cx="109728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 anchor="t"/>
          <a:lstStyle>
            <a:lvl1pPr algn="l">
              <a:defRPr sz="28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10515600" cy="685800"/>
          </a:xfrm>
        </p:spPr>
        <p:txBody>
          <a:bodyPr anchor="t"/>
          <a:lstStyle>
            <a:lvl1pPr algn="l">
              <a:defRPr sz="4000" b="1" cap="all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Header Accent"/>
          <p:cNvSpPr/>
          <p:nvPr/>
        </p:nvSpPr>
        <p:spPr>
          <a:xfrm>
            <a:off x="822960" y="2084831"/>
            <a:ext cx="109728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 anchor="t"/>
          <a:lstStyle>
            <a:lvl1pPr algn="l">
              <a:defRPr sz="28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377440"/>
            <a:ext cx="10515600" cy="685800"/>
          </a:xfrm>
        </p:spPr>
        <p:txBody>
          <a:bodyPr/>
          <a:lstStyle/>
          <a:p>
            <a:r>
              <a:t>社内問い合わせ窓口を一本化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172968"/>
            <a:ext cx="10515600" cy="502920"/>
          </a:xfrm>
        </p:spPr>
        <p:txBody>
          <a:bodyPr/>
          <a:lstStyle/>
          <a:p>
            <a:r>
              <a:t>コンポーネントギャラリー | Sample 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受付を一つにまとめる</a:t>
            </a:r>
          </a:p>
        </p:txBody>
      </p:sp>
      <p:sp>
        <p:nvSpPr>
          <p:cNvPr id="3" name="Component lead" descr="pptx-deck-generated"/>
          <p:cNvSpPr txBox="1"/>
          <p:nvPr/>
        </p:nvSpPr>
        <p:spPr>
          <a:xfrm>
            <a:off x="457200" y="1645920"/>
            <a:ext cx="11274552" cy="45110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窓口統合で変える三つのポイント</a:t>
            </a:r>
          </a:p>
        </p:txBody>
      </p:sp>
      <p:grpSp>
        <p:nvGrpSpPr>
          <p:cNvPr id="4" name="Cards 1" descr="pptx-deck-generated"/>
          <p:cNvGrpSpPr/>
          <p:nvPr/>
        </p:nvGrpSpPr>
        <p:grpSpPr>
          <a:xfrm>
            <a:off x="457200" y="3022092"/>
            <a:ext cx="3648456" cy="2334768"/>
            <a:chOff x="0" y="0"/>
            <a:chExt cx="3648456" cy="2334768"/>
          </a:xfrm>
        </p:grpSpPr>
        <p:sp>
          <p:nvSpPr>
            <p:cNvPr id="5" name="Card 1 body" descr="pptx-deck-generated"/>
            <p:cNvSpPr/>
            <p:nvPr/>
          </p:nvSpPr>
          <p:spPr>
            <a:xfrm>
              <a:off x="0" y="0"/>
              <a:ext cx="3648456" cy="2334768"/>
            </a:xfrm>
            <a:prstGeom prst="roundRect">
              <a:avLst>
                <a:gd name="adj" fmla="val 235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 1 heading" descr="pptx-deck-generated"/>
            <p:cNvSpPr/>
            <p:nvPr/>
          </p:nvSpPr>
          <p:spPr>
            <a:xfrm>
              <a:off x="0" y="0"/>
              <a:ext cx="3648456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受付を集約</a:t>
              </a:r>
            </a:p>
          </p:txBody>
        </p:sp>
        <p:sp>
          <p:nvSpPr>
            <p:cNvPr id="7" name="Card 1 copy" descr="pptx-deck-generated"/>
            <p:cNvSpPr txBox="1"/>
            <p:nvPr/>
          </p:nvSpPr>
          <p:spPr>
            <a:xfrm>
              <a:off x="109728" y="560832"/>
              <a:ext cx="3429000" cy="17007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申請先を一つにして迷いを減らす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受付通知を自動で返し、受領状況を明確にする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対応状況を同じ窓口で確認する</a:t>
              </a:r>
            </a:p>
          </p:txBody>
        </p:sp>
      </p:grpSp>
      <p:grpSp>
        <p:nvGrpSpPr>
          <p:cNvPr id="8" name="Cards 2" descr="pptx-deck-generated"/>
          <p:cNvGrpSpPr/>
          <p:nvPr/>
        </p:nvGrpSpPr>
        <p:grpSpPr>
          <a:xfrm>
            <a:off x="4270248" y="3022092"/>
            <a:ext cx="3648456" cy="2334768"/>
            <a:chOff x="0" y="0"/>
            <a:chExt cx="3648456" cy="2334768"/>
          </a:xfrm>
        </p:grpSpPr>
        <p:sp>
          <p:nvSpPr>
            <p:cNvPr id="9" name="Card 2 body" descr="pptx-deck-generated"/>
            <p:cNvSpPr/>
            <p:nvPr/>
          </p:nvSpPr>
          <p:spPr>
            <a:xfrm>
              <a:off x="0" y="0"/>
              <a:ext cx="3648456" cy="2334768"/>
            </a:xfrm>
            <a:prstGeom prst="roundRect">
              <a:avLst>
                <a:gd name="adj" fmla="val 2350"/>
              </a:avLst>
            </a:prstGeom>
            <a:solidFill>
              <a:schemeClr val="lt1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 2 heading" descr="pptx-deck-generated"/>
            <p:cNvSpPr/>
            <p:nvPr/>
          </p:nvSpPr>
          <p:spPr>
            <a:xfrm>
              <a:off x="0" y="0"/>
              <a:ext cx="3648456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分類を共通化</a:t>
              </a:r>
            </a:p>
          </p:txBody>
        </p:sp>
        <p:sp>
          <p:nvSpPr>
            <p:cNvPr id="11" name="Card 2 copy" descr="pptx-deck-generated"/>
            <p:cNvSpPr txBox="1"/>
            <p:nvPr/>
          </p:nvSpPr>
          <p:spPr>
            <a:xfrm>
              <a:off x="109728" y="560832"/>
              <a:ext cx="3429000" cy="17007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カテゴリと優先度を統一する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必要情報をそろえて担当へ引き継ぐ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緊急度に応じた対応順を決める</a:t>
              </a:r>
            </a:p>
          </p:txBody>
        </p:sp>
      </p:grpSp>
      <p:grpSp>
        <p:nvGrpSpPr>
          <p:cNvPr id="12" name="Cards 3" descr="pptx-deck-generated"/>
          <p:cNvGrpSpPr/>
          <p:nvPr/>
        </p:nvGrpSpPr>
        <p:grpSpPr>
          <a:xfrm>
            <a:off x="8083296" y="3022092"/>
            <a:ext cx="3648456" cy="2334768"/>
            <a:chOff x="0" y="0"/>
            <a:chExt cx="3648456" cy="2334768"/>
          </a:xfrm>
        </p:grpSpPr>
        <p:sp>
          <p:nvSpPr>
            <p:cNvPr id="13" name="Card 3 body" descr="pptx-deck-generated"/>
            <p:cNvSpPr/>
            <p:nvPr/>
          </p:nvSpPr>
          <p:spPr>
            <a:xfrm>
              <a:off x="0" y="0"/>
              <a:ext cx="3648456" cy="2334768"/>
            </a:xfrm>
            <a:prstGeom prst="roundRect">
              <a:avLst>
                <a:gd name="adj" fmla="val 2350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 3 heading" descr="pptx-deck-generated"/>
            <p:cNvSpPr/>
            <p:nvPr/>
          </p:nvSpPr>
          <p:spPr>
            <a:xfrm>
              <a:off x="0" y="0"/>
              <a:ext cx="3648456" cy="560832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回答を再利用</a:t>
              </a:r>
            </a:p>
          </p:txBody>
        </p:sp>
        <p:sp>
          <p:nvSpPr>
            <p:cNvPr id="15" name="Card 3 copy" descr="pptx-deck-generated"/>
            <p:cNvSpPr txBox="1"/>
            <p:nvPr/>
          </p:nvSpPr>
          <p:spPr>
            <a:xfrm>
              <a:off x="109727" y="560832"/>
              <a:ext cx="3429000" cy="17007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FAQを育て、重複対応を減らす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解決内容を記録して次の回答に活用する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同じ質問への再回答を減らす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受付から回答までを標準化する</a:t>
            </a:r>
          </a:p>
        </p:txBody>
      </p:sp>
      <p:grpSp>
        <p:nvGrpSpPr>
          <p:cNvPr id="3" name="Cards 1" descr="pptx-deck-generated"/>
          <p:cNvGrpSpPr/>
          <p:nvPr/>
        </p:nvGrpSpPr>
        <p:grpSpPr>
          <a:xfrm>
            <a:off x="457200" y="2520696"/>
            <a:ext cx="3648456" cy="2090928"/>
            <a:chOff x="0" y="0"/>
            <a:chExt cx="3648456" cy="2090928"/>
          </a:xfrm>
        </p:grpSpPr>
        <p:sp>
          <p:nvSpPr>
            <p:cNvPr id="4" name="Card 1 panel" descr="pptx-deck-generated"/>
            <p:cNvSpPr/>
            <p:nvPr/>
          </p:nvSpPr>
          <p:spPr>
            <a:xfrm>
              <a:off x="0" y="0"/>
              <a:ext cx="3648456" cy="2090928"/>
            </a:xfrm>
            <a:prstGeom prst="roundRect">
              <a:avLst>
                <a:gd name="adj" fmla="val 2624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1 heading" descr="pptx-deck-generated"/>
            <p:cNvSpPr txBox="1"/>
            <p:nvPr/>
          </p:nvSpPr>
          <p:spPr>
            <a:xfrm>
              <a:off x="109728" y="73152"/>
              <a:ext cx="34290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受け付ける</a:t>
              </a:r>
            </a:p>
          </p:txBody>
        </p:sp>
        <p:sp>
          <p:nvSpPr>
            <p:cNvPr id="6" name="Card 1 body" descr="pptx-deck-generated"/>
            <p:cNvSpPr txBox="1"/>
            <p:nvPr/>
          </p:nvSpPr>
          <p:spPr>
            <a:xfrm>
              <a:off x="109728" y="560832"/>
              <a:ext cx="3429000" cy="1103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フォームで必要情報を収集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受付通知を自動送信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対応状況を受付台帳に記録</a:t>
              </a:r>
            </a:p>
          </p:txBody>
        </p:sp>
        <p:sp>
          <p:nvSpPr>
            <p:cNvPr id="7" name="Card 1 accent" descr="pptx-deck-generated"/>
            <p:cNvSpPr/>
            <p:nvPr/>
          </p:nvSpPr>
          <p:spPr>
            <a:xfrm>
              <a:off x="54864" y="54864"/>
              <a:ext cx="3538728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Cards 2" descr="pptx-deck-generated"/>
          <p:cNvGrpSpPr/>
          <p:nvPr/>
        </p:nvGrpSpPr>
        <p:grpSpPr>
          <a:xfrm>
            <a:off x="4270248" y="2520696"/>
            <a:ext cx="3648456" cy="2090928"/>
            <a:chOff x="0" y="0"/>
            <a:chExt cx="3648456" cy="2090928"/>
          </a:xfrm>
        </p:grpSpPr>
        <p:sp>
          <p:nvSpPr>
            <p:cNvPr id="9" name="Card 2 panel" descr="pptx-deck-generated"/>
            <p:cNvSpPr/>
            <p:nvPr/>
          </p:nvSpPr>
          <p:spPr>
            <a:xfrm>
              <a:off x="0" y="0"/>
              <a:ext cx="3648456" cy="2090928"/>
            </a:xfrm>
            <a:prstGeom prst="roundRect">
              <a:avLst>
                <a:gd name="adj" fmla="val 2624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 2 heading" descr="pptx-deck-generated"/>
            <p:cNvSpPr txBox="1"/>
            <p:nvPr/>
          </p:nvSpPr>
          <p:spPr>
            <a:xfrm>
              <a:off x="109728" y="73152"/>
              <a:ext cx="34290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振り分ける</a:t>
              </a:r>
            </a:p>
          </p:txBody>
        </p:sp>
        <p:sp>
          <p:nvSpPr>
            <p:cNvPr id="11" name="Card 2 body" descr="pptx-deck-generated"/>
            <p:cNvSpPr txBox="1"/>
            <p:nvPr/>
          </p:nvSpPr>
          <p:spPr>
            <a:xfrm>
              <a:off x="109728" y="560832"/>
              <a:ext cx="3429000" cy="1347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共通カテゴリで分類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担当チームへ割り当て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緊急度を確認して優先順位を決める</a:t>
              </a:r>
            </a:p>
          </p:txBody>
        </p:sp>
        <p:sp>
          <p:nvSpPr>
            <p:cNvPr id="12" name="Card 2 accent" descr="pptx-deck-generated"/>
            <p:cNvSpPr/>
            <p:nvPr/>
          </p:nvSpPr>
          <p:spPr>
            <a:xfrm>
              <a:off x="54864" y="54864"/>
              <a:ext cx="3538728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Cards 3" descr="pptx-deck-generated"/>
          <p:cNvGrpSpPr/>
          <p:nvPr/>
        </p:nvGrpSpPr>
        <p:grpSpPr>
          <a:xfrm>
            <a:off x="8083296" y="2520696"/>
            <a:ext cx="3648456" cy="2090928"/>
            <a:chOff x="0" y="0"/>
            <a:chExt cx="3648456" cy="2090928"/>
          </a:xfrm>
        </p:grpSpPr>
        <p:sp>
          <p:nvSpPr>
            <p:cNvPr id="14" name="Card 3 panel" descr="pptx-deck-generated"/>
            <p:cNvSpPr/>
            <p:nvPr/>
          </p:nvSpPr>
          <p:spPr>
            <a:xfrm>
              <a:off x="0" y="0"/>
              <a:ext cx="3648456" cy="2090928"/>
            </a:xfrm>
            <a:prstGeom prst="roundRect">
              <a:avLst>
                <a:gd name="adj" fmla="val 2624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rd 3 heading" descr="pptx-deck-generated"/>
            <p:cNvSpPr txBox="1"/>
            <p:nvPr/>
          </p:nvSpPr>
          <p:spPr>
            <a:xfrm>
              <a:off x="109727" y="73152"/>
              <a:ext cx="34290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回答する</a:t>
              </a:r>
            </a:p>
          </p:txBody>
        </p:sp>
        <p:sp>
          <p:nvSpPr>
            <p:cNvPr id="16" name="Card 3 body" descr="pptx-deck-generated"/>
            <p:cNvSpPr txBox="1"/>
            <p:nvPr/>
          </p:nvSpPr>
          <p:spPr>
            <a:xfrm>
              <a:off x="109727" y="560832"/>
              <a:ext cx="3429000" cy="1103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FAQを確認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解決内容を記録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再利用できる知見をFAQへ反映</a:t>
              </a:r>
            </a:p>
          </p:txBody>
        </p:sp>
        <p:sp>
          <p:nvSpPr>
            <p:cNvPr id="17" name="Card 3 accent" descr="pptx-deck-generated"/>
            <p:cNvSpPr/>
            <p:nvPr/>
          </p:nvSpPr>
          <p:spPr>
            <a:xfrm>
              <a:off x="54864" y="54864"/>
              <a:ext cx="3538728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Component takeaway" descr="pptx-deck-generated"/>
          <p:cNvSpPr/>
          <p:nvPr/>
        </p:nvSpPr>
        <p:spPr>
          <a:xfrm>
            <a:off x="457200" y="4840224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akeaway accent" descr="pptx-deck-generated"/>
          <p:cNvSpPr/>
          <p:nvPr/>
        </p:nvSpPr>
        <p:spPr>
          <a:xfrm>
            <a:off x="457200" y="4840224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 text" descr="pptx-deck-generated"/>
          <p:cNvSpPr txBox="1"/>
          <p:nvPr/>
        </p:nvSpPr>
        <p:spPr>
          <a:xfrm>
            <a:off x="603504" y="4840224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問い合わせ状況と解決内容を一元管理する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段階的に定着させる</a:t>
            </a:r>
          </a:p>
        </p:txBody>
      </p:sp>
      <p:grpSp>
        <p:nvGrpSpPr>
          <p:cNvPr id="3" name="Cards 1" descr="pptx-deck-generated"/>
          <p:cNvGrpSpPr/>
          <p:nvPr/>
        </p:nvGrpSpPr>
        <p:grpSpPr>
          <a:xfrm>
            <a:off x="457200" y="2619756"/>
            <a:ext cx="3648456" cy="2578608"/>
            <a:chOff x="0" y="0"/>
            <a:chExt cx="3648456" cy="2578608"/>
          </a:xfrm>
        </p:grpSpPr>
        <p:sp>
          <p:nvSpPr>
            <p:cNvPr id="4" name="Card 1 panel" descr="pptx-deck-generated"/>
            <p:cNvSpPr/>
            <p:nvPr/>
          </p:nvSpPr>
          <p:spPr>
            <a:xfrm>
              <a:off x="0" y="0"/>
              <a:ext cx="3648456" cy="2578608"/>
            </a:xfrm>
            <a:prstGeom prst="roundRect">
              <a:avLst>
                <a:gd name="adj" fmla="val 212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1 number" descr="pptx-deck-generated"/>
            <p:cNvSpPr/>
            <p:nvPr/>
          </p:nvSpPr>
          <p:spPr>
            <a:xfrm>
              <a:off x="128016" y="109728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1</a:t>
              </a:r>
            </a:p>
          </p:txBody>
        </p:sp>
        <p:sp>
          <p:nvSpPr>
            <p:cNvPr id="6" name="Card 1 heading" descr="pptx-deck-generated"/>
            <p:cNvSpPr txBox="1"/>
            <p:nvPr/>
          </p:nvSpPr>
          <p:spPr>
            <a:xfrm>
              <a:off x="585216" y="91440"/>
              <a:ext cx="2935224" cy="56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試行</a:t>
              </a:r>
            </a:p>
          </p:txBody>
        </p:sp>
        <p:sp>
          <p:nvSpPr>
            <p:cNvPr id="7" name="Card 1 copy" descr="pptx-deck-generated"/>
            <p:cNvSpPr txBox="1"/>
            <p:nvPr/>
          </p:nvSpPr>
          <p:spPr>
            <a:xfrm>
              <a:off x="146304" y="640080"/>
              <a:ext cx="3355848" cy="1865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対象部門を絞り、受付項目を検証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利用者の声を集め、入力負荷を確認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問い合わせ件数と内容を記録</a:t>
              </a:r>
            </a:p>
          </p:txBody>
        </p:sp>
      </p:grpSp>
      <p:grpSp>
        <p:nvGrpSpPr>
          <p:cNvPr id="8" name="Cards 2" descr="pptx-deck-generated"/>
          <p:cNvGrpSpPr/>
          <p:nvPr/>
        </p:nvGrpSpPr>
        <p:grpSpPr>
          <a:xfrm>
            <a:off x="4270248" y="2619756"/>
            <a:ext cx="3648456" cy="2578608"/>
            <a:chOff x="0" y="0"/>
            <a:chExt cx="3648456" cy="2578608"/>
          </a:xfrm>
        </p:grpSpPr>
        <p:sp>
          <p:nvSpPr>
            <p:cNvPr id="9" name="Card 2 panel" descr="pptx-deck-generated"/>
            <p:cNvSpPr/>
            <p:nvPr/>
          </p:nvSpPr>
          <p:spPr>
            <a:xfrm>
              <a:off x="0" y="0"/>
              <a:ext cx="3648456" cy="2578608"/>
            </a:xfrm>
            <a:prstGeom prst="roundRect">
              <a:avLst>
                <a:gd name="adj" fmla="val 212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 2 number" descr="pptx-deck-generated"/>
            <p:cNvSpPr/>
            <p:nvPr/>
          </p:nvSpPr>
          <p:spPr>
            <a:xfrm>
              <a:off x="128016" y="109728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2</a:t>
              </a:r>
            </a:p>
          </p:txBody>
        </p:sp>
        <p:sp>
          <p:nvSpPr>
            <p:cNvPr id="11" name="Card 2 heading" descr="pptx-deck-generated"/>
            <p:cNvSpPr txBox="1"/>
            <p:nvPr/>
          </p:nvSpPr>
          <p:spPr>
            <a:xfrm>
              <a:off x="585216" y="91440"/>
              <a:ext cx="2935224" cy="56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展開</a:t>
              </a:r>
            </a:p>
          </p:txBody>
        </p:sp>
        <p:sp>
          <p:nvSpPr>
            <p:cNvPr id="12" name="Card 2 copy" descr="pptx-deck-generated"/>
            <p:cNvSpPr txBox="1"/>
            <p:nvPr/>
          </p:nvSpPr>
          <p:spPr>
            <a:xfrm>
              <a:off x="146304" y="640080"/>
              <a:ext cx="3355848" cy="1865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FAQと担当範囲を整えて対象拡大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運用状況を見ながら対象を段階的に広げる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部門別の利用状況を確認する</a:t>
              </a:r>
            </a:p>
          </p:txBody>
        </p:sp>
      </p:grpSp>
      <p:grpSp>
        <p:nvGrpSpPr>
          <p:cNvPr id="13" name="Cards 3" descr="pptx-deck-generated"/>
          <p:cNvGrpSpPr/>
          <p:nvPr/>
        </p:nvGrpSpPr>
        <p:grpSpPr>
          <a:xfrm>
            <a:off x="8083296" y="2619756"/>
            <a:ext cx="3648456" cy="2578608"/>
            <a:chOff x="0" y="0"/>
            <a:chExt cx="3648456" cy="2578608"/>
          </a:xfrm>
        </p:grpSpPr>
        <p:sp>
          <p:nvSpPr>
            <p:cNvPr id="14" name="Card 3 panel" descr="pptx-deck-generated"/>
            <p:cNvSpPr/>
            <p:nvPr/>
          </p:nvSpPr>
          <p:spPr>
            <a:xfrm>
              <a:off x="0" y="0"/>
              <a:ext cx="3648456" cy="2578608"/>
            </a:xfrm>
            <a:prstGeom prst="roundRect">
              <a:avLst>
                <a:gd name="adj" fmla="val 2128"/>
              </a:avLst>
            </a:prstGeom>
            <a:solidFill>
              <a:schemeClr val="lt2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rd 3 number" descr="pptx-deck-generated"/>
            <p:cNvSpPr/>
            <p:nvPr/>
          </p:nvSpPr>
          <p:spPr>
            <a:xfrm>
              <a:off x="128016" y="109728"/>
              <a:ext cx="384048" cy="384048"/>
            </a:xfrm>
            <a:prstGeom prst="ellipse">
              <a:avLst/>
            </a:prstGeom>
            <a:solidFill>
              <a:schemeClr val="accent2"/>
            </a:solidFill>
          </p:spPr>
          <p:txBody>
            <a:bodyPr rtlCol="0" anchor="t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3</a:t>
              </a:r>
            </a:p>
          </p:txBody>
        </p:sp>
        <p:sp>
          <p:nvSpPr>
            <p:cNvPr id="16" name="Card 3 heading" descr="pptx-deck-generated"/>
            <p:cNvSpPr txBox="1"/>
            <p:nvPr/>
          </p:nvSpPr>
          <p:spPr>
            <a:xfrm>
              <a:off x="585216" y="91440"/>
              <a:ext cx="2935224" cy="56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定着</a:t>
              </a:r>
            </a:p>
          </p:txBody>
        </p:sp>
        <p:sp>
          <p:nvSpPr>
            <p:cNvPr id="17" name="Card 3 copy" descr="pptx-deck-generated"/>
            <p:cNvSpPr txBox="1"/>
            <p:nvPr/>
          </p:nvSpPr>
          <p:spPr>
            <a:xfrm>
              <a:off x="146304" y="640080"/>
              <a:ext cx="3355848" cy="1865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実績を見て手順とナレッジを更新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定期的に課題を確認し、改善を続ける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問い合わせ傾向から改善テーマを決める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受付集約で対応状況を見える化</a:t>
            </a:r>
          </a:p>
        </p:txBody>
      </p:sp>
      <p:grpSp>
        <p:nvGrpSpPr>
          <p:cNvPr id="3" name="KPI 1" descr="pptx-deck-generated"/>
          <p:cNvGrpSpPr/>
          <p:nvPr/>
        </p:nvGrpSpPr>
        <p:grpSpPr>
          <a:xfrm>
            <a:off x="457200" y="2883408"/>
            <a:ext cx="2708910" cy="2051304"/>
            <a:chOff x="0" y="0"/>
            <a:chExt cx="2708910" cy="2051304"/>
          </a:xfrm>
        </p:grpSpPr>
        <p:sp>
          <p:nvSpPr>
            <p:cNvPr id="4" name="KPI 1 tile" descr="pptx-deck-generated"/>
            <p:cNvSpPr/>
            <p:nvPr/>
          </p:nvSpPr>
          <p:spPr>
            <a:xfrm>
              <a:off x="0" y="0"/>
              <a:ext cx="2708910" cy="2051304"/>
            </a:xfrm>
            <a:prstGeom prst="roundRect">
              <a:avLst>
                <a:gd name="adj" fmla="val 267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KPI 1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KPI 1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1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窓口</a:t>
              </a:r>
            </a:p>
          </p:txBody>
        </p:sp>
        <p:sp>
          <p:nvSpPr>
            <p:cNvPr id="7" name="KPI 1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受付先</a:t>
              </a:r>
            </a:p>
          </p:txBody>
        </p:sp>
      </p:grpSp>
      <p:grpSp>
        <p:nvGrpSpPr>
          <p:cNvPr id="8" name="KPI 2" descr="pptx-deck-generated"/>
          <p:cNvGrpSpPr/>
          <p:nvPr/>
        </p:nvGrpSpPr>
        <p:grpSpPr>
          <a:xfrm>
            <a:off x="3312414" y="2883408"/>
            <a:ext cx="2708910" cy="2051304"/>
            <a:chOff x="0" y="0"/>
            <a:chExt cx="2708910" cy="2051304"/>
          </a:xfrm>
        </p:grpSpPr>
        <p:sp>
          <p:nvSpPr>
            <p:cNvPr id="9" name="KPI 2 tile" descr="pptx-deck-generated"/>
            <p:cNvSpPr/>
            <p:nvPr/>
          </p:nvSpPr>
          <p:spPr>
            <a:xfrm>
              <a:off x="0" y="0"/>
              <a:ext cx="2708910" cy="2051304"/>
            </a:xfrm>
            <a:prstGeom prst="roundRect">
              <a:avLst>
                <a:gd name="adj" fmla="val 267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KPI 2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KPI 2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3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営業日</a:t>
              </a:r>
            </a:p>
          </p:txBody>
        </p:sp>
        <p:sp>
          <p:nvSpPr>
            <p:cNvPr id="12" name="KPI 2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初回回答目標</a:t>
              </a:r>
            </a:p>
          </p:txBody>
        </p:sp>
      </p:grpSp>
      <p:grpSp>
        <p:nvGrpSpPr>
          <p:cNvPr id="13" name="KPI 3" descr="pptx-deck-generated"/>
          <p:cNvGrpSpPr/>
          <p:nvPr/>
        </p:nvGrpSpPr>
        <p:grpSpPr>
          <a:xfrm>
            <a:off x="6167628" y="2883408"/>
            <a:ext cx="2708910" cy="2051304"/>
            <a:chOff x="0" y="0"/>
            <a:chExt cx="2708910" cy="2051304"/>
          </a:xfrm>
        </p:grpSpPr>
        <p:sp>
          <p:nvSpPr>
            <p:cNvPr id="14" name="KPI 3 tile" descr="pptx-deck-generated"/>
            <p:cNvSpPr/>
            <p:nvPr/>
          </p:nvSpPr>
          <p:spPr>
            <a:xfrm>
              <a:off x="0" y="0"/>
              <a:ext cx="2708910" cy="2051304"/>
            </a:xfrm>
            <a:prstGeom prst="roundRect">
              <a:avLst>
                <a:gd name="adj" fmla="val 267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KPI 3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KPI 3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80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17" name="KPI 3 label" descr="pptx-deck-generated"/>
            <p:cNvSpPr txBox="1"/>
            <p:nvPr/>
          </p:nvSpPr>
          <p:spPr>
            <a:xfrm>
              <a:off x="109728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FAQ自己解決目標</a:t>
              </a:r>
            </a:p>
          </p:txBody>
        </p:sp>
        <p:sp>
          <p:nvSpPr>
            <p:cNvPr id="18" name="KPI 3 note" descr="pptx-deck-generated"/>
            <p:cNvSpPr txBox="1"/>
            <p:nvPr/>
          </p:nvSpPr>
          <p:spPr>
            <a:xfrm>
              <a:off x="109728" y="1633728"/>
              <a:ext cx="2489454" cy="380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試行後に見直し</a:t>
              </a:r>
            </a:p>
          </p:txBody>
        </p:sp>
      </p:grpSp>
      <p:grpSp>
        <p:nvGrpSpPr>
          <p:cNvPr id="19" name="KPI 4" descr="pptx-deck-generated"/>
          <p:cNvGrpSpPr/>
          <p:nvPr/>
        </p:nvGrpSpPr>
        <p:grpSpPr>
          <a:xfrm>
            <a:off x="9022842" y="2883408"/>
            <a:ext cx="2708910" cy="2051304"/>
            <a:chOff x="0" y="0"/>
            <a:chExt cx="2708910" cy="2051304"/>
          </a:xfrm>
        </p:grpSpPr>
        <p:sp>
          <p:nvSpPr>
            <p:cNvPr id="20" name="KPI 4 tile" descr="pptx-deck-generated"/>
            <p:cNvSpPr/>
            <p:nvPr/>
          </p:nvSpPr>
          <p:spPr>
            <a:xfrm>
              <a:off x="0" y="0"/>
              <a:ext cx="2708910" cy="2051304"/>
            </a:xfrm>
            <a:prstGeom prst="roundRect">
              <a:avLst>
                <a:gd name="adj" fmla="val 2675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KPI 4 accent" descr="pptx-deck-generated"/>
            <p:cNvSpPr/>
            <p:nvPr/>
          </p:nvSpPr>
          <p:spPr>
            <a:xfrm>
              <a:off x="54864" y="36576"/>
              <a:ext cx="2599182" cy="54864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KPI 4 value" descr="pptx-deck-generated"/>
            <p:cNvSpPr txBox="1"/>
            <p:nvPr/>
          </p:nvSpPr>
          <p:spPr>
            <a:xfrm>
              <a:off x="18288" y="91440"/>
              <a:ext cx="2672334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100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23" name="KPI 4 label" descr="pptx-deck-generated"/>
            <p:cNvSpPr txBox="1"/>
            <p:nvPr/>
          </p:nvSpPr>
          <p:spPr>
            <a:xfrm>
              <a:off x="109727" y="1097280"/>
              <a:ext cx="248945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対応記録率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受付先と応答基準を統一する</a:t>
            </a:r>
          </a:p>
        </p:txBody>
      </p:sp>
      <p:grpSp>
        <p:nvGrpSpPr>
          <p:cNvPr id="3" name="KPI 1" descr="pptx-deck-generated"/>
          <p:cNvGrpSpPr/>
          <p:nvPr/>
        </p:nvGrpSpPr>
        <p:grpSpPr>
          <a:xfrm>
            <a:off x="457200" y="2749296"/>
            <a:ext cx="11274552" cy="1633728"/>
            <a:chOff x="0" y="0"/>
            <a:chExt cx="11274552" cy="1633728"/>
          </a:xfrm>
        </p:grpSpPr>
        <p:sp>
          <p:nvSpPr>
            <p:cNvPr id="4" name="KPI band" descr="pptx-deck-generated"/>
            <p:cNvSpPr/>
            <p:nvPr/>
          </p:nvSpPr>
          <p:spPr>
            <a:xfrm>
              <a:off x="0" y="0"/>
              <a:ext cx="11274552" cy="1633728"/>
            </a:xfrm>
            <a:prstGeom prst="roundRect">
              <a:avLst>
                <a:gd name="adj" fmla="val 335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KPI 1 value" descr="pptx-deck-generated"/>
            <p:cNvSpPr txBox="1"/>
            <p:nvPr/>
          </p:nvSpPr>
          <p:spPr>
            <a:xfrm>
              <a:off x="73152" y="73152"/>
              <a:ext cx="3514343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1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窓口</a:t>
              </a:r>
            </a:p>
          </p:txBody>
        </p:sp>
        <p:sp>
          <p:nvSpPr>
            <p:cNvPr id="6" name="KPI 1 label" descr="pptx-deck-generated"/>
            <p:cNvSpPr txBox="1"/>
            <p:nvPr/>
          </p:nvSpPr>
          <p:spPr>
            <a:xfrm>
              <a:off x="73152" y="1097280"/>
              <a:ext cx="3514343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受付</a:t>
              </a:r>
            </a:p>
          </p:txBody>
        </p:sp>
      </p:grpSp>
      <p:grpSp>
        <p:nvGrpSpPr>
          <p:cNvPr id="7" name="KPI 2" descr="pptx-deck-generated"/>
          <p:cNvGrpSpPr/>
          <p:nvPr/>
        </p:nvGrpSpPr>
        <p:grpSpPr>
          <a:xfrm>
            <a:off x="4190999" y="2822448"/>
            <a:ext cx="3660648" cy="1487424"/>
            <a:chOff x="0" y="0"/>
            <a:chExt cx="3660648" cy="1487424"/>
          </a:xfrm>
        </p:grpSpPr>
        <p:sp>
          <p:nvSpPr>
            <p:cNvPr id="8" name="KPI 2 divider" descr="pptx-deck-generated"/>
            <p:cNvSpPr/>
            <p:nvPr/>
          </p:nvSpPr>
          <p:spPr>
            <a:xfrm>
              <a:off x="0" y="36576"/>
              <a:ext cx="9144" cy="1414272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KPI 2 value" descr="pptx-deck-generated"/>
            <p:cNvSpPr txBox="1"/>
            <p:nvPr/>
          </p:nvSpPr>
          <p:spPr>
            <a:xfrm>
              <a:off x="146305" y="0"/>
              <a:ext cx="3514343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3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日</a:t>
              </a:r>
            </a:p>
          </p:txBody>
        </p:sp>
        <p:sp>
          <p:nvSpPr>
            <p:cNvPr id="10" name="KPI 2 label" descr="pptx-deck-generated"/>
            <p:cNvSpPr txBox="1"/>
            <p:nvPr/>
          </p:nvSpPr>
          <p:spPr>
            <a:xfrm>
              <a:off x="146305" y="1024128"/>
              <a:ext cx="3514343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初回回答目標</a:t>
              </a:r>
            </a:p>
          </p:txBody>
        </p:sp>
      </p:grpSp>
      <p:grpSp>
        <p:nvGrpSpPr>
          <p:cNvPr id="11" name="KPI 3" descr="pptx-deck-generated"/>
          <p:cNvGrpSpPr/>
          <p:nvPr/>
        </p:nvGrpSpPr>
        <p:grpSpPr>
          <a:xfrm>
            <a:off x="7997951" y="2822448"/>
            <a:ext cx="3660648" cy="1487424"/>
            <a:chOff x="0" y="0"/>
            <a:chExt cx="3660648" cy="1487424"/>
          </a:xfrm>
        </p:grpSpPr>
        <p:sp>
          <p:nvSpPr>
            <p:cNvPr id="12" name="KPI 3 divider" descr="pptx-deck-generated"/>
            <p:cNvSpPr/>
            <p:nvPr/>
          </p:nvSpPr>
          <p:spPr>
            <a:xfrm>
              <a:off x="0" y="36576"/>
              <a:ext cx="9144" cy="1414272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KPI 3 value" descr="pptx-deck-generated"/>
            <p:cNvSpPr txBox="1"/>
            <p:nvPr/>
          </p:nvSpPr>
          <p:spPr>
            <a:xfrm>
              <a:off x="146305" y="0"/>
              <a:ext cx="3514343" cy="987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8288" rIns="1828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4800" b="1">
                  <a:solidFill>
                    <a:schemeClr val="accent1"/>
                  </a:solidFill>
                  <a:latin typeface="Yu Gothic"/>
                  <a:ea typeface="Yu Gothic"/>
                </a:rPr>
                <a:t>80</a:t>
              </a:r>
              <a:r>
                <a:rPr sz="22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 %</a:t>
              </a:r>
            </a:p>
          </p:txBody>
        </p:sp>
        <p:sp>
          <p:nvSpPr>
            <p:cNvPr id="14" name="KPI 3 label" descr="pptx-deck-generated"/>
            <p:cNvSpPr txBox="1"/>
            <p:nvPr/>
          </p:nvSpPr>
          <p:spPr>
            <a:xfrm>
              <a:off x="146305" y="1024128"/>
              <a:ext cx="3514343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FAQ活用目標</a:t>
              </a:r>
            </a:p>
          </p:txBody>
        </p:sp>
      </p:grpSp>
      <p:sp>
        <p:nvSpPr>
          <p:cNvPr id="15" name="Component takeaway" descr="pptx-deck-generated"/>
          <p:cNvSpPr/>
          <p:nvPr/>
        </p:nvSpPr>
        <p:spPr>
          <a:xfrm>
            <a:off x="457200" y="4611624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 accent" descr="pptx-deck-generated"/>
          <p:cNvSpPr/>
          <p:nvPr/>
        </p:nvSpPr>
        <p:spPr>
          <a:xfrm>
            <a:off x="457200" y="4611624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7" name="Takeaway text" descr="pptx-deck-generated"/>
          <p:cNvSpPr txBox="1"/>
          <p:nvPr/>
        </p:nvSpPr>
        <p:spPr>
          <a:xfrm>
            <a:off x="603504" y="4611624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目標値は試行期間後に合意する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分類から解決記録までをつなぐ</a:t>
            </a:r>
          </a:p>
        </p:txBody>
      </p:sp>
      <p:grpSp>
        <p:nvGrpSpPr>
          <p:cNvPr id="3" name="Process 1" descr="pptx-deck-generated"/>
          <p:cNvGrpSpPr/>
          <p:nvPr/>
        </p:nvGrpSpPr>
        <p:grpSpPr>
          <a:xfrm>
            <a:off x="457200" y="2895600"/>
            <a:ext cx="2686050" cy="2026920"/>
            <a:chOff x="0" y="0"/>
            <a:chExt cx="2686050" cy="2026920"/>
          </a:xfrm>
        </p:grpSpPr>
        <p:sp>
          <p:nvSpPr>
            <p:cNvPr id="4" name="Process 1 chevron" descr="pptx-deck-generated"/>
            <p:cNvSpPr/>
            <p:nvPr/>
          </p:nvSpPr>
          <p:spPr>
            <a:xfrm>
              <a:off x="0" y="0"/>
              <a:ext cx="2686050" cy="731520"/>
            </a:xfrm>
            <a:prstGeom prst="chevron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受付</a:t>
              </a:r>
            </a:p>
          </p:txBody>
        </p:sp>
        <p:sp>
          <p:nvSpPr>
            <p:cNvPr id="5" name="Process 1 detail" descr="pptx-deck-generated"/>
            <p:cNvSpPr txBox="1"/>
            <p:nvPr/>
          </p:nvSpPr>
          <p:spPr>
            <a:xfrm>
              <a:off x="36576" y="868680"/>
              <a:ext cx="2539746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内容と希望日を記録する。必要情報が不足していれば確認する。</a:t>
              </a:r>
            </a:p>
          </p:txBody>
        </p:sp>
      </p:grpSp>
      <p:grpSp>
        <p:nvGrpSpPr>
          <p:cNvPr id="6" name="Process 2" descr="pptx-deck-generated"/>
          <p:cNvGrpSpPr/>
          <p:nvPr/>
        </p:nvGrpSpPr>
        <p:grpSpPr>
          <a:xfrm>
            <a:off x="3344418" y="2895600"/>
            <a:ext cx="2686050" cy="2026920"/>
            <a:chOff x="0" y="0"/>
            <a:chExt cx="2686050" cy="2026920"/>
          </a:xfrm>
        </p:grpSpPr>
        <p:sp>
          <p:nvSpPr>
            <p:cNvPr id="7" name="Process 2 chevron" descr="pptx-deck-generated"/>
            <p:cNvSpPr/>
            <p:nvPr/>
          </p:nvSpPr>
          <p:spPr>
            <a:xfrm>
              <a:off x="0" y="0"/>
              <a:ext cx="2686050" cy="731520"/>
            </a:xfrm>
            <a:prstGeom prst="chevron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分類</a:t>
              </a:r>
            </a:p>
          </p:txBody>
        </p:sp>
        <p:sp>
          <p:nvSpPr>
            <p:cNvPr id="8" name="Process 2 detail" descr="pptx-deck-generated"/>
            <p:cNvSpPr txBox="1"/>
            <p:nvPr/>
          </p:nvSpPr>
          <p:spPr>
            <a:xfrm>
              <a:off x="36576" y="868680"/>
              <a:ext cx="2539746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カテゴリと優先度を設定する。緊急性に応じて優先順位を決める。</a:t>
              </a:r>
            </a:p>
          </p:txBody>
        </p:sp>
      </p:grpSp>
      <p:grpSp>
        <p:nvGrpSpPr>
          <p:cNvPr id="9" name="Process 3" descr="pptx-deck-generated"/>
          <p:cNvGrpSpPr/>
          <p:nvPr/>
        </p:nvGrpSpPr>
        <p:grpSpPr>
          <a:xfrm>
            <a:off x="6231636" y="2895600"/>
            <a:ext cx="2686050" cy="2026920"/>
            <a:chOff x="0" y="0"/>
            <a:chExt cx="2686050" cy="2026920"/>
          </a:xfrm>
        </p:grpSpPr>
        <p:sp>
          <p:nvSpPr>
            <p:cNvPr id="10" name="Process 3 chevron" descr="pptx-deck-generated"/>
            <p:cNvSpPr/>
            <p:nvPr/>
          </p:nvSpPr>
          <p:spPr>
            <a:xfrm>
              <a:off x="0" y="0"/>
              <a:ext cx="2686050" cy="731520"/>
            </a:xfrm>
            <a:prstGeom prst="chevron">
              <a:avLst/>
            </a:prstGeom>
            <a:solidFill>
              <a:schemeClr val="accent2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対応</a:t>
              </a:r>
            </a:p>
          </p:txBody>
        </p:sp>
        <p:sp>
          <p:nvSpPr>
            <p:cNvPr id="11" name="Process 3 detail" descr="pptx-deck-generated"/>
            <p:cNvSpPr txBox="1"/>
            <p:nvPr/>
          </p:nvSpPr>
          <p:spPr>
            <a:xfrm>
              <a:off x="36576" y="868680"/>
              <a:ext cx="2539746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担当チームが状況を調べて回答する。必要に応じて専門担当と連携する。</a:t>
              </a:r>
            </a:p>
          </p:txBody>
        </p:sp>
      </p:grpSp>
      <p:grpSp>
        <p:nvGrpSpPr>
          <p:cNvPr id="12" name="Process 4" descr="pptx-deck-generated"/>
          <p:cNvGrpSpPr/>
          <p:nvPr/>
        </p:nvGrpSpPr>
        <p:grpSpPr>
          <a:xfrm>
            <a:off x="9118854" y="2895600"/>
            <a:ext cx="2686050" cy="2026920"/>
            <a:chOff x="0" y="0"/>
            <a:chExt cx="2686050" cy="2026920"/>
          </a:xfrm>
        </p:grpSpPr>
        <p:sp>
          <p:nvSpPr>
            <p:cNvPr id="13" name="Process 4 chevron" descr="pptx-deck-generated"/>
            <p:cNvSpPr/>
            <p:nvPr/>
          </p:nvSpPr>
          <p:spPr>
            <a:xfrm>
              <a:off x="0" y="0"/>
              <a:ext cx="2686050" cy="731520"/>
            </a:xfrm>
            <a:prstGeom prst="chevron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記録</a:t>
              </a:r>
            </a:p>
          </p:txBody>
        </p:sp>
        <p:sp>
          <p:nvSpPr>
            <p:cNvPr id="14" name="Process 4 detail" descr="pptx-deck-generated"/>
            <p:cNvSpPr txBox="1"/>
            <p:nvPr/>
          </p:nvSpPr>
          <p:spPr>
            <a:xfrm>
              <a:off x="36576" y="868680"/>
              <a:ext cx="2539746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解決内容をFAQへ反映する。再利用できる知見を残す。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受付・対応・改善を循環させる</a:t>
            </a:r>
          </a:p>
        </p:txBody>
      </p:sp>
      <p:cxnSp>
        <p:nvCxnSpPr>
          <p:cNvPr id="3" name="Process connector 1" descr="pptx-deck-generated"/>
          <p:cNvCxnSpPr/>
          <p:nvPr/>
        </p:nvCxnSpPr>
        <p:spPr>
          <a:xfrm>
            <a:off x="2674620" y="3287268"/>
            <a:ext cx="3008376" cy="0"/>
          </a:xfrm>
          <a:prstGeom prst="line">
            <a:avLst/>
          </a:prstGeom>
          <a:ln w="19050">
            <a:solidFill>
              <a:schemeClr val="lt1">
                <a:lumMod val="85000"/>
              </a:schemeClr>
            </a:solidFill>
          </a:ln>
        </p:spPr>
      </p:cxnSp>
      <p:grpSp>
        <p:nvGrpSpPr>
          <p:cNvPr id="4" name="Process 1" descr="pptx-deck-generated"/>
          <p:cNvGrpSpPr/>
          <p:nvPr/>
        </p:nvGrpSpPr>
        <p:grpSpPr>
          <a:xfrm>
            <a:off x="457200" y="2875788"/>
            <a:ext cx="3611879" cy="2066544"/>
            <a:chOff x="0" y="0"/>
            <a:chExt cx="3611879" cy="2066544"/>
          </a:xfrm>
        </p:grpSpPr>
        <p:sp>
          <p:nvSpPr>
            <p:cNvPr id="5" name="Process 1 node" descr="pptx-deck-generated"/>
            <p:cNvSpPr/>
            <p:nvPr/>
          </p:nvSpPr>
          <p:spPr>
            <a:xfrm>
              <a:off x="1394460" y="0"/>
              <a:ext cx="822960" cy="822960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1</a:t>
              </a:r>
            </a:p>
          </p:txBody>
        </p:sp>
        <p:sp>
          <p:nvSpPr>
            <p:cNvPr id="6" name="Process 1 label" descr="pptx-deck-generated"/>
            <p:cNvSpPr txBox="1"/>
            <p:nvPr/>
          </p:nvSpPr>
          <p:spPr>
            <a:xfrm>
              <a:off x="0" y="932688"/>
              <a:ext cx="36118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受付</a:t>
              </a:r>
            </a:p>
          </p:txBody>
        </p:sp>
        <p:sp>
          <p:nvSpPr>
            <p:cNvPr id="7" name="Process 1 detail" descr="pptx-deck-generated"/>
            <p:cNvSpPr txBox="1"/>
            <p:nvPr/>
          </p:nvSpPr>
          <p:spPr>
            <a:xfrm>
              <a:off x="18288" y="1395984"/>
              <a:ext cx="357530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共通フォームで受け付ける。必要情報を揃えて次工程へ渡す。</a:t>
              </a:r>
            </a:p>
          </p:txBody>
        </p:sp>
      </p:grpSp>
      <p:cxnSp>
        <p:nvCxnSpPr>
          <p:cNvPr id="8" name="Process connector 2" descr="pptx-deck-generated"/>
          <p:cNvCxnSpPr/>
          <p:nvPr/>
        </p:nvCxnSpPr>
        <p:spPr>
          <a:xfrm>
            <a:off x="6505956" y="3287268"/>
            <a:ext cx="3008376" cy="0"/>
          </a:xfrm>
          <a:prstGeom prst="line">
            <a:avLst/>
          </a:prstGeom>
          <a:ln w="19050">
            <a:solidFill>
              <a:schemeClr val="lt1">
                <a:lumMod val="85000"/>
              </a:schemeClr>
            </a:solidFill>
          </a:ln>
        </p:spPr>
      </p:cxnSp>
      <p:grpSp>
        <p:nvGrpSpPr>
          <p:cNvPr id="9" name="Process 2" descr="pptx-deck-generated"/>
          <p:cNvGrpSpPr/>
          <p:nvPr/>
        </p:nvGrpSpPr>
        <p:grpSpPr>
          <a:xfrm>
            <a:off x="4288536" y="2875788"/>
            <a:ext cx="3611879" cy="2066544"/>
            <a:chOff x="0" y="0"/>
            <a:chExt cx="3611879" cy="2066544"/>
          </a:xfrm>
        </p:grpSpPr>
        <p:sp>
          <p:nvSpPr>
            <p:cNvPr id="10" name="Process 2 node" descr="pptx-deck-generated"/>
            <p:cNvSpPr/>
            <p:nvPr/>
          </p:nvSpPr>
          <p:spPr>
            <a:xfrm>
              <a:off x="1394460" y="0"/>
              <a:ext cx="822960" cy="822960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2</a:t>
              </a:r>
            </a:p>
          </p:txBody>
        </p:sp>
        <p:sp>
          <p:nvSpPr>
            <p:cNvPr id="11" name="Process 2 label" descr="pptx-deck-generated"/>
            <p:cNvSpPr txBox="1"/>
            <p:nvPr/>
          </p:nvSpPr>
          <p:spPr>
            <a:xfrm>
              <a:off x="0" y="932688"/>
              <a:ext cx="36118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回答</a:t>
              </a:r>
            </a:p>
          </p:txBody>
        </p:sp>
        <p:sp>
          <p:nvSpPr>
            <p:cNvPr id="12" name="Process 2 detail" descr="pptx-deck-generated"/>
            <p:cNvSpPr txBox="1"/>
            <p:nvPr/>
          </p:nvSpPr>
          <p:spPr>
            <a:xfrm>
              <a:off x="18287" y="1395984"/>
              <a:ext cx="357530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担当チームが回答する。対応状況は受付台帳で共有する。</a:t>
              </a:r>
            </a:p>
          </p:txBody>
        </p:sp>
      </p:grpSp>
      <p:grpSp>
        <p:nvGrpSpPr>
          <p:cNvPr id="13" name="Process 3" descr="pptx-deck-generated"/>
          <p:cNvGrpSpPr/>
          <p:nvPr/>
        </p:nvGrpSpPr>
        <p:grpSpPr>
          <a:xfrm>
            <a:off x="8119871" y="2875788"/>
            <a:ext cx="3611879" cy="2066544"/>
            <a:chOff x="0" y="0"/>
            <a:chExt cx="3611879" cy="2066544"/>
          </a:xfrm>
        </p:grpSpPr>
        <p:sp>
          <p:nvSpPr>
            <p:cNvPr id="14" name="Process 3 node" descr="pptx-deck-generated"/>
            <p:cNvSpPr/>
            <p:nvPr/>
          </p:nvSpPr>
          <p:spPr>
            <a:xfrm>
              <a:off x="1394461" y="0"/>
              <a:ext cx="822960" cy="822960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3</a:t>
              </a:r>
            </a:p>
          </p:txBody>
        </p:sp>
        <p:sp>
          <p:nvSpPr>
            <p:cNvPr id="15" name="Process 3 label" descr="pptx-deck-generated"/>
            <p:cNvSpPr txBox="1"/>
            <p:nvPr/>
          </p:nvSpPr>
          <p:spPr>
            <a:xfrm>
              <a:off x="0" y="932688"/>
              <a:ext cx="36118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蓄積</a:t>
              </a:r>
            </a:p>
          </p:txBody>
        </p:sp>
        <p:sp>
          <p:nvSpPr>
            <p:cNvPr id="16" name="Process 3 detail" descr="pptx-deck-generated"/>
            <p:cNvSpPr txBox="1"/>
            <p:nvPr/>
          </p:nvSpPr>
          <p:spPr>
            <a:xfrm>
              <a:off x="18288" y="1395984"/>
              <a:ext cx="357530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解決内容を記録する。FAQを更新して次の対応に活かす。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分類・共有で対応</a:t>
            </a:r>
          </a:p>
        </p:txBody>
      </p:sp>
      <p:grpSp>
        <p:nvGrpSpPr>
          <p:cNvPr id="3" name="Process 1" descr="pptx-deck-generated"/>
          <p:cNvGrpSpPr/>
          <p:nvPr/>
        </p:nvGrpSpPr>
        <p:grpSpPr>
          <a:xfrm>
            <a:off x="457200" y="2889504"/>
            <a:ext cx="3575304" cy="1353312"/>
            <a:chOff x="0" y="0"/>
            <a:chExt cx="3575304" cy="1353312"/>
          </a:xfrm>
        </p:grpSpPr>
        <p:sp>
          <p:nvSpPr>
            <p:cNvPr id="4" name="Process 1 box" descr="pptx-deck-generated"/>
            <p:cNvSpPr/>
            <p:nvPr/>
          </p:nvSpPr>
          <p:spPr>
            <a:xfrm>
              <a:off x="0" y="0"/>
              <a:ext cx="3575304" cy="1353312"/>
            </a:xfrm>
            <a:prstGeom prst="roundRect">
              <a:avLst>
                <a:gd name="adj" fmla="val 405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Process 1 label" descr="pptx-deck-generated"/>
            <p:cNvSpPr txBox="1"/>
            <p:nvPr/>
          </p:nvSpPr>
          <p:spPr>
            <a:xfrm>
              <a:off x="109728" y="73152"/>
              <a:ext cx="33558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受け付ける</a:t>
              </a:r>
            </a:p>
          </p:txBody>
        </p:sp>
        <p:sp>
          <p:nvSpPr>
            <p:cNvPr id="6" name="Process 1 detail" descr="pptx-deck-generated"/>
            <p:cNvSpPr txBox="1"/>
            <p:nvPr/>
          </p:nvSpPr>
          <p:spPr>
            <a:xfrm>
              <a:off x="109728" y="536448"/>
              <a:ext cx="3355848" cy="743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必要情報を揃えて受付台帳に登録する。</a:t>
              </a:r>
            </a:p>
          </p:txBody>
        </p:sp>
      </p:grpSp>
      <p:sp>
        <p:nvSpPr>
          <p:cNvPr id="7" name="Process arrow 1" descr="pptx-deck-generated"/>
          <p:cNvSpPr/>
          <p:nvPr/>
        </p:nvSpPr>
        <p:spPr>
          <a:xfrm rot="5400000">
            <a:off x="4069080" y="3456432"/>
            <a:ext cx="219456" cy="219456"/>
          </a:xfrm>
          <a:prstGeom prst="triangl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grpSp>
        <p:nvGrpSpPr>
          <p:cNvPr id="8" name="Process 2" descr="pptx-deck-generated"/>
          <p:cNvGrpSpPr/>
          <p:nvPr/>
        </p:nvGrpSpPr>
        <p:grpSpPr>
          <a:xfrm>
            <a:off x="4306824" y="2889504"/>
            <a:ext cx="3575304" cy="1353312"/>
            <a:chOff x="0" y="0"/>
            <a:chExt cx="3575304" cy="1353312"/>
          </a:xfrm>
        </p:grpSpPr>
        <p:sp>
          <p:nvSpPr>
            <p:cNvPr id="9" name="Process 2 box" descr="pptx-deck-generated"/>
            <p:cNvSpPr/>
            <p:nvPr/>
          </p:nvSpPr>
          <p:spPr>
            <a:xfrm>
              <a:off x="0" y="0"/>
              <a:ext cx="3575304" cy="1353312"/>
            </a:xfrm>
            <a:prstGeom prst="roundRect">
              <a:avLst>
                <a:gd name="adj" fmla="val 405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rocess 2 label" descr="pptx-deck-generated"/>
            <p:cNvSpPr txBox="1"/>
            <p:nvPr/>
          </p:nvSpPr>
          <p:spPr>
            <a:xfrm>
              <a:off x="109728" y="73152"/>
              <a:ext cx="33558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振り分ける</a:t>
              </a:r>
            </a:p>
          </p:txBody>
        </p:sp>
        <p:sp>
          <p:nvSpPr>
            <p:cNvPr id="11" name="Process 2 detail" descr="pptx-deck-generated"/>
            <p:cNvSpPr txBox="1"/>
            <p:nvPr/>
          </p:nvSpPr>
          <p:spPr>
            <a:xfrm>
              <a:off x="109728" y="536448"/>
              <a:ext cx="3355848" cy="743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担当と期限を決めて引き継ぐ。</a:t>
              </a:r>
            </a:p>
          </p:txBody>
        </p:sp>
      </p:grpSp>
      <p:sp>
        <p:nvSpPr>
          <p:cNvPr id="12" name="Process arrow 2" descr="pptx-deck-generated"/>
          <p:cNvSpPr/>
          <p:nvPr/>
        </p:nvSpPr>
        <p:spPr>
          <a:xfrm rot="5400000">
            <a:off x="7918704" y="3456432"/>
            <a:ext cx="219456" cy="219456"/>
          </a:xfrm>
          <a:prstGeom prst="triangl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grpSp>
        <p:nvGrpSpPr>
          <p:cNvPr id="13" name="Process 3" descr="pptx-deck-generated"/>
          <p:cNvGrpSpPr/>
          <p:nvPr/>
        </p:nvGrpSpPr>
        <p:grpSpPr>
          <a:xfrm>
            <a:off x="8156448" y="2889504"/>
            <a:ext cx="3575304" cy="1353312"/>
            <a:chOff x="0" y="0"/>
            <a:chExt cx="3575304" cy="1353312"/>
          </a:xfrm>
        </p:grpSpPr>
        <p:sp>
          <p:nvSpPr>
            <p:cNvPr id="14" name="Process 3 box" descr="pptx-deck-generated"/>
            <p:cNvSpPr/>
            <p:nvPr/>
          </p:nvSpPr>
          <p:spPr>
            <a:xfrm>
              <a:off x="0" y="0"/>
              <a:ext cx="3575304" cy="1353312"/>
            </a:xfrm>
            <a:prstGeom prst="roundRect">
              <a:avLst>
                <a:gd name="adj" fmla="val 405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rocess 3 label" descr="pptx-deck-generated"/>
            <p:cNvSpPr txBox="1"/>
            <p:nvPr/>
          </p:nvSpPr>
          <p:spPr>
            <a:xfrm>
              <a:off x="109727" y="73152"/>
              <a:ext cx="33558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解決する</a:t>
              </a:r>
            </a:p>
          </p:txBody>
        </p:sp>
        <p:sp>
          <p:nvSpPr>
            <p:cNvPr id="16" name="Process 3 detail" descr="pptx-deck-generated"/>
            <p:cNvSpPr txBox="1"/>
            <p:nvPr/>
          </p:nvSpPr>
          <p:spPr>
            <a:xfrm>
              <a:off x="109727" y="536448"/>
              <a:ext cx="3355848" cy="743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結果を記録し、再利用できる知識にする。</a:t>
              </a:r>
            </a:p>
          </p:txBody>
        </p:sp>
      </p:grpSp>
      <p:sp>
        <p:nvSpPr>
          <p:cNvPr id="17" name="Component takeaway" descr="pptx-deck-generated"/>
          <p:cNvSpPr/>
          <p:nvPr/>
        </p:nvSpPr>
        <p:spPr>
          <a:xfrm>
            <a:off x="457200" y="4471416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akeaway accent" descr="pptx-deck-generated"/>
          <p:cNvSpPr/>
          <p:nvPr/>
        </p:nvSpPr>
        <p:spPr>
          <a:xfrm>
            <a:off x="457200" y="4471416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9" name="Takeaway text" descr="pptx-deck-generated"/>
          <p:cNvSpPr txBox="1"/>
          <p:nvPr/>
        </p:nvSpPr>
        <p:spPr>
          <a:xfrm>
            <a:off x="603504" y="4471416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進捗は共通の受付台帳で確認する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窓口統合で受付漏れを防ぐ</a:t>
            </a:r>
          </a:p>
        </p:txBody>
      </p:sp>
      <p:grpSp>
        <p:nvGrpSpPr>
          <p:cNvPr id="3" name="Comparison 1" descr="pptx-deck-generated"/>
          <p:cNvGrpSpPr/>
          <p:nvPr/>
        </p:nvGrpSpPr>
        <p:grpSpPr>
          <a:xfrm>
            <a:off x="457200" y="2724404"/>
            <a:ext cx="5308092" cy="2369312"/>
            <a:chOff x="0" y="0"/>
            <a:chExt cx="5308092" cy="2369312"/>
          </a:xfrm>
        </p:grpSpPr>
        <p:sp>
          <p:nvSpPr>
            <p:cNvPr id="4" name="Comparison 1 panel" descr="pptx-deck-generated"/>
            <p:cNvSpPr/>
            <p:nvPr/>
          </p:nvSpPr>
          <p:spPr>
            <a:xfrm>
              <a:off x="0" y="0"/>
              <a:ext cx="5308092" cy="2369312"/>
            </a:xfrm>
            <a:prstGeom prst="roundRect">
              <a:avLst>
                <a:gd name="adj" fmla="val 2316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omparison 1 heading" descr="pptx-deck-generated"/>
            <p:cNvSpPr/>
            <p:nvPr/>
          </p:nvSpPr>
          <p:spPr>
            <a:xfrm>
              <a:off x="0" y="0"/>
              <a:ext cx="5308092" cy="457200"/>
            </a:xfrm>
            <a:prstGeom prst="rect">
              <a:avLst/>
            </a:prstGeom>
            <a:solidFill>
              <a:schemeClr val="dk1">
                <a:lumMod val="65000"/>
                <a:lumOff val="35000"/>
              </a:schemeClr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現状</a:t>
              </a:r>
            </a:p>
          </p:txBody>
        </p:sp>
        <p:sp>
          <p:nvSpPr>
            <p:cNvPr id="6" name="Comparison 1 items" descr="pptx-deck-generated"/>
            <p:cNvSpPr txBox="1"/>
            <p:nvPr/>
          </p:nvSpPr>
          <p:spPr>
            <a:xfrm>
              <a:off x="155448" y="530352"/>
              <a:ext cx="4997196" cy="1784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連絡先が複数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担当が見つけにくい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履歴が個人に分散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進捗を横断して把握しにくい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対応の重複に気付きにくい</a:t>
              </a:r>
            </a:p>
          </p:txBody>
        </p:sp>
      </p:grpSp>
      <p:grpSp>
        <p:nvGrpSpPr>
          <p:cNvPr id="7" name="Comparison 2" descr="pptx-deck-generated"/>
          <p:cNvGrpSpPr/>
          <p:nvPr/>
        </p:nvGrpSpPr>
        <p:grpSpPr>
          <a:xfrm>
            <a:off x="6423659" y="2724404"/>
            <a:ext cx="5308092" cy="2369312"/>
            <a:chOff x="0" y="0"/>
            <a:chExt cx="5308092" cy="2369312"/>
          </a:xfrm>
        </p:grpSpPr>
        <p:sp>
          <p:nvSpPr>
            <p:cNvPr id="8" name="Comparison 2 panel" descr="pptx-deck-generated"/>
            <p:cNvSpPr/>
            <p:nvPr/>
          </p:nvSpPr>
          <p:spPr>
            <a:xfrm>
              <a:off x="0" y="0"/>
              <a:ext cx="5308092" cy="2369312"/>
            </a:xfrm>
            <a:prstGeom prst="roundRect">
              <a:avLst>
                <a:gd name="adj" fmla="val 2316"/>
              </a:avLst>
            </a:prstGeom>
            <a:solidFill>
              <a:schemeClr val="lt2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omparison 2 heading" descr="pptx-deck-generated"/>
            <p:cNvSpPr/>
            <p:nvPr/>
          </p:nvSpPr>
          <p:spPr>
            <a:xfrm>
              <a:off x="0" y="0"/>
              <a:ext cx="5308092" cy="45720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統合後</a:t>
              </a:r>
            </a:p>
          </p:txBody>
        </p:sp>
        <p:sp>
          <p:nvSpPr>
            <p:cNvPr id="10" name="Comparison 2 items" descr="pptx-deck-generated"/>
            <p:cNvSpPr txBox="1"/>
            <p:nvPr/>
          </p:nvSpPr>
          <p:spPr>
            <a:xfrm>
              <a:off x="155448" y="530352"/>
              <a:ext cx="4997196" cy="1784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受付先を一本化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担当と期限を明確化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履歴を共有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進捗を共通台帳で確認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改善に必要な傾向を集計</a:t>
              </a:r>
            </a:p>
          </p:txBody>
        </p:sp>
      </p:grpSp>
      <p:sp>
        <p:nvSpPr>
          <p:cNvPr id="11" name="Comparison transition" descr="pptx-deck-generated"/>
          <p:cNvSpPr/>
          <p:nvPr/>
        </p:nvSpPr>
        <p:spPr>
          <a:xfrm>
            <a:off x="5911596" y="3719515"/>
            <a:ext cx="365760" cy="256032"/>
          </a:xfrm>
          <a:prstGeom prst="rightArrow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一次回答と専門対応</a:t>
            </a:r>
          </a:p>
        </p:txBody>
      </p:sp>
      <p:grpSp>
        <p:nvGrpSpPr>
          <p:cNvPr id="3" name="Comparison 1" descr="pptx-deck-generated"/>
          <p:cNvGrpSpPr/>
          <p:nvPr/>
        </p:nvGrpSpPr>
        <p:grpSpPr>
          <a:xfrm>
            <a:off x="457200" y="2724404"/>
            <a:ext cx="5399532" cy="2369312"/>
            <a:chOff x="0" y="0"/>
            <a:chExt cx="5399532" cy="2369312"/>
          </a:xfrm>
        </p:grpSpPr>
        <p:sp>
          <p:nvSpPr>
            <p:cNvPr id="4" name="Comparison 1 panel" descr="pptx-deck-generated"/>
            <p:cNvSpPr/>
            <p:nvPr/>
          </p:nvSpPr>
          <p:spPr>
            <a:xfrm>
              <a:off x="0" y="0"/>
              <a:ext cx="5399532" cy="2369312"/>
            </a:xfrm>
            <a:prstGeom prst="roundRect">
              <a:avLst>
                <a:gd name="adj" fmla="val 2316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omparison 1 heading" descr="pptx-deck-generated"/>
            <p:cNvSpPr/>
            <p:nvPr/>
          </p:nvSpPr>
          <p:spPr>
            <a:xfrm>
              <a:off x="0" y="0"/>
              <a:ext cx="5399532" cy="45720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一次窓口</a:t>
              </a:r>
            </a:p>
          </p:txBody>
        </p:sp>
        <p:sp>
          <p:nvSpPr>
            <p:cNvPr id="6" name="Comparison 1 items" descr="pptx-deck-generated"/>
            <p:cNvSpPr txBox="1"/>
            <p:nvPr/>
          </p:nvSpPr>
          <p:spPr>
            <a:xfrm>
              <a:off x="155448" y="530352"/>
              <a:ext cx="5088636" cy="1784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受付と分類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FAQ案内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進捗連絡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不足情報の確認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定型案内をFAQへ誘導</a:t>
              </a:r>
            </a:p>
          </p:txBody>
        </p:sp>
      </p:grpSp>
      <p:grpSp>
        <p:nvGrpSpPr>
          <p:cNvPr id="7" name="Comparison 2" descr="pptx-deck-generated"/>
          <p:cNvGrpSpPr/>
          <p:nvPr/>
        </p:nvGrpSpPr>
        <p:grpSpPr>
          <a:xfrm>
            <a:off x="6332220" y="2724404"/>
            <a:ext cx="5399532" cy="2369312"/>
            <a:chOff x="0" y="0"/>
            <a:chExt cx="5399532" cy="2369312"/>
          </a:xfrm>
        </p:grpSpPr>
        <p:sp>
          <p:nvSpPr>
            <p:cNvPr id="8" name="Comparison 2 panel" descr="pptx-deck-generated"/>
            <p:cNvSpPr/>
            <p:nvPr/>
          </p:nvSpPr>
          <p:spPr>
            <a:xfrm>
              <a:off x="0" y="0"/>
              <a:ext cx="5399532" cy="2369312"/>
            </a:xfrm>
            <a:prstGeom prst="roundRect">
              <a:avLst>
                <a:gd name="adj" fmla="val 2316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omparison 2 heading" descr="pptx-deck-generated"/>
            <p:cNvSpPr/>
            <p:nvPr/>
          </p:nvSpPr>
          <p:spPr>
            <a:xfrm>
              <a:off x="0" y="0"/>
              <a:ext cx="5399532" cy="45720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t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lt1"/>
                  </a:solidFill>
                  <a:latin typeface="Yu Gothic"/>
                  <a:ea typeface="Yu Gothic"/>
                </a:rPr>
                <a:t>専門チーム</a:t>
              </a:r>
            </a:p>
          </p:txBody>
        </p:sp>
        <p:sp>
          <p:nvSpPr>
            <p:cNvPr id="10" name="Comparison 2 items" descr="pptx-deck-generated"/>
            <p:cNvSpPr txBox="1"/>
            <p:nvPr/>
          </p:nvSpPr>
          <p:spPr>
            <a:xfrm>
              <a:off x="155448" y="530352"/>
              <a:ext cx="5088636" cy="17840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技術調査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個別判断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恒久対応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FAQへの知見反映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再発防止の改善を提案</a:t>
              </a:r>
            </a:p>
          </p:txBody>
        </p:sp>
      </p:grpSp>
      <p:sp>
        <p:nvSpPr>
          <p:cNvPr id="11" name="Comparison VS" descr="pptx-deck-generated"/>
          <p:cNvSpPr/>
          <p:nvPr/>
        </p:nvSpPr>
        <p:spPr>
          <a:xfrm>
            <a:off x="5765292" y="3719515"/>
            <a:ext cx="658368" cy="658368"/>
          </a:xfrm>
          <a:prstGeom prst="ellips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2" name="Comparison VS label" descr="pptx-deck-generated"/>
          <p:cNvSpPr txBox="1"/>
          <p:nvPr/>
        </p:nvSpPr>
        <p:spPr>
          <a:xfrm>
            <a:off x="5765292" y="3719515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緊急度で優先順位</a:t>
            </a:r>
          </a:p>
        </p:txBody>
      </p:sp>
      <p:sp>
        <p:nvSpPr>
          <p:cNvPr id="3" name="Component lead" descr="pptx-deck-generated"/>
          <p:cNvSpPr txBox="1"/>
          <p:nvPr/>
        </p:nvSpPr>
        <p:spPr>
          <a:xfrm>
            <a:off x="457200" y="1645920"/>
            <a:ext cx="11274552" cy="45110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影響の大きさと緊急度を組み合わせて対応順を決める</a:t>
            </a:r>
          </a:p>
        </p:txBody>
      </p:sp>
      <p:grpSp>
        <p:nvGrpSpPr>
          <p:cNvPr id="4" name="Matrix 1" descr="pptx-deck-generated"/>
          <p:cNvGrpSpPr/>
          <p:nvPr/>
        </p:nvGrpSpPr>
        <p:grpSpPr>
          <a:xfrm>
            <a:off x="1303019" y="2412492"/>
            <a:ext cx="5116068" cy="1411223"/>
            <a:chOff x="0" y="0"/>
            <a:chExt cx="5116068" cy="1411223"/>
          </a:xfrm>
        </p:grpSpPr>
        <p:sp>
          <p:nvSpPr>
            <p:cNvPr id="5" name="Matrix quadrant 1" descr="pptx-deck-generated"/>
            <p:cNvSpPr/>
            <p:nvPr/>
          </p:nvSpPr>
          <p:spPr>
            <a:xfrm>
              <a:off x="0" y="0"/>
              <a:ext cx="5116068" cy="1411223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Matrix quadrant 1 title" descr="pptx-deck-generated"/>
            <p:cNvSpPr txBox="1"/>
            <p:nvPr/>
          </p:nvSpPr>
          <p:spPr>
            <a:xfrm>
              <a:off x="86869" y="50292"/>
              <a:ext cx="4942331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計画対応</a:t>
              </a:r>
            </a:p>
          </p:txBody>
        </p:sp>
        <p:sp>
          <p:nvSpPr>
            <p:cNvPr id="7" name="Matrix quadrant 1 items" descr="pptx-deck-generated"/>
            <p:cNvSpPr txBox="1"/>
            <p:nvPr/>
          </p:nvSpPr>
          <p:spPr>
            <a:xfrm>
              <a:off x="86869" y="397764"/>
              <a:ext cx="4942331" cy="963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改善要望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操作方法の相談</a:t>
              </a:r>
            </a:p>
          </p:txBody>
        </p:sp>
      </p:grpSp>
      <p:grpSp>
        <p:nvGrpSpPr>
          <p:cNvPr id="8" name="Matrix 2" descr="pptx-deck-generated"/>
          <p:cNvGrpSpPr/>
          <p:nvPr/>
        </p:nvGrpSpPr>
        <p:grpSpPr>
          <a:xfrm>
            <a:off x="6464808" y="2412492"/>
            <a:ext cx="5116068" cy="1411223"/>
            <a:chOff x="0" y="0"/>
            <a:chExt cx="5116068" cy="1411223"/>
          </a:xfrm>
        </p:grpSpPr>
        <p:sp>
          <p:nvSpPr>
            <p:cNvPr id="9" name="Matrix quadrant 2" descr="pptx-deck-generated"/>
            <p:cNvSpPr/>
            <p:nvPr/>
          </p:nvSpPr>
          <p:spPr>
            <a:xfrm>
              <a:off x="0" y="0"/>
              <a:ext cx="5116068" cy="1411223"/>
            </a:xfrm>
            <a:prstGeom prst="rect">
              <a:avLst/>
            </a:prstGeom>
            <a:solidFill>
              <a:schemeClr val="lt2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Matrix quadrant 2 title" descr="pptx-deck-generated"/>
            <p:cNvSpPr txBox="1"/>
            <p:nvPr/>
          </p:nvSpPr>
          <p:spPr>
            <a:xfrm>
              <a:off x="86868" y="50292"/>
              <a:ext cx="4942331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accent2"/>
                  </a:solidFill>
                  <a:latin typeface="Yu Gothic"/>
                  <a:ea typeface="Yu Gothic"/>
                </a:rPr>
                <a:t>即時確認</a:t>
              </a:r>
            </a:p>
          </p:txBody>
        </p:sp>
        <p:sp>
          <p:nvSpPr>
            <p:cNvPr id="11" name="Matrix quadrant 2 items" descr="pptx-deck-generated"/>
            <p:cNvSpPr txBox="1"/>
            <p:nvPr/>
          </p:nvSpPr>
          <p:spPr>
            <a:xfrm>
              <a:off x="86868" y="397764"/>
              <a:ext cx="4942331" cy="963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400" b="0">
                  <a:solidFill>
                    <a:schemeClr val="dk1"/>
                  </a:solidFill>
                  <a:latin typeface="Yu Gothic"/>
                  <a:ea typeface="Yu Gothic"/>
                </a:rPr>
                <a:t>業務停止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400" b="0">
                  <a:solidFill>
                    <a:schemeClr val="dk1"/>
                  </a:solidFill>
                  <a:latin typeface="Yu Gothic"/>
                  <a:ea typeface="Yu Gothic"/>
                </a:rPr>
                <a:t>広範囲の障害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400" b="0">
                  <a:solidFill>
                    <a:schemeClr val="dk1"/>
                  </a:solidFill>
                  <a:latin typeface="Yu Gothic"/>
                  <a:ea typeface="Yu Gothic"/>
                </a:rPr>
                <a:t>期限直前の処理不能</a:t>
              </a:r>
            </a:p>
          </p:txBody>
        </p:sp>
      </p:grpSp>
      <p:grpSp>
        <p:nvGrpSpPr>
          <p:cNvPr id="12" name="Matrix 3" descr="pptx-deck-generated"/>
          <p:cNvGrpSpPr/>
          <p:nvPr/>
        </p:nvGrpSpPr>
        <p:grpSpPr>
          <a:xfrm>
            <a:off x="1303019" y="3869436"/>
            <a:ext cx="5116068" cy="1411223"/>
            <a:chOff x="0" y="0"/>
            <a:chExt cx="5116068" cy="1411223"/>
          </a:xfrm>
        </p:grpSpPr>
        <p:sp>
          <p:nvSpPr>
            <p:cNvPr id="13" name="Matrix quadrant 3" descr="pptx-deck-generated"/>
            <p:cNvSpPr/>
            <p:nvPr/>
          </p:nvSpPr>
          <p:spPr>
            <a:xfrm>
              <a:off x="0" y="0"/>
              <a:ext cx="5116068" cy="1411223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Matrix quadrant 3 title" descr="pptx-deck-generated"/>
            <p:cNvSpPr txBox="1"/>
            <p:nvPr/>
          </p:nvSpPr>
          <p:spPr>
            <a:xfrm>
              <a:off x="86869" y="50292"/>
              <a:ext cx="4942331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定期確認</a:t>
              </a:r>
            </a:p>
          </p:txBody>
        </p:sp>
        <p:sp>
          <p:nvSpPr>
            <p:cNvPr id="15" name="Matrix quadrant 3 items" descr="pptx-deck-generated"/>
            <p:cNvSpPr txBox="1"/>
            <p:nvPr/>
          </p:nvSpPr>
          <p:spPr>
            <a:xfrm>
              <a:off x="86869" y="397764"/>
              <a:ext cx="4942331" cy="963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軽微な質問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個人設定の相談</a:t>
              </a:r>
            </a:p>
          </p:txBody>
        </p:sp>
      </p:grpSp>
      <p:grpSp>
        <p:nvGrpSpPr>
          <p:cNvPr id="16" name="Matrix 4" descr="pptx-deck-generated"/>
          <p:cNvGrpSpPr/>
          <p:nvPr/>
        </p:nvGrpSpPr>
        <p:grpSpPr>
          <a:xfrm>
            <a:off x="6464808" y="3869436"/>
            <a:ext cx="5116068" cy="1411223"/>
            <a:chOff x="0" y="0"/>
            <a:chExt cx="5116068" cy="1411223"/>
          </a:xfrm>
        </p:grpSpPr>
        <p:sp>
          <p:nvSpPr>
            <p:cNvPr id="17" name="Matrix quadrant 4" descr="pptx-deck-generated"/>
            <p:cNvSpPr/>
            <p:nvPr/>
          </p:nvSpPr>
          <p:spPr>
            <a:xfrm>
              <a:off x="0" y="0"/>
              <a:ext cx="5116068" cy="1411223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Matrix quadrant 4 title" descr="pptx-deck-generated"/>
            <p:cNvSpPr txBox="1"/>
            <p:nvPr/>
          </p:nvSpPr>
          <p:spPr>
            <a:xfrm>
              <a:off x="86868" y="50292"/>
              <a:ext cx="4942331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優先対応</a:t>
              </a:r>
            </a:p>
          </p:txBody>
        </p:sp>
        <p:sp>
          <p:nvSpPr>
            <p:cNvPr id="19" name="Matrix quadrant 4 items" descr="pptx-deck-generated"/>
            <p:cNvSpPr txBox="1"/>
            <p:nvPr/>
          </p:nvSpPr>
          <p:spPr>
            <a:xfrm>
              <a:off x="86868" y="397764"/>
              <a:ext cx="4942331" cy="9631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複数部門へ影響</a:t>
              </a:r>
            </a:p>
            <a:p>
              <a:pPr algn="l" marL="201168" indent="-109728">
                <a:lnSpc>
                  <a:spcPct val="100000"/>
                </a:lnSpc>
                <a:spcAft>
                  <a:spcPts val="400"/>
                </a:spcAft>
                <a:buChar char="•"/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重要業務の遅延</a:t>
              </a:r>
            </a:p>
          </p:txBody>
        </p:sp>
      </p:grpSp>
      <p:cxnSp>
        <p:nvCxnSpPr>
          <p:cNvPr id="20" name="Matrix vertical grid" descr="pptx-deck-generated"/>
          <p:cNvCxnSpPr/>
          <p:nvPr/>
        </p:nvCxnSpPr>
        <p:spPr>
          <a:xfrm>
            <a:off x="6441948" y="2389632"/>
            <a:ext cx="0" cy="2913887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21" name="Matrix horizontal grid" descr="pptx-deck-generated"/>
          <p:cNvCxnSpPr/>
          <p:nvPr/>
        </p:nvCxnSpPr>
        <p:spPr>
          <a:xfrm>
            <a:off x="1280160" y="3846576"/>
            <a:ext cx="10323576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22" name="Matrix x low" descr="pptx-deck-generated"/>
          <p:cNvSpPr txBox="1"/>
          <p:nvPr/>
        </p:nvSpPr>
        <p:spPr>
          <a:xfrm>
            <a:off x="1280160" y="5340095"/>
            <a:ext cx="51617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低</a:t>
            </a:r>
          </a:p>
        </p:txBody>
      </p:sp>
      <p:sp>
        <p:nvSpPr>
          <p:cNvPr id="23" name="Matrix x high" descr="pptx-deck-generated"/>
          <p:cNvSpPr txBox="1"/>
          <p:nvPr/>
        </p:nvSpPr>
        <p:spPr>
          <a:xfrm>
            <a:off x="6441948" y="5340095"/>
            <a:ext cx="51617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高</a:t>
            </a:r>
          </a:p>
        </p:txBody>
      </p:sp>
      <p:sp>
        <p:nvSpPr>
          <p:cNvPr id="24" name="Matrix x label" descr="pptx-deck-generated"/>
          <p:cNvSpPr txBox="1"/>
          <p:nvPr/>
        </p:nvSpPr>
        <p:spPr>
          <a:xfrm>
            <a:off x="1280160" y="5696711"/>
            <a:ext cx="103235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緊急度</a:t>
            </a:r>
          </a:p>
        </p:txBody>
      </p:sp>
      <p:sp>
        <p:nvSpPr>
          <p:cNvPr id="25" name="Matrix y label" descr="pptx-deck-generated"/>
          <p:cNvSpPr txBox="1"/>
          <p:nvPr/>
        </p:nvSpPr>
        <p:spPr>
          <a:xfrm>
            <a:off x="457200" y="2389632"/>
            <a:ext cx="329184" cy="2913887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 vert="vert27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影響度</a:t>
            </a:r>
          </a:p>
        </p:txBody>
      </p:sp>
      <p:sp>
        <p:nvSpPr>
          <p:cNvPr id="26" name="Matrix y high" descr="pptx-deck-generated"/>
          <p:cNvSpPr txBox="1"/>
          <p:nvPr/>
        </p:nvSpPr>
        <p:spPr>
          <a:xfrm>
            <a:off x="786384" y="2435352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大</a:t>
            </a:r>
          </a:p>
        </p:txBody>
      </p:sp>
      <p:sp>
        <p:nvSpPr>
          <p:cNvPr id="27" name="Matrix y low" descr="pptx-deck-generated"/>
          <p:cNvSpPr txBox="1"/>
          <p:nvPr/>
        </p:nvSpPr>
        <p:spPr>
          <a:xfrm>
            <a:off x="786384" y="4928615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FAQから専門担当へ</a:t>
            </a:r>
          </a:p>
        </p:txBody>
      </p:sp>
      <p:grpSp>
        <p:nvGrpSpPr>
          <p:cNvPr id="3" name="Pyramid 1" descr="pptx-deck-generated"/>
          <p:cNvGrpSpPr/>
          <p:nvPr/>
        </p:nvGrpSpPr>
        <p:grpSpPr>
          <a:xfrm>
            <a:off x="1821420" y="1645920"/>
            <a:ext cx="9837179" cy="1484376"/>
            <a:chOff x="0" y="0"/>
            <a:chExt cx="9837179" cy="1484376"/>
          </a:xfrm>
        </p:grpSpPr>
        <p:sp>
          <p:nvSpPr>
            <p:cNvPr id="4" name="Level 1" descr="pptx-deck-generated"/>
            <p:cNvSpPr/>
            <p:nvPr/>
          </p:nvSpPr>
          <p:spPr>
            <a:xfrm>
              <a:off x="0" y="0"/>
              <a:ext cx="3472562" cy="1484376"/>
            </a:xfrm>
            <a:prstGeom prst="triangle">
              <a:avLst/>
            </a:prstGeom>
            <a:solidFill>
              <a:schemeClr val="accent1">
                <a:lumMod val="100000"/>
                <a:lumOff val="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専門対応</a:t>
              </a:r>
            </a:p>
          </p:txBody>
        </p:sp>
        <p:sp>
          <p:nvSpPr>
            <p:cNvPr id="5" name="Level 1 detail" descr="pptx-deck-generated"/>
            <p:cNvSpPr txBox="1"/>
            <p:nvPr/>
          </p:nvSpPr>
          <p:spPr>
            <a:xfrm>
              <a:off x="522083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個別調査</a:t>
              </a:r>
            </a:p>
          </p:txBody>
        </p:sp>
      </p:grpSp>
      <p:cxnSp>
        <p:nvCxnSpPr>
          <p:cNvPr id="6" name="Level 1 leader" descr="pptx-deck-generated"/>
          <p:cNvCxnSpPr/>
          <p:nvPr/>
        </p:nvCxnSpPr>
        <p:spPr>
          <a:xfrm>
            <a:off x="5293982" y="2388108"/>
            <a:ext cx="1693405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7" name="Pyramid 2" descr="pptx-deck-generated"/>
          <p:cNvGrpSpPr/>
          <p:nvPr/>
        </p:nvGrpSpPr>
        <p:grpSpPr>
          <a:xfrm>
            <a:off x="1139310" y="3166872"/>
            <a:ext cx="10519289" cy="1484376"/>
            <a:chOff x="0" y="0"/>
            <a:chExt cx="10519289" cy="1484376"/>
          </a:xfrm>
        </p:grpSpPr>
        <p:sp>
          <p:nvSpPr>
            <p:cNvPr id="8" name="Level 2" descr="pptx-deck-generated"/>
            <p:cNvSpPr/>
            <p:nvPr/>
          </p:nvSpPr>
          <p:spPr>
            <a:xfrm>
              <a:off x="0" y="0"/>
              <a:ext cx="4836782" cy="1484376"/>
            </a:xfrm>
            <a:prstGeom prst="trapezoid">
              <a:avLst/>
            </a:prstGeom>
            <a:solidFill>
              <a:schemeClr val="accent1">
                <a:lumMod val="88000"/>
                <a:lumOff val="12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担当チーム</a:t>
              </a:r>
            </a:p>
          </p:txBody>
        </p:sp>
        <p:sp>
          <p:nvSpPr>
            <p:cNvPr id="9" name="Level 2 detail" descr="pptx-deck-generated"/>
            <p:cNvSpPr txBox="1"/>
            <p:nvPr/>
          </p:nvSpPr>
          <p:spPr>
            <a:xfrm>
              <a:off x="590294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手順に沿って解決</a:t>
              </a:r>
            </a:p>
          </p:txBody>
        </p:sp>
      </p:grpSp>
      <p:cxnSp>
        <p:nvCxnSpPr>
          <p:cNvPr id="10" name="Level 2 leader" descr="pptx-deck-generated"/>
          <p:cNvCxnSpPr/>
          <p:nvPr/>
        </p:nvCxnSpPr>
        <p:spPr>
          <a:xfrm>
            <a:off x="5976093" y="3909060"/>
            <a:ext cx="101129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1" name="Pyramid 3" descr="pptx-deck-generated"/>
          <p:cNvGrpSpPr/>
          <p:nvPr/>
        </p:nvGrpSpPr>
        <p:grpSpPr>
          <a:xfrm>
            <a:off x="457200" y="4687824"/>
            <a:ext cx="11201399" cy="1484376"/>
            <a:chOff x="0" y="0"/>
            <a:chExt cx="11201399" cy="1484376"/>
          </a:xfrm>
        </p:grpSpPr>
        <p:sp>
          <p:nvSpPr>
            <p:cNvPr id="12" name="Level 3" descr="pptx-deck-generated"/>
            <p:cNvSpPr/>
            <p:nvPr/>
          </p:nvSpPr>
          <p:spPr>
            <a:xfrm>
              <a:off x="0" y="0"/>
              <a:ext cx="6201003" cy="1484376"/>
            </a:xfrm>
            <a:prstGeom prst="trapezoid">
              <a:avLst/>
            </a:prstGeom>
            <a:solidFill>
              <a:schemeClr val="accent1">
                <a:lumMod val="76000"/>
                <a:lumOff val="24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FAQ</a:t>
              </a:r>
            </a:p>
          </p:txBody>
        </p:sp>
        <p:sp>
          <p:nvSpPr>
            <p:cNvPr id="13" name="Level 3 detail" descr="pptx-deck-generated"/>
            <p:cNvSpPr txBox="1"/>
            <p:nvPr/>
          </p:nvSpPr>
          <p:spPr>
            <a:xfrm>
              <a:off x="658505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よくある質問を自己解決</a:t>
              </a:r>
            </a:p>
          </p:txBody>
        </p:sp>
      </p:grpSp>
      <p:cxnSp>
        <p:nvCxnSpPr>
          <p:cNvPr id="14" name="Level 3 leader" descr="pptx-deck-generated"/>
          <p:cNvCxnSpPr/>
          <p:nvPr/>
        </p:nvCxnSpPr>
        <p:spPr>
          <a:xfrm>
            <a:off x="6658203" y="5430012"/>
            <a:ext cx="32918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必要情報から担当窓口へつなぐ</a:t>
            </a:r>
          </a:p>
        </p:txBody>
      </p:sp>
      <p:grpSp>
        <p:nvGrpSpPr>
          <p:cNvPr id="3" name="Pyramid 1" descr="pptx-deck-generated"/>
          <p:cNvGrpSpPr/>
          <p:nvPr/>
        </p:nvGrpSpPr>
        <p:grpSpPr>
          <a:xfrm>
            <a:off x="457200" y="1645920"/>
            <a:ext cx="11201399" cy="1484376"/>
            <a:chOff x="0" y="0"/>
            <a:chExt cx="11201399" cy="1484376"/>
          </a:xfrm>
        </p:grpSpPr>
        <p:sp>
          <p:nvSpPr>
            <p:cNvPr id="4" name="Level 1" descr="pptx-deck-generated"/>
            <p:cNvSpPr/>
            <p:nvPr/>
          </p:nvSpPr>
          <p:spPr>
            <a:xfrm rot="10800000">
              <a:off x="0" y="0"/>
              <a:ext cx="6201003" cy="1484376"/>
            </a:xfrm>
            <a:prstGeom prst="trapezoid">
              <a:avLst/>
            </a:prstGeom>
            <a:solidFill>
              <a:schemeClr val="accent1">
                <a:lumMod val="76000"/>
                <a:lumOff val="24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evel 1 label" descr="pptx-deck-generated"/>
            <p:cNvSpPr txBox="1"/>
            <p:nvPr/>
          </p:nvSpPr>
          <p:spPr>
            <a:xfrm>
              <a:off x="620100" y="0"/>
              <a:ext cx="4960802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問い合わせ</a:t>
              </a:r>
            </a:p>
          </p:txBody>
        </p:sp>
        <p:sp>
          <p:nvSpPr>
            <p:cNvPr id="6" name="Level 1 detail" descr="pptx-deck-generated"/>
            <p:cNvSpPr txBox="1"/>
            <p:nvPr/>
          </p:nvSpPr>
          <p:spPr>
            <a:xfrm>
              <a:off x="658505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幅広く受け付ける</a:t>
              </a:r>
            </a:p>
          </p:txBody>
        </p:sp>
      </p:grpSp>
      <p:cxnSp>
        <p:nvCxnSpPr>
          <p:cNvPr id="7" name="Level 1 leader" descr="pptx-deck-generated"/>
          <p:cNvCxnSpPr/>
          <p:nvPr/>
        </p:nvCxnSpPr>
        <p:spPr>
          <a:xfrm>
            <a:off x="6658203" y="2388108"/>
            <a:ext cx="32918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8" name="Pyramid 2" descr="pptx-deck-generated"/>
          <p:cNvGrpSpPr/>
          <p:nvPr/>
        </p:nvGrpSpPr>
        <p:grpSpPr>
          <a:xfrm>
            <a:off x="1139310" y="3166872"/>
            <a:ext cx="10519289" cy="1484376"/>
            <a:chOff x="0" y="0"/>
            <a:chExt cx="10519289" cy="1484376"/>
          </a:xfrm>
        </p:grpSpPr>
        <p:sp>
          <p:nvSpPr>
            <p:cNvPr id="9" name="Level 2" descr="pptx-deck-generated"/>
            <p:cNvSpPr/>
            <p:nvPr/>
          </p:nvSpPr>
          <p:spPr>
            <a:xfrm rot="10800000">
              <a:off x="0" y="0"/>
              <a:ext cx="4836782" cy="1484376"/>
            </a:xfrm>
            <a:prstGeom prst="trapezoid">
              <a:avLst/>
            </a:prstGeom>
            <a:solidFill>
              <a:schemeClr val="accent1">
                <a:lumMod val="88000"/>
                <a:lumOff val="1200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Level 2 label" descr="pptx-deck-generated"/>
            <p:cNvSpPr txBox="1"/>
            <p:nvPr/>
          </p:nvSpPr>
          <p:spPr>
            <a:xfrm>
              <a:off x="483678" y="0"/>
              <a:ext cx="3869426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分類</a:t>
              </a:r>
            </a:p>
          </p:txBody>
        </p:sp>
        <p:sp>
          <p:nvSpPr>
            <p:cNvPr id="11" name="Level 2 detail" descr="pptx-deck-generated"/>
            <p:cNvSpPr txBox="1"/>
            <p:nvPr/>
          </p:nvSpPr>
          <p:spPr>
            <a:xfrm>
              <a:off x="590294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カテゴリと緊急度を確認</a:t>
              </a:r>
            </a:p>
          </p:txBody>
        </p:sp>
      </p:grpSp>
      <p:cxnSp>
        <p:nvCxnSpPr>
          <p:cNvPr id="12" name="Level 2 leader" descr="pptx-deck-generated"/>
          <p:cNvCxnSpPr/>
          <p:nvPr/>
        </p:nvCxnSpPr>
        <p:spPr>
          <a:xfrm>
            <a:off x="5976093" y="3909060"/>
            <a:ext cx="101129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3" name="Pyramid 3" descr="pptx-deck-generated"/>
          <p:cNvGrpSpPr/>
          <p:nvPr/>
        </p:nvGrpSpPr>
        <p:grpSpPr>
          <a:xfrm>
            <a:off x="1821420" y="4687824"/>
            <a:ext cx="9837179" cy="1484376"/>
            <a:chOff x="0" y="0"/>
            <a:chExt cx="9837179" cy="1484376"/>
          </a:xfrm>
        </p:grpSpPr>
        <p:sp>
          <p:nvSpPr>
            <p:cNvPr id="14" name="Level 3" descr="pptx-deck-generated"/>
            <p:cNvSpPr/>
            <p:nvPr/>
          </p:nvSpPr>
          <p:spPr>
            <a:xfrm rot="10800000">
              <a:off x="0" y="0"/>
              <a:ext cx="3472562" cy="1484376"/>
            </a:xfrm>
            <a:prstGeom prst="trapezoid">
              <a:avLst/>
            </a:prstGeom>
            <a:solidFill>
              <a:schemeClr val="accent1">
                <a:lumMod val="100000"/>
                <a:lumOff val="0"/>
              </a:schemeClr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Level 3 label" descr="pptx-deck-generated"/>
            <p:cNvSpPr txBox="1"/>
            <p:nvPr/>
          </p:nvSpPr>
          <p:spPr>
            <a:xfrm>
              <a:off x="347256" y="0"/>
              <a:ext cx="2778049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担当へ連携</a:t>
              </a:r>
            </a:p>
          </p:txBody>
        </p:sp>
        <p:sp>
          <p:nvSpPr>
            <p:cNvPr id="16" name="Level 3 detail" descr="pptx-deck-generated"/>
            <p:cNvSpPr txBox="1"/>
            <p:nvPr/>
          </p:nvSpPr>
          <p:spPr>
            <a:xfrm>
              <a:off x="5220831" y="0"/>
              <a:ext cx="4616348" cy="1484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適切なチームへ割り当て</a:t>
              </a:r>
            </a:p>
          </p:txBody>
        </p:sp>
      </p:grpSp>
      <p:cxnSp>
        <p:nvCxnSpPr>
          <p:cNvPr id="17" name="Level 3 leader" descr="pptx-deck-generated"/>
          <p:cNvCxnSpPr/>
          <p:nvPr/>
        </p:nvCxnSpPr>
        <p:spPr>
          <a:xfrm>
            <a:off x="5293982" y="5430012"/>
            <a:ext cx="1693405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対応結果をFAQへ活用する</a:t>
            </a:r>
          </a:p>
        </p:txBody>
      </p:sp>
      <p:cxnSp>
        <p:nvCxnSpPr>
          <p:cNvPr id="3" name="Cycle connector 1" descr="pptx-deck-generated"/>
          <p:cNvCxnSpPr/>
          <p:nvPr/>
        </p:nvCxnSpPr>
        <p:spPr>
          <a:xfrm>
            <a:off x="6761988" y="2980944"/>
            <a:ext cx="228275" cy="228275"/>
          </a:xfrm>
          <a:prstGeom prst="line">
            <a:avLst/>
          </a:prstGeom>
          <a:ln w="15875">
            <a:solidFill>
              <a:schemeClr val="accent1"/>
            </a:solidFill>
            <a:headEnd type="triangle" w="med" len="med"/>
          </a:ln>
        </p:spPr>
      </p:cxnSp>
      <p:cxnSp>
        <p:nvCxnSpPr>
          <p:cNvPr id="4" name="Cycle connector 2" descr="pptx-deck-generated"/>
          <p:cNvCxnSpPr/>
          <p:nvPr/>
        </p:nvCxnSpPr>
        <p:spPr>
          <a:xfrm flipH="1">
            <a:off x="6794316" y="4576572"/>
            <a:ext cx="228276" cy="228275"/>
          </a:xfrm>
          <a:prstGeom prst="line">
            <a:avLst/>
          </a:prstGeom>
          <a:ln w="15875">
            <a:solidFill>
              <a:schemeClr val="accent1"/>
            </a:solidFill>
            <a:headEnd type="triangle" w="med" len="med"/>
          </a:ln>
        </p:spPr>
      </p:cxnSp>
      <p:cxnSp>
        <p:nvCxnSpPr>
          <p:cNvPr id="5" name="Cycle connector 3" descr="pptx-deck-generated"/>
          <p:cNvCxnSpPr/>
          <p:nvPr/>
        </p:nvCxnSpPr>
        <p:spPr>
          <a:xfrm flipH="1" flipV="1">
            <a:off x="5198688" y="4608900"/>
            <a:ext cx="228276" cy="228276"/>
          </a:xfrm>
          <a:prstGeom prst="line">
            <a:avLst/>
          </a:prstGeom>
          <a:ln w="15875">
            <a:solidFill>
              <a:schemeClr val="accent1"/>
            </a:solidFill>
            <a:headEnd type="triangle" w="med" len="med"/>
          </a:ln>
        </p:spPr>
      </p:cxnSp>
      <p:cxnSp>
        <p:nvCxnSpPr>
          <p:cNvPr id="6" name="Cycle connector 4" descr="pptx-deck-generated"/>
          <p:cNvCxnSpPr/>
          <p:nvPr/>
        </p:nvCxnSpPr>
        <p:spPr>
          <a:xfrm flipV="1">
            <a:off x="5166360" y="3013272"/>
            <a:ext cx="228275" cy="228276"/>
          </a:xfrm>
          <a:prstGeom prst="line">
            <a:avLst/>
          </a:prstGeom>
          <a:ln w="15875">
            <a:solidFill>
              <a:schemeClr val="accent1"/>
            </a:solidFill>
            <a:headEnd type="triangle" w="med" len="med"/>
          </a:ln>
        </p:spPr>
      </p:cxnSp>
      <p:grpSp>
        <p:nvGrpSpPr>
          <p:cNvPr id="7" name="Cycle 1" descr="pptx-deck-generated"/>
          <p:cNvGrpSpPr/>
          <p:nvPr/>
        </p:nvGrpSpPr>
        <p:grpSpPr>
          <a:xfrm>
            <a:off x="5180076" y="1645920"/>
            <a:ext cx="1828800" cy="1335024"/>
            <a:chOff x="0" y="0"/>
            <a:chExt cx="1828800" cy="1335024"/>
          </a:xfrm>
        </p:grpSpPr>
        <p:sp>
          <p:nvSpPr>
            <p:cNvPr id="8" name="Cycle node 1" descr="pptx-deck-generated"/>
            <p:cNvSpPr/>
            <p:nvPr/>
          </p:nvSpPr>
          <p:spPr>
            <a:xfrm>
              <a:off x="0" y="0"/>
              <a:ext cx="1828800" cy="1335024"/>
            </a:xfrm>
            <a:prstGeom prst="roundRect">
              <a:avLst>
                <a:gd name="adj" fmla="val 411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ycle node 1 label" descr="pptx-deck-generated"/>
            <p:cNvSpPr txBox="1"/>
            <p:nvPr/>
          </p:nvSpPr>
          <p:spPr>
            <a:xfrm>
              <a:off x="109728" y="109728"/>
              <a:ext cx="1609344" cy="4175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受け付ける</a:t>
              </a:r>
            </a:p>
          </p:txBody>
        </p:sp>
        <p:sp>
          <p:nvSpPr>
            <p:cNvPr id="10" name="Cycle node 1 detail" descr="pptx-deck-generated"/>
            <p:cNvSpPr txBox="1"/>
            <p:nvPr/>
          </p:nvSpPr>
          <p:spPr>
            <a:xfrm>
              <a:off x="0" y="527304"/>
              <a:ext cx="1828800" cy="697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受付内容を台帳に記録する。</a:t>
              </a:r>
            </a:p>
          </p:txBody>
        </p:sp>
      </p:grpSp>
      <p:grpSp>
        <p:nvGrpSpPr>
          <p:cNvPr id="11" name="Cycle 2" descr="pptx-deck-generated"/>
          <p:cNvGrpSpPr/>
          <p:nvPr/>
        </p:nvGrpSpPr>
        <p:grpSpPr>
          <a:xfrm>
            <a:off x="6775704" y="3241548"/>
            <a:ext cx="1828800" cy="1335024"/>
            <a:chOff x="0" y="0"/>
            <a:chExt cx="1828800" cy="1335024"/>
          </a:xfrm>
        </p:grpSpPr>
        <p:sp>
          <p:nvSpPr>
            <p:cNvPr id="12" name="Cycle node 2" descr="pptx-deck-generated"/>
            <p:cNvSpPr/>
            <p:nvPr/>
          </p:nvSpPr>
          <p:spPr>
            <a:xfrm>
              <a:off x="0" y="0"/>
              <a:ext cx="1828800" cy="1335024"/>
            </a:xfrm>
            <a:prstGeom prst="roundRect">
              <a:avLst>
                <a:gd name="adj" fmla="val 411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ycle node 2 label" descr="pptx-deck-generated"/>
            <p:cNvSpPr txBox="1"/>
            <p:nvPr/>
          </p:nvSpPr>
          <p:spPr>
            <a:xfrm>
              <a:off x="109728" y="109728"/>
              <a:ext cx="1609344" cy="4175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分類する</a:t>
              </a:r>
            </a:p>
          </p:txBody>
        </p:sp>
        <p:sp>
          <p:nvSpPr>
            <p:cNvPr id="14" name="Cycle node 2 detail" descr="pptx-deck-generated"/>
            <p:cNvSpPr txBox="1"/>
            <p:nvPr/>
          </p:nvSpPr>
          <p:spPr>
            <a:xfrm>
              <a:off x="0" y="527304"/>
              <a:ext cx="1828800" cy="697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優先度に応じて担当へつなぐ。</a:t>
              </a:r>
            </a:p>
          </p:txBody>
        </p:sp>
      </p:grpSp>
      <p:grpSp>
        <p:nvGrpSpPr>
          <p:cNvPr id="15" name="Cycle 3" descr="pptx-deck-generated"/>
          <p:cNvGrpSpPr/>
          <p:nvPr/>
        </p:nvGrpSpPr>
        <p:grpSpPr>
          <a:xfrm>
            <a:off x="5180076" y="4837176"/>
            <a:ext cx="1828800" cy="1335024"/>
            <a:chOff x="0" y="0"/>
            <a:chExt cx="1828800" cy="1335024"/>
          </a:xfrm>
        </p:grpSpPr>
        <p:sp>
          <p:nvSpPr>
            <p:cNvPr id="16" name="Cycle node 3" descr="pptx-deck-generated"/>
            <p:cNvSpPr/>
            <p:nvPr/>
          </p:nvSpPr>
          <p:spPr>
            <a:xfrm>
              <a:off x="0" y="0"/>
              <a:ext cx="1828800" cy="1335024"/>
            </a:xfrm>
            <a:prstGeom prst="roundRect">
              <a:avLst>
                <a:gd name="adj" fmla="val 411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ycle node 3 label" descr="pptx-deck-generated"/>
            <p:cNvSpPr txBox="1"/>
            <p:nvPr/>
          </p:nvSpPr>
          <p:spPr>
            <a:xfrm>
              <a:off x="109728" y="109728"/>
              <a:ext cx="1609344" cy="4175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解決する</a:t>
              </a:r>
            </a:p>
          </p:txBody>
        </p:sp>
        <p:sp>
          <p:nvSpPr>
            <p:cNvPr id="18" name="Cycle node 3 detail" descr="pptx-deck-generated"/>
            <p:cNvSpPr txBox="1"/>
            <p:nvPr/>
          </p:nvSpPr>
          <p:spPr>
            <a:xfrm>
              <a:off x="0" y="527304"/>
              <a:ext cx="1828800" cy="697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調査結果を台帳へ記録する。</a:t>
              </a:r>
            </a:p>
          </p:txBody>
        </p:sp>
      </p:grpSp>
      <p:grpSp>
        <p:nvGrpSpPr>
          <p:cNvPr id="19" name="Cycle 4" descr="pptx-deck-generated"/>
          <p:cNvGrpSpPr/>
          <p:nvPr/>
        </p:nvGrpSpPr>
        <p:grpSpPr>
          <a:xfrm>
            <a:off x="3584448" y="3241548"/>
            <a:ext cx="1828800" cy="1335024"/>
            <a:chOff x="0" y="0"/>
            <a:chExt cx="1828800" cy="1335024"/>
          </a:xfrm>
        </p:grpSpPr>
        <p:sp>
          <p:nvSpPr>
            <p:cNvPr id="20" name="Cycle node 4" descr="pptx-deck-generated"/>
            <p:cNvSpPr/>
            <p:nvPr/>
          </p:nvSpPr>
          <p:spPr>
            <a:xfrm>
              <a:off x="0" y="0"/>
              <a:ext cx="1828800" cy="1335024"/>
            </a:xfrm>
            <a:prstGeom prst="roundRect">
              <a:avLst>
                <a:gd name="adj" fmla="val 411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ycle node 4 label" descr="pptx-deck-generated"/>
            <p:cNvSpPr txBox="1"/>
            <p:nvPr/>
          </p:nvSpPr>
          <p:spPr>
            <a:xfrm>
              <a:off x="109728" y="109728"/>
              <a:ext cx="1609344" cy="4175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FAQを更新</a:t>
              </a:r>
            </a:p>
          </p:txBody>
        </p:sp>
        <p:sp>
          <p:nvSpPr>
            <p:cNvPr id="22" name="Cycle node 4 detail" descr="pptx-deck-generated"/>
            <p:cNvSpPr txBox="1"/>
            <p:nvPr/>
          </p:nvSpPr>
          <p:spPr>
            <a:xfrm>
              <a:off x="0" y="527304"/>
              <a:ext cx="1828800" cy="697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解決策をFAQへ反映する。</a:t>
              </a:r>
            </a:p>
          </p:txBody>
        </p:sp>
      </p:grpSp>
      <p:sp>
        <p:nvSpPr>
          <p:cNvPr id="23" name="Cycle center" descr="pptx-deck-generated"/>
          <p:cNvSpPr/>
          <p:nvPr/>
        </p:nvSpPr>
        <p:spPr>
          <a:xfrm>
            <a:off x="5568696" y="3383280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継続改善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役割・手順・ツール</a:t>
            </a:r>
          </a:p>
        </p:txBody>
      </p:sp>
      <p:grpSp>
        <p:nvGrpSpPr>
          <p:cNvPr id="3" name="Layers 1" descr="pptx-deck-generated"/>
          <p:cNvGrpSpPr/>
          <p:nvPr/>
        </p:nvGrpSpPr>
        <p:grpSpPr>
          <a:xfrm>
            <a:off x="457200" y="2839212"/>
            <a:ext cx="11274551" cy="640080"/>
            <a:chOff x="0" y="0"/>
            <a:chExt cx="11274551" cy="640080"/>
          </a:xfrm>
        </p:grpSpPr>
        <p:sp>
          <p:nvSpPr>
            <p:cNvPr id="4" name="Layer 1 label" descr="pptx-deck-generated"/>
            <p:cNvSpPr/>
            <p:nvPr/>
          </p:nvSpPr>
          <p:spPr>
            <a:xfrm>
              <a:off x="0" y="0"/>
              <a:ext cx="2818638" cy="64008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窓口</a:t>
              </a:r>
            </a:p>
          </p:txBody>
        </p:sp>
        <p:sp>
          <p:nvSpPr>
            <p:cNvPr id="5" name="Layer 1 item 1" descr="pptx-deck-generated"/>
            <p:cNvSpPr/>
            <p:nvPr/>
          </p:nvSpPr>
          <p:spPr>
            <a:xfrm>
              <a:off x="300151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受付フォーム</a:t>
              </a:r>
            </a:p>
          </p:txBody>
        </p:sp>
        <p:sp>
          <p:nvSpPr>
            <p:cNvPr id="6" name="Layer 1 item 2" descr="pptx-deck-generated"/>
            <p:cNvSpPr/>
            <p:nvPr/>
          </p:nvSpPr>
          <p:spPr>
            <a:xfrm>
              <a:off x="509720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共通メール</a:t>
              </a:r>
            </a:p>
          </p:txBody>
        </p:sp>
        <p:sp>
          <p:nvSpPr>
            <p:cNvPr id="7" name="Layer 1 item 3" descr="pptx-deck-generated"/>
            <p:cNvSpPr/>
            <p:nvPr/>
          </p:nvSpPr>
          <p:spPr>
            <a:xfrm>
              <a:off x="719289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受付台帳</a:t>
              </a:r>
            </a:p>
          </p:txBody>
        </p:sp>
        <p:sp>
          <p:nvSpPr>
            <p:cNvPr id="8" name="Layer 1 item 4" descr="pptx-deck-generated"/>
            <p:cNvSpPr/>
            <p:nvPr/>
          </p:nvSpPr>
          <p:spPr>
            <a:xfrm>
              <a:off x="928858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進捗通知</a:t>
              </a:r>
            </a:p>
          </p:txBody>
        </p:sp>
      </p:grpSp>
      <p:grpSp>
        <p:nvGrpSpPr>
          <p:cNvPr id="9" name="Layers 2" descr="pptx-deck-generated"/>
          <p:cNvGrpSpPr/>
          <p:nvPr/>
        </p:nvGrpSpPr>
        <p:grpSpPr>
          <a:xfrm>
            <a:off x="457200" y="3589020"/>
            <a:ext cx="11274551" cy="640080"/>
            <a:chOff x="0" y="0"/>
            <a:chExt cx="11274551" cy="640080"/>
          </a:xfrm>
        </p:grpSpPr>
        <p:sp>
          <p:nvSpPr>
            <p:cNvPr id="10" name="Layer 2 label" descr="pptx-deck-generated"/>
            <p:cNvSpPr/>
            <p:nvPr/>
          </p:nvSpPr>
          <p:spPr>
            <a:xfrm>
              <a:off x="0" y="0"/>
              <a:ext cx="2818638" cy="64008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運用</a:t>
              </a:r>
            </a:p>
          </p:txBody>
        </p:sp>
        <p:sp>
          <p:nvSpPr>
            <p:cNvPr id="11" name="Layer 2 item 1" descr="pptx-deck-generated"/>
            <p:cNvSpPr/>
            <p:nvPr/>
          </p:nvSpPr>
          <p:spPr>
            <a:xfrm>
              <a:off x="300151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分類基準</a:t>
              </a:r>
            </a:p>
          </p:txBody>
        </p:sp>
        <p:sp>
          <p:nvSpPr>
            <p:cNvPr id="12" name="Layer 2 item 2" descr="pptx-deck-generated"/>
            <p:cNvSpPr/>
            <p:nvPr/>
          </p:nvSpPr>
          <p:spPr>
            <a:xfrm>
              <a:off x="509720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担当表</a:t>
              </a:r>
            </a:p>
          </p:txBody>
        </p:sp>
        <p:sp>
          <p:nvSpPr>
            <p:cNvPr id="13" name="Layer 2 item 3" descr="pptx-deck-generated"/>
            <p:cNvSpPr/>
            <p:nvPr/>
          </p:nvSpPr>
          <p:spPr>
            <a:xfrm>
              <a:off x="719289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対応手順</a:t>
              </a:r>
            </a:p>
          </p:txBody>
        </p:sp>
        <p:sp>
          <p:nvSpPr>
            <p:cNvPr id="14" name="Layer 2 item 4" descr="pptx-deck-generated"/>
            <p:cNvSpPr/>
            <p:nvPr/>
          </p:nvSpPr>
          <p:spPr>
            <a:xfrm>
              <a:off x="928858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優先度設定</a:t>
              </a:r>
            </a:p>
          </p:txBody>
        </p:sp>
      </p:grpSp>
      <p:grpSp>
        <p:nvGrpSpPr>
          <p:cNvPr id="15" name="Layers 3" descr="pptx-deck-generated"/>
          <p:cNvGrpSpPr/>
          <p:nvPr/>
        </p:nvGrpSpPr>
        <p:grpSpPr>
          <a:xfrm>
            <a:off x="457200" y="4338828"/>
            <a:ext cx="11274551" cy="640080"/>
            <a:chOff x="0" y="0"/>
            <a:chExt cx="11274551" cy="640080"/>
          </a:xfrm>
        </p:grpSpPr>
        <p:sp>
          <p:nvSpPr>
            <p:cNvPr id="16" name="Layer 3 label" descr="pptx-deck-generated"/>
            <p:cNvSpPr/>
            <p:nvPr/>
          </p:nvSpPr>
          <p:spPr>
            <a:xfrm>
              <a:off x="0" y="0"/>
              <a:ext cx="2818638" cy="640080"/>
            </a:xfrm>
            <a:prstGeom prst="rect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lt1"/>
                  </a:solidFill>
                  <a:latin typeface="Yu Gothic"/>
                  <a:ea typeface="Yu Gothic"/>
                </a:rPr>
                <a:t>ナレッジ</a:t>
              </a:r>
            </a:p>
          </p:txBody>
        </p:sp>
        <p:sp>
          <p:nvSpPr>
            <p:cNvPr id="17" name="Layer 3 item 1" descr="pptx-deck-generated"/>
            <p:cNvSpPr/>
            <p:nvPr/>
          </p:nvSpPr>
          <p:spPr>
            <a:xfrm>
              <a:off x="300151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</a:t>
              </a:r>
            </a:p>
          </p:txBody>
        </p:sp>
        <p:sp>
          <p:nvSpPr>
            <p:cNvPr id="18" name="Layer 3 item 2" descr="pptx-deck-generated"/>
            <p:cNvSpPr/>
            <p:nvPr/>
          </p:nvSpPr>
          <p:spPr>
            <a:xfrm>
              <a:off x="5097208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対応履歴</a:t>
              </a:r>
            </a:p>
          </p:txBody>
        </p:sp>
        <p:sp>
          <p:nvSpPr>
            <p:cNvPr id="19" name="Layer 3 item 3" descr="pptx-deck-generated"/>
            <p:cNvSpPr/>
            <p:nvPr/>
          </p:nvSpPr>
          <p:spPr>
            <a:xfrm>
              <a:off x="719289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更新ルール</a:t>
              </a:r>
            </a:p>
          </p:txBody>
        </p:sp>
        <p:sp>
          <p:nvSpPr>
            <p:cNvPr id="20" name="Layer 3 item 4" descr="pptx-deck-generated"/>
            <p:cNvSpPr/>
            <p:nvPr/>
          </p:nvSpPr>
          <p:spPr>
            <a:xfrm>
              <a:off x="9288589" y="0"/>
              <a:ext cx="1985962" cy="64008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参照権限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試行から全社展開</a:t>
            </a:r>
          </a:p>
        </p:txBody>
      </p:sp>
      <p:sp>
        <p:nvSpPr>
          <p:cNvPr id="3" name="Component lead" descr="pptx-deck-generated"/>
          <p:cNvSpPr txBox="1"/>
          <p:nvPr/>
        </p:nvSpPr>
        <p:spPr>
          <a:xfrm>
            <a:off x="457200" y="1645920"/>
            <a:ext cx="11274552" cy="451104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準備・試行・改善を順に進め、運用を定着させる</a:t>
            </a:r>
          </a:p>
        </p:txBody>
      </p:sp>
      <p:sp>
        <p:nvSpPr>
          <p:cNvPr id="4" name="Roadmap period 1" descr="pptx-deck-generated"/>
          <p:cNvSpPr/>
          <p:nvPr/>
        </p:nvSpPr>
        <p:spPr>
          <a:xfrm>
            <a:off x="2468880" y="2206752"/>
            <a:ext cx="2315718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10月</a:t>
            </a:r>
          </a:p>
        </p:txBody>
      </p:sp>
      <p:sp>
        <p:nvSpPr>
          <p:cNvPr id="5" name="Roadmap period 2" descr="pptx-deck-generated"/>
          <p:cNvSpPr/>
          <p:nvPr/>
        </p:nvSpPr>
        <p:spPr>
          <a:xfrm>
            <a:off x="4784598" y="2206752"/>
            <a:ext cx="2315718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11月</a:t>
            </a:r>
          </a:p>
        </p:txBody>
      </p:sp>
      <p:sp>
        <p:nvSpPr>
          <p:cNvPr id="6" name="Roadmap period 3" descr="pptx-deck-generated"/>
          <p:cNvSpPr/>
          <p:nvPr/>
        </p:nvSpPr>
        <p:spPr>
          <a:xfrm>
            <a:off x="7100316" y="2206752"/>
            <a:ext cx="2315718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12月</a:t>
            </a:r>
          </a:p>
        </p:txBody>
      </p:sp>
      <p:sp>
        <p:nvSpPr>
          <p:cNvPr id="7" name="Roadmap period 4" descr="pptx-deck-generated"/>
          <p:cNvSpPr/>
          <p:nvPr/>
        </p:nvSpPr>
        <p:spPr>
          <a:xfrm>
            <a:off x="9416034" y="2206752"/>
            <a:ext cx="2315718" cy="438912"/>
          </a:xfrm>
          <a:prstGeom prst="rect">
            <a:avLst/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lt1"/>
                </a:solidFill>
                <a:latin typeface="Yu Gothic"/>
                <a:ea typeface="Yu Gothic"/>
              </a:rPr>
              <a:t>1月</a:t>
            </a:r>
          </a:p>
        </p:txBody>
      </p:sp>
      <p:sp>
        <p:nvSpPr>
          <p:cNvPr id="8" name="Roadmap milestone 1" descr="pptx-deck-generated"/>
          <p:cNvSpPr/>
          <p:nvPr/>
        </p:nvSpPr>
        <p:spPr>
          <a:xfrm>
            <a:off x="5860161" y="2673096"/>
            <a:ext cx="164592" cy="164592"/>
          </a:xfrm>
          <a:prstGeom prst="diamond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9" name="Roadmap milestone 1 label" descr="pptx-deck-generated"/>
          <p:cNvSpPr txBox="1"/>
          <p:nvPr/>
        </p:nvSpPr>
        <p:spPr>
          <a:xfrm>
            <a:off x="5210937" y="285597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Yu Gothic"/>
                <a:ea typeface="Yu Gothic"/>
              </a:rPr>
              <a:t>試行開始</a:t>
            </a:r>
          </a:p>
        </p:txBody>
      </p:sp>
      <p:sp>
        <p:nvSpPr>
          <p:cNvPr id="10" name="Roadmap milestone 2" descr="pptx-deck-generated"/>
          <p:cNvSpPr/>
          <p:nvPr/>
        </p:nvSpPr>
        <p:spPr>
          <a:xfrm>
            <a:off x="10491597" y="2673096"/>
            <a:ext cx="164592" cy="164592"/>
          </a:xfrm>
          <a:prstGeom prst="diamond">
            <a:avLst/>
          </a:prstGeom>
          <a:solidFill>
            <a:schemeClr val="accen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1" name="Roadmap milestone 2 label" descr="pptx-deck-generated"/>
          <p:cNvSpPr txBox="1"/>
          <p:nvPr/>
        </p:nvSpPr>
        <p:spPr>
          <a:xfrm>
            <a:off x="9842372" y="285597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Yu Gothic"/>
                <a:ea typeface="Yu Gothic"/>
              </a:rPr>
              <a:t>展開判断</a:t>
            </a:r>
          </a:p>
        </p:txBody>
      </p:sp>
      <p:sp>
        <p:nvSpPr>
          <p:cNvPr id="12" name="Roadmap row 2" descr="pptx-deck-generated"/>
          <p:cNvSpPr/>
          <p:nvPr/>
        </p:nvSpPr>
        <p:spPr>
          <a:xfrm>
            <a:off x="457200" y="3819144"/>
            <a:ext cx="11274552" cy="588263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3" name="Roadmap row 4" descr="pptx-deck-generated"/>
          <p:cNvSpPr/>
          <p:nvPr/>
        </p:nvSpPr>
        <p:spPr>
          <a:xfrm>
            <a:off x="457200" y="4995672"/>
            <a:ext cx="11274552" cy="588263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cxnSp>
        <p:nvCxnSpPr>
          <p:cNvPr id="14" name="Roadmap grid 1" descr="pptx-deck-generated"/>
          <p:cNvCxnSpPr/>
          <p:nvPr/>
        </p:nvCxnSpPr>
        <p:spPr>
          <a:xfrm>
            <a:off x="2468880" y="3230880"/>
            <a:ext cx="0" cy="294132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15" name="Roadmap grid 2" descr="pptx-deck-generated"/>
          <p:cNvCxnSpPr/>
          <p:nvPr/>
        </p:nvCxnSpPr>
        <p:spPr>
          <a:xfrm>
            <a:off x="4784598" y="3230880"/>
            <a:ext cx="0" cy="294132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16" name="Roadmap grid 3" descr="pptx-deck-generated"/>
          <p:cNvCxnSpPr/>
          <p:nvPr/>
        </p:nvCxnSpPr>
        <p:spPr>
          <a:xfrm>
            <a:off x="7100316" y="3230880"/>
            <a:ext cx="0" cy="294132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17" name="Roadmap grid 4" descr="pptx-deck-generated"/>
          <p:cNvCxnSpPr/>
          <p:nvPr/>
        </p:nvCxnSpPr>
        <p:spPr>
          <a:xfrm>
            <a:off x="9416034" y="3230880"/>
            <a:ext cx="0" cy="294132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cxnSp>
        <p:nvCxnSpPr>
          <p:cNvPr id="18" name="Roadmap grid 5" descr="pptx-deck-generated"/>
          <p:cNvCxnSpPr/>
          <p:nvPr/>
        </p:nvCxnSpPr>
        <p:spPr>
          <a:xfrm>
            <a:off x="11731751" y="3230880"/>
            <a:ext cx="0" cy="294132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19" name="Roadmap track 1" descr="pptx-deck-generated"/>
          <p:cNvSpPr txBox="1"/>
          <p:nvPr/>
        </p:nvSpPr>
        <p:spPr>
          <a:xfrm>
            <a:off x="493776" y="3258312"/>
            <a:ext cx="1920240" cy="5333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運用設計</a:t>
            </a:r>
          </a:p>
        </p:txBody>
      </p:sp>
      <p:grpSp>
        <p:nvGrpSpPr>
          <p:cNvPr id="20" name="Roadmap 1" descr="pptx-deck-generated"/>
          <p:cNvGrpSpPr/>
          <p:nvPr/>
        </p:nvGrpSpPr>
        <p:grpSpPr>
          <a:xfrm>
            <a:off x="2505456" y="3332988"/>
            <a:ext cx="4558283" cy="384048"/>
            <a:chOff x="0" y="0"/>
            <a:chExt cx="4558283" cy="384048"/>
          </a:xfrm>
        </p:grpSpPr>
        <p:sp>
          <p:nvSpPr>
            <p:cNvPr id="21" name="Roadmap track 1 bar 1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手順策定</a:t>
              </a:r>
            </a:p>
          </p:txBody>
        </p:sp>
      </p:grpSp>
      <p:sp>
        <p:nvSpPr>
          <p:cNvPr id="22" name="Roadmap track 2" descr="pptx-deck-generated"/>
          <p:cNvSpPr txBox="1"/>
          <p:nvPr/>
        </p:nvSpPr>
        <p:spPr>
          <a:xfrm>
            <a:off x="493776" y="3846576"/>
            <a:ext cx="1920240" cy="5333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FAQ整備</a:t>
            </a:r>
          </a:p>
        </p:txBody>
      </p:sp>
      <p:grpSp>
        <p:nvGrpSpPr>
          <p:cNvPr id="23" name="Roadmap 11" descr="pptx-deck-generated"/>
          <p:cNvGrpSpPr/>
          <p:nvPr/>
        </p:nvGrpSpPr>
        <p:grpSpPr>
          <a:xfrm>
            <a:off x="2505456" y="3921252"/>
            <a:ext cx="6874001" cy="384048"/>
            <a:chOff x="0" y="0"/>
            <a:chExt cx="6874001" cy="384048"/>
          </a:xfrm>
        </p:grpSpPr>
        <p:sp>
          <p:nvSpPr>
            <p:cNvPr id="24" name="Roadmap track 2 bar 1" descr="pptx-deck-generated"/>
            <p:cNvSpPr/>
            <p:nvPr/>
          </p:nvSpPr>
          <p:spPr>
            <a:xfrm>
              <a:off x="0" y="0"/>
              <a:ext cx="6874001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初版・更新</a:t>
              </a:r>
            </a:p>
          </p:txBody>
        </p:sp>
      </p:grpSp>
      <p:sp>
        <p:nvSpPr>
          <p:cNvPr id="25" name="Roadmap track 3" descr="pptx-deck-generated"/>
          <p:cNvSpPr txBox="1"/>
          <p:nvPr/>
        </p:nvSpPr>
        <p:spPr>
          <a:xfrm>
            <a:off x="493776" y="4434840"/>
            <a:ext cx="1920240" cy="5333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試行・展開</a:t>
            </a:r>
          </a:p>
        </p:txBody>
      </p:sp>
      <p:grpSp>
        <p:nvGrpSpPr>
          <p:cNvPr id="26" name="Roadmap 21" descr="pptx-deck-generated"/>
          <p:cNvGrpSpPr/>
          <p:nvPr/>
        </p:nvGrpSpPr>
        <p:grpSpPr>
          <a:xfrm>
            <a:off x="4821174" y="4509516"/>
            <a:ext cx="2242565" cy="384048"/>
            <a:chOff x="0" y="0"/>
            <a:chExt cx="2242565" cy="384048"/>
          </a:xfrm>
        </p:grpSpPr>
        <p:sp>
          <p:nvSpPr>
            <p:cNvPr id="27" name="Roadmap track 3 bar 1" descr="pptx-deck-generated"/>
            <p:cNvSpPr/>
            <p:nvPr/>
          </p:nvSpPr>
          <p:spPr>
            <a:xfrm>
              <a:off x="0" y="0"/>
              <a:ext cx="2242565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試行</a:t>
              </a:r>
            </a:p>
          </p:txBody>
        </p:sp>
      </p:grpSp>
      <p:grpSp>
        <p:nvGrpSpPr>
          <p:cNvPr id="28" name="Roadmap 22" descr="pptx-deck-generated"/>
          <p:cNvGrpSpPr/>
          <p:nvPr/>
        </p:nvGrpSpPr>
        <p:grpSpPr>
          <a:xfrm>
            <a:off x="7136892" y="4509516"/>
            <a:ext cx="4558283" cy="384048"/>
            <a:chOff x="0" y="0"/>
            <a:chExt cx="4558283" cy="384048"/>
          </a:xfrm>
        </p:grpSpPr>
        <p:sp>
          <p:nvSpPr>
            <p:cNvPr id="29" name="Roadmap track 3 bar 2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展開</a:t>
              </a:r>
            </a:p>
          </p:txBody>
        </p:sp>
      </p:grpSp>
      <p:sp>
        <p:nvSpPr>
          <p:cNvPr id="30" name="Roadmap track 4" descr="pptx-deck-generated"/>
          <p:cNvSpPr txBox="1"/>
          <p:nvPr/>
        </p:nvSpPr>
        <p:spPr>
          <a:xfrm>
            <a:off x="493776" y="5023104"/>
            <a:ext cx="1920240" cy="5333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周知・説明</a:t>
            </a:r>
          </a:p>
        </p:txBody>
      </p:sp>
      <p:grpSp>
        <p:nvGrpSpPr>
          <p:cNvPr id="31" name="Roadmap 31" descr="pptx-deck-generated"/>
          <p:cNvGrpSpPr/>
          <p:nvPr/>
        </p:nvGrpSpPr>
        <p:grpSpPr>
          <a:xfrm>
            <a:off x="4821174" y="5097779"/>
            <a:ext cx="4558283" cy="384048"/>
            <a:chOff x="0" y="0"/>
            <a:chExt cx="4558283" cy="384048"/>
          </a:xfrm>
        </p:grpSpPr>
        <p:sp>
          <p:nvSpPr>
            <p:cNvPr id="32" name="Roadmap track 4 bar 1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利用案内</a:t>
              </a:r>
            </a:p>
          </p:txBody>
        </p:sp>
      </p:grpSp>
      <p:sp>
        <p:nvSpPr>
          <p:cNvPr id="33" name="Roadmap track 5" descr="pptx-deck-generated"/>
          <p:cNvSpPr txBox="1"/>
          <p:nvPr/>
        </p:nvSpPr>
        <p:spPr>
          <a:xfrm>
            <a:off x="493776" y="5611368"/>
            <a:ext cx="1920240" cy="5333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効果確認</a:t>
            </a:r>
          </a:p>
        </p:txBody>
      </p:sp>
      <p:grpSp>
        <p:nvGrpSpPr>
          <p:cNvPr id="34" name="Roadmap 41" descr="pptx-deck-generated"/>
          <p:cNvGrpSpPr/>
          <p:nvPr/>
        </p:nvGrpSpPr>
        <p:grpSpPr>
          <a:xfrm>
            <a:off x="7136892" y="5686044"/>
            <a:ext cx="4558283" cy="384048"/>
            <a:chOff x="0" y="0"/>
            <a:chExt cx="4558283" cy="384048"/>
          </a:xfrm>
        </p:grpSpPr>
        <p:sp>
          <p:nvSpPr>
            <p:cNvPr id="35" name="Roadmap track 5 bar 1" descr="pptx-deck-generated"/>
            <p:cNvSpPr/>
            <p:nvPr/>
          </p:nvSpPr>
          <p:spPr>
            <a:xfrm>
              <a:off x="0" y="0"/>
              <a:ext cx="4558283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振り返り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誰でも同じ入口から相談できる</a:t>
            </a:r>
          </a:p>
        </p:txBody>
      </p:sp>
      <p:sp>
        <p:nvSpPr>
          <p:cNvPr id="3" name="Message banner accent" descr="pptx-deck-generated"/>
          <p:cNvSpPr/>
          <p:nvPr/>
        </p:nvSpPr>
        <p:spPr>
          <a:xfrm>
            <a:off x="457200" y="3076956"/>
            <a:ext cx="54864" cy="585215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" name="Message banner" descr="pptx-deck-generated"/>
          <p:cNvSpPr txBox="1"/>
          <p:nvPr/>
        </p:nvSpPr>
        <p:spPr>
          <a:xfrm>
            <a:off x="640080" y="3076956"/>
            <a:ext cx="11091672" cy="585215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chemeClr val="accent1"/>
                </a:solidFill>
                <a:latin typeface="Yu Gothic"/>
                <a:ea typeface="Yu Gothic"/>
              </a:rPr>
              <a:t>まず受付先を一本化する</a:t>
            </a:r>
          </a:p>
        </p:txBody>
      </p:sp>
      <p:grpSp>
        <p:nvGrpSpPr>
          <p:cNvPr id="5" name="Message 1" descr="pptx-deck-generated"/>
          <p:cNvGrpSpPr/>
          <p:nvPr/>
        </p:nvGrpSpPr>
        <p:grpSpPr>
          <a:xfrm>
            <a:off x="457200" y="3918204"/>
            <a:ext cx="3660647" cy="822960"/>
            <a:chOff x="0" y="0"/>
            <a:chExt cx="3660647" cy="822960"/>
          </a:xfrm>
        </p:grpSpPr>
        <p:sp>
          <p:nvSpPr>
            <p:cNvPr id="6" name="Message support 1 panel" descr="pptx-deck-generated"/>
            <p:cNvSpPr/>
            <p:nvPr/>
          </p:nvSpPr>
          <p:spPr>
            <a:xfrm>
              <a:off x="0" y="0"/>
              <a:ext cx="3660647" cy="82296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Message support 1 body" descr="pptx-deck-generated"/>
            <p:cNvSpPr txBox="1"/>
            <p:nvPr/>
          </p:nvSpPr>
          <p:spPr>
            <a:xfrm>
              <a:off x="109728" y="73152"/>
              <a:ext cx="3441191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共通フォーム</a:t>
              </a:r>
            </a:p>
          </p:txBody>
        </p:sp>
      </p:grpSp>
      <p:grpSp>
        <p:nvGrpSpPr>
          <p:cNvPr id="8" name="Message 2" descr="pptx-deck-generated"/>
          <p:cNvGrpSpPr/>
          <p:nvPr/>
        </p:nvGrpSpPr>
        <p:grpSpPr>
          <a:xfrm>
            <a:off x="4264152" y="3918204"/>
            <a:ext cx="3660647" cy="822960"/>
            <a:chOff x="0" y="0"/>
            <a:chExt cx="3660647" cy="822960"/>
          </a:xfrm>
        </p:grpSpPr>
        <p:sp>
          <p:nvSpPr>
            <p:cNvPr id="9" name="Message support 2 panel" descr="pptx-deck-generated"/>
            <p:cNvSpPr/>
            <p:nvPr/>
          </p:nvSpPr>
          <p:spPr>
            <a:xfrm>
              <a:off x="0" y="0"/>
              <a:ext cx="3660647" cy="82296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Message support 2 body" descr="pptx-deck-generated"/>
            <p:cNvSpPr txBox="1"/>
            <p:nvPr/>
          </p:nvSpPr>
          <p:spPr>
            <a:xfrm>
              <a:off x="109728" y="73152"/>
              <a:ext cx="3441191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共通の分類基準</a:t>
              </a:r>
            </a:p>
          </p:txBody>
        </p:sp>
      </p:grpSp>
      <p:grpSp>
        <p:nvGrpSpPr>
          <p:cNvPr id="11" name="Message 3" descr="pptx-deck-generated"/>
          <p:cNvGrpSpPr/>
          <p:nvPr/>
        </p:nvGrpSpPr>
        <p:grpSpPr>
          <a:xfrm>
            <a:off x="8071104" y="3918204"/>
            <a:ext cx="3660647" cy="822960"/>
            <a:chOff x="0" y="0"/>
            <a:chExt cx="3660647" cy="822960"/>
          </a:xfrm>
        </p:grpSpPr>
        <p:sp>
          <p:nvSpPr>
            <p:cNvPr id="12" name="Message support 3 panel" descr="pptx-deck-generated"/>
            <p:cNvSpPr/>
            <p:nvPr/>
          </p:nvSpPr>
          <p:spPr>
            <a:xfrm>
              <a:off x="0" y="0"/>
              <a:ext cx="3660647" cy="82296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Message support 3 body" descr="pptx-deck-generated"/>
            <p:cNvSpPr txBox="1"/>
            <p:nvPr/>
          </p:nvSpPr>
          <p:spPr>
            <a:xfrm>
              <a:off x="109727" y="73152"/>
              <a:ext cx="3441191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担当と進捗の見える化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対応履歴を組織の知識にする</a:t>
            </a:r>
          </a:p>
        </p:txBody>
      </p:sp>
      <p:sp>
        <p:nvSpPr>
          <p:cNvPr id="3" name="Message quote mark" descr="pptx-deck-generated"/>
          <p:cNvSpPr txBox="1"/>
          <p:nvPr/>
        </p:nvSpPr>
        <p:spPr>
          <a:xfrm>
            <a:off x="457200" y="308406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chemeClr val="accent2"/>
                </a:solidFill>
                <a:latin typeface="Yu Gothic"/>
                <a:ea typeface="Yu Gothic"/>
              </a:rPr>
              <a:t>“</a:t>
            </a:r>
          </a:p>
        </p:txBody>
      </p:sp>
      <p:sp>
        <p:nvSpPr>
          <p:cNvPr id="4" name="Message quote" descr="pptx-deck-generated"/>
          <p:cNvSpPr txBox="1"/>
          <p:nvPr/>
        </p:nvSpPr>
        <p:spPr>
          <a:xfrm>
            <a:off x="932688" y="3084068"/>
            <a:ext cx="1063447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chemeClr val="dk1"/>
                </a:solidFill>
                <a:latin typeface="Yu Gothic"/>
                <a:ea typeface="Yu Gothic"/>
              </a:rPr>
              <a:t>一度の回答を、次の人の近道に。</a:t>
            </a:r>
          </a:p>
        </p:txBody>
      </p:sp>
      <p:sp>
        <p:nvSpPr>
          <p:cNvPr id="5" name="Message quote support" descr="pptx-deck-generated"/>
          <p:cNvSpPr txBox="1"/>
          <p:nvPr/>
        </p:nvSpPr>
        <p:spPr>
          <a:xfrm>
            <a:off x="822960" y="4016756"/>
            <a:ext cx="10543032" cy="7172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ctr" marL="201168" indent="-109728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3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解決内容を記録</a:t>
            </a:r>
          </a:p>
          <a:p>
            <a:pPr algn="ctr" marL="201168" indent="-109728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3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FAQを継続更新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試行前に役割を決める</a:t>
            </a:r>
          </a:p>
        </p:txBody>
      </p:sp>
      <p:sp>
        <p:nvSpPr>
          <p:cNvPr id="3" name="Checklist heading 項目" descr="pptx-deck-generated"/>
          <p:cNvSpPr txBox="1"/>
          <p:nvPr/>
        </p:nvSpPr>
        <p:spPr>
          <a:xfrm>
            <a:off x="932688" y="1988820"/>
            <a:ext cx="59755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項目</a:t>
            </a:r>
          </a:p>
        </p:txBody>
      </p:sp>
      <p:sp>
        <p:nvSpPr>
          <p:cNvPr id="4" name="Checklist heading 担当" descr="pptx-deck-generated"/>
          <p:cNvSpPr txBox="1"/>
          <p:nvPr/>
        </p:nvSpPr>
        <p:spPr>
          <a:xfrm>
            <a:off x="8574877" y="1988820"/>
            <a:ext cx="169118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担当</a:t>
            </a:r>
          </a:p>
        </p:txBody>
      </p:sp>
      <p:sp>
        <p:nvSpPr>
          <p:cNvPr id="5" name="Checklist heading 期限" descr="pptx-deck-generated"/>
          <p:cNvSpPr txBox="1"/>
          <p:nvPr/>
        </p:nvSpPr>
        <p:spPr>
          <a:xfrm>
            <a:off x="10378805" y="1988820"/>
            <a:ext cx="1240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期限</a:t>
            </a:r>
          </a:p>
        </p:txBody>
      </p:sp>
      <p:cxnSp>
        <p:nvCxnSpPr>
          <p:cNvPr id="6" name="Checklist heading divider" descr="pptx-deck-generated"/>
          <p:cNvCxnSpPr/>
          <p:nvPr/>
        </p:nvCxnSpPr>
        <p:spPr>
          <a:xfrm>
            <a:off x="457200" y="233629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7" name="Checklist 1" descr="pptx-deck-generated"/>
          <p:cNvGrpSpPr/>
          <p:nvPr/>
        </p:nvGrpSpPr>
        <p:grpSpPr>
          <a:xfrm>
            <a:off x="484632" y="2354580"/>
            <a:ext cx="11134373" cy="548640"/>
            <a:chOff x="0" y="0"/>
            <a:chExt cx="11134373" cy="548640"/>
          </a:xfrm>
        </p:grpSpPr>
        <p:sp>
          <p:nvSpPr>
            <p:cNvPr id="8" name="Checklist status 1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36576" rIns="36576" tIns="36576" bIns="36576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chemeClr val="lt1"/>
                  </a:solidFill>
                  <a:latin typeface="Yu Gothic"/>
                  <a:ea typeface="Yu Gothic"/>
                </a:rPr>
                <a:t>✓</a:t>
              </a:r>
            </a:p>
          </p:txBody>
        </p:sp>
        <p:sp>
          <p:nvSpPr>
            <p:cNvPr id="9" name="Checklist item 1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対象部門と問い合わせ範囲を決める</a:t>
              </a:r>
            </a:p>
          </p:txBody>
        </p:sp>
        <p:sp>
          <p:nvSpPr>
            <p:cNvPr id="10" name="Checklist owner 1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  <p:sp>
          <p:nvSpPr>
            <p:cNvPr id="11" name="Checklist due 1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</p:grpSp>
      <p:grpSp>
        <p:nvGrpSpPr>
          <p:cNvPr id="12" name="Checklist 2" descr="pptx-deck-generated"/>
          <p:cNvGrpSpPr/>
          <p:nvPr/>
        </p:nvGrpSpPr>
        <p:grpSpPr>
          <a:xfrm>
            <a:off x="484632" y="2939796"/>
            <a:ext cx="11134373" cy="548640"/>
            <a:chOff x="0" y="0"/>
            <a:chExt cx="11134373" cy="548640"/>
          </a:xfrm>
        </p:grpSpPr>
        <p:sp>
          <p:nvSpPr>
            <p:cNvPr id="13" name="Checklist status 2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hecklist item 2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受付フォームの項目を確定する</a:t>
              </a:r>
            </a:p>
          </p:txBody>
        </p:sp>
        <p:sp>
          <p:nvSpPr>
            <p:cNvPr id="15" name="Checklist owner 2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業務企画</a:t>
              </a:r>
            </a:p>
          </p:txBody>
        </p:sp>
        <p:sp>
          <p:nvSpPr>
            <p:cNvPr id="16" name="Checklist due 2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10月中</a:t>
              </a:r>
            </a:p>
          </p:txBody>
        </p:sp>
      </p:grpSp>
      <p:cxnSp>
        <p:nvCxnSpPr>
          <p:cNvPr id="17" name="Checklist divider 2" descr="pptx-deck-generated"/>
          <p:cNvCxnSpPr/>
          <p:nvPr/>
        </p:nvCxnSpPr>
        <p:spPr>
          <a:xfrm>
            <a:off x="457200" y="2921508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8" name="Checklist 3" descr="pptx-deck-generated"/>
          <p:cNvGrpSpPr/>
          <p:nvPr/>
        </p:nvGrpSpPr>
        <p:grpSpPr>
          <a:xfrm>
            <a:off x="484632" y="3525012"/>
            <a:ext cx="11134373" cy="548640"/>
            <a:chOff x="0" y="0"/>
            <a:chExt cx="11134373" cy="548640"/>
          </a:xfrm>
        </p:grpSpPr>
        <p:sp>
          <p:nvSpPr>
            <p:cNvPr id="19" name="Checklist status 3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solidFill>
              <a:schemeClr val="accent2"/>
            </a:solidFill>
          </p:spPr>
          <p:txBody>
            <a:bodyPr rtlCol="0" anchor="ctr" wrap="square" lIns="36576" rIns="36576" tIns="36576" bIns="36576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chemeClr val="dk1"/>
                  </a:solidFill>
                  <a:latin typeface="Yu Gothic"/>
                  <a:ea typeface="Yu Gothic"/>
                </a:rPr>
                <a:t>!</a:t>
              </a:r>
            </a:p>
          </p:txBody>
        </p:sp>
        <p:sp>
          <p:nvSpPr>
            <p:cNvPr id="20" name="Checklist item 3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一次窓口の当番表を作成する</a:t>
              </a:r>
            </a:p>
          </p:txBody>
        </p:sp>
        <p:sp>
          <p:nvSpPr>
            <p:cNvPr id="21" name="Checklist owner 3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情シス</a:t>
              </a:r>
            </a:p>
          </p:txBody>
        </p:sp>
        <p:sp>
          <p:nvSpPr>
            <p:cNvPr id="22" name="Checklist due 3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試行前</a:t>
              </a:r>
            </a:p>
          </p:txBody>
        </p:sp>
      </p:grpSp>
      <p:cxnSp>
        <p:nvCxnSpPr>
          <p:cNvPr id="23" name="Checklist divider 3" descr="pptx-deck-generated"/>
          <p:cNvCxnSpPr/>
          <p:nvPr/>
        </p:nvCxnSpPr>
        <p:spPr>
          <a:xfrm>
            <a:off x="457200" y="3506724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4" name="Checklist 4" descr="pptx-deck-generated"/>
          <p:cNvGrpSpPr/>
          <p:nvPr/>
        </p:nvGrpSpPr>
        <p:grpSpPr>
          <a:xfrm>
            <a:off x="484632" y="4110227"/>
            <a:ext cx="11134373" cy="548640"/>
            <a:chOff x="0" y="0"/>
            <a:chExt cx="11134373" cy="548640"/>
          </a:xfrm>
        </p:grpSpPr>
        <p:sp>
          <p:nvSpPr>
            <p:cNvPr id="25" name="Checklist status 4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hecklist item 4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FAQの更新責任者を決める</a:t>
              </a:r>
            </a:p>
          </p:txBody>
        </p:sp>
        <p:sp>
          <p:nvSpPr>
            <p:cNvPr id="27" name="Checklist owner 4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  <p:sp>
          <p:nvSpPr>
            <p:cNvPr id="28" name="Checklist due 4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</p:grpSp>
      <p:cxnSp>
        <p:nvCxnSpPr>
          <p:cNvPr id="29" name="Checklist divider 4" descr="pptx-deck-generated"/>
          <p:cNvCxnSpPr/>
          <p:nvPr/>
        </p:nvCxnSpPr>
        <p:spPr>
          <a:xfrm>
            <a:off x="457200" y="4091939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0" name="Checklist 5" descr="pptx-deck-generated"/>
          <p:cNvGrpSpPr/>
          <p:nvPr/>
        </p:nvGrpSpPr>
        <p:grpSpPr>
          <a:xfrm>
            <a:off x="484632" y="4695444"/>
            <a:ext cx="11134373" cy="548640"/>
            <a:chOff x="0" y="0"/>
            <a:chExt cx="11134373" cy="548640"/>
          </a:xfrm>
        </p:grpSpPr>
        <p:sp>
          <p:nvSpPr>
            <p:cNvPr id="31" name="Checklist status 5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noFill/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Checklist item 5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問い合わせ件数と対応状況の確認方法を決める</a:t>
              </a:r>
            </a:p>
          </p:txBody>
        </p:sp>
        <p:sp>
          <p:nvSpPr>
            <p:cNvPr id="33" name="Checklist owner 5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運用担当</a:t>
              </a:r>
            </a:p>
          </p:txBody>
        </p:sp>
        <p:sp>
          <p:nvSpPr>
            <p:cNvPr id="34" name="Checklist due 5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試行開始前</a:t>
              </a:r>
            </a:p>
          </p:txBody>
        </p:sp>
      </p:grpSp>
      <p:cxnSp>
        <p:nvCxnSpPr>
          <p:cNvPr id="35" name="Checklist divider 5" descr="pptx-deck-generated"/>
          <p:cNvCxnSpPr/>
          <p:nvPr/>
        </p:nvCxnSpPr>
        <p:spPr>
          <a:xfrm>
            <a:off x="457200" y="4677156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6" name="Checklist 6" descr="pptx-deck-generated"/>
          <p:cNvGrpSpPr/>
          <p:nvPr/>
        </p:nvGrpSpPr>
        <p:grpSpPr>
          <a:xfrm>
            <a:off x="484632" y="5280660"/>
            <a:ext cx="11134373" cy="548640"/>
            <a:chOff x="0" y="0"/>
            <a:chExt cx="11134373" cy="548640"/>
          </a:xfrm>
        </p:grpSpPr>
        <p:sp>
          <p:nvSpPr>
            <p:cNvPr id="37" name="Checklist status 6" descr="pptx-deck-generated"/>
            <p:cNvSpPr/>
            <p:nvPr/>
          </p:nvSpPr>
          <p:spPr>
            <a:xfrm>
              <a:off x="0" y="100584"/>
              <a:ext cx="347472" cy="347472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36576" rIns="36576" tIns="36576" bIns="36576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chemeClr val="lt1"/>
                  </a:solidFill>
                  <a:latin typeface="Yu Gothic"/>
                  <a:ea typeface="Yu Gothic"/>
                </a:rPr>
                <a:t>✓</a:t>
              </a:r>
            </a:p>
          </p:txBody>
        </p:sp>
        <p:sp>
          <p:nvSpPr>
            <p:cNvPr id="38" name="Checklist item 6" descr="pptx-deck-generated"/>
            <p:cNvSpPr txBox="1"/>
            <p:nvPr/>
          </p:nvSpPr>
          <p:spPr>
            <a:xfrm>
              <a:off x="356615" y="0"/>
              <a:ext cx="54787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試行結果を確認する日程を設定する</a:t>
              </a:r>
            </a:p>
          </p:txBody>
        </p:sp>
        <p:sp>
          <p:nvSpPr>
            <p:cNvPr id="39" name="Checklist owner 6" descr="pptx-deck-generated"/>
            <p:cNvSpPr txBox="1"/>
            <p:nvPr/>
          </p:nvSpPr>
          <p:spPr>
            <a:xfrm>
              <a:off x="8090245" y="0"/>
              <a:ext cx="16911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  <p:sp>
          <p:nvSpPr>
            <p:cNvPr id="40" name="Checklist due 6" descr="pptx-deck-generated"/>
            <p:cNvSpPr txBox="1"/>
            <p:nvPr/>
          </p:nvSpPr>
          <p:spPr>
            <a:xfrm>
              <a:off x="9894173" y="0"/>
              <a:ext cx="1240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/>
              </a:r>
            </a:p>
          </p:txBody>
        </p:sp>
      </p:grpSp>
      <p:cxnSp>
        <p:nvCxnSpPr>
          <p:cNvPr id="41" name="Checklist divider 6" descr="pptx-deck-generated"/>
          <p:cNvCxnSpPr/>
          <p:nvPr/>
        </p:nvCxnSpPr>
        <p:spPr>
          <a:xfrm>
            <a:off x="457200" y="526237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FAQの効果を検証する</a:t>
            </a:r>
          </a:p>
        </p:txBody>
      </p:sp>
      <p:graphicFrame>
        <p:nvGraphicFramePr>
          <p:cNvPr id="3" name="Library chart" descr="pptx-deck-generated"/>
          <p:cNvGraphicFramePr>
            <a:graphicFrameLocks noGrp="1"/>
          </p:cNvGraphicFramePr>
          <p:nvPr/>
        </p:nvGraphicFramePr>
        <p:xfrm>
          <a:off x="457200" y="1645920"/>
          <a:ext cx="6990222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hart key points panel" descr="pptx-deck-generated"/>
          <p:cNvSpPr/>
          <p:nvPr/>
        </p:nvSpPr>
        <p:spPr>
          <a:xfrm>
            <a:off x="7557150" y="2967228"/>
            <a:ext cx="4174601" cy="1883664"/>
          </a:xfrm>
          <a:prstGeom prst="roundRect">
            <a:avLst>
              <a:gd name="adj" fmla="val 2913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Chart 1" descr="pptx-deck-generated"/>
          <p:cNvGrpSpPr/>
          <p:nvPr/>
        </p:nvGrpSpPr>
        <p:grpSpPr>
          <a:xfrm>
            <a:off x="7676022" y="3040380"/>
            <a:ext cx="3946001" cy="554735"/>
            <a:chOff x="0" y="0"/>
            <a:chExt cx="3946001" cy="554735"/>
          </a:xfrm>
        </p:grpSpPr>
        <p:sp>
          <p:nvSpPr>
            <p:cNvPr id="6" name="Chart point 1 number" descr="pptx-deck-generated"/>
            <p:cNvSpPr/>
            <p:nvPr/>
          </p:nvSpPr>
          <p:spPr>
            <a:xfrm>
              <a:off x="0" y="8534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1</a:t>
              </a:r>
            </a:p>
          </p:txBody>
        </p:sp>
        <p:sp>
          <p:nvSpPr>
            <p:cNvPr id="7" name="Chart point 1" descr="pptx-deck-generated"/>
            <p:cNvSpPr txBox="1"/>
            <p:nvPr/>
          </p:nvSpPr>
          <p:spPr>
            <a:xfrm>
              <a:off x="374904" y="0"/>
              <a:ext cx="3571097" cy="5547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FAQ利用の推移を確認</a:t>
              </a:r>
            </a:p>
          </p:txBody>
        </p:sp>
      </p:grpSp>
      <p:grpSp>
        <p:nvGrpSpPr>
          <p:cNvPr id="8" name="Chart 2" descr="pptx-deck-generated"/>
          <p:cNvGrpSpPr/>
          <p:nvPr/>
        </p:nvGrpSpPr>
        <p:grpSpPr>
          <a:xfrm>
            <a:off x="7676022" y="3631692"/>
            <a:ext cx="3946001" cy="554735"/>
            <a:chOff x="0" y="0"/>
            <a:chExt cx="3946001" cy="554735"/>
          </a:xfrm>
        </p:grpSpPr>
        <p:sp>
          <p:nvSpPr>
            <p:cNvPr id="9" name="Chart point 2 number" descr="pptx-deck-generated"/>
            <p:cNvSpPr/>
            <p:nvPr/>
          </p:nvSpPr>
          <p:spPr>
            <a:xfrm>
              <a:off x="0" y="8534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2</a:t>
              </a:r>
            </a:p>
          </p:txBody>
        </p:sp>
        <p:sp>
          <p:nvSpPr>
            <p:cNvPr id="10" name="Chart point 2" descr="pptx-deck-generated"/>
            <p:cNvSpPr txBox="1"/>
            <p:nvPr/>
          </p:nvSpPr>
          <p:spPr>
            <a:xfrm>
              <a:off x="374904" y="0"/>
              <a:ext cx="3571097" cy="5547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未解決の理由を分類</a:t>
              </a:r>
            </a:p>
          </p:txBody>
        </p:sp>
      </p:grpSp>
      <p:grpSp>
        <p:nvGrpSpPr>
          <p:cNvPr id="11" name="Chart 3" descr="pptx-deck-generated"/>
          <p:cNvGrpSpPr/>
          <p:nvPr/>
        </p:nvGrpSpPr>
        <p:grpSpPr>
          <a:xfrm>
            <a:off x="7676022" y="4223004"/>
            <a:ext cx="3946001" cy="554735"/>
            <a:chOff x="0" y="0"/>
            <a:chExt cx="3946001" cy="554735"/>
          </a:xfrm>
        </p:grpSpPr>
        <p:sp>
          <p:nvSpPr>
            <p:cNvPr id="12" name="Chart point 3 number" descr="pptx-deck-generated"/>
            <p:cNvSpPr/>
            <p:nvPr/>
          </p:nvSpPr>
          <p:spPr>
            <a:xfrm>
              <a:off x="0" y="85344"/>
              <a:ext cx="384048" cy="384048"/>
            </a:xfrm>
            <a:prstGeom prst="ellipse">
              <a:avLst/>
            </a:prstGeom>
            <a:solidFill>
              <a:schemeClr val="accent1"/>
            </a:solidFill>
          </p:spPr>
          <p:txBody>
            <a:bodyPr rtlCol="0" anchor="ctr" wrap="square" lIns="109728" rIns="109728" tIns="73152" bIns="73152"/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3</a:t>
              </a:r>
            </a:p>
          </p:txBody>
        </p:sp>
        <p:sp>
          <p:nvSpPr>
            <p:cNvPr id="13" name="Chart point 3" descr="pptx-deck-generated"/>
            <p:cNvSpPr txBox="1"/>
            <p:nvPr/>
          </p:nvSpPr>
          <p:spPr>
            <a:xfrm>
              <a:off x="374904" y="0"/>
              <a:ext cx="3571097" cy="5547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月次で内容を更新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受付・解決数を把握</a:t>
            </a:r>
          </a:p>
        </p:txBody>
      </p:sp>
      <p:graphicFrame>
        <p:nvGraphicFramePr>
          <p:cNvPr id="3" name="Library chart" descr="pptx-deck-generated"/>
          <p:cNvGraphicFramePr>
            <a:graphicFrameLocks noGrp="1"/>
          </p:cNvGraphicFramePr>
          <p:nvPr/>
        </p:nvGraphicFramePr>
        <p:xfrm>
          <a:off x="457200" y="1645920"/>
          <a:ext cx="11274552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問い合わせ窓口ごとに対応基準をそろえる</a:t>
            </a:r>
          </a:p>
        </p:txBody>
      </p:sp>
      <p:graphicFrame>
        <p:nvGraphicFramePr>
          <p:cNvPr id="3" name="Library table" descr="pptx-deck-generated"/>
          <p:cNvGraphicFramePr>
            <a:graphicFrameLocks noGrp="1"/>
          </p:cNvGraphicFramePr>
          <p:nvPr/>
        </p:nvGraphicFramePr>
        <p:xfrm>
          <a:off x="457200" y="2179320"/>
          <a:ext cx="11274550" cy="2773680"/>
        </p:xfrm>
        <a:graphic>
          <a:graphicData uri="http://schemas.openxmlformats.org/drawingml/2006/table">
            <a:tbl>
              <a:tblPr firstRow="1"/>
              <a:tblGrid>
                <a:gridCol w="2818638"/>
                <a:gridCol w="3221300"/>
                <a:gridCol w="3221300"/>
                <a:gridCol w="2013312"/>
              </a:tblGrid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窓口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受付手段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一次回答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情報システム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フォーム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1営業日以内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達成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総務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メール・電話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3営業日以内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要改善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人事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メール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未定義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未達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2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経理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チャット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2営業日以内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確認中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" name="Component takeaway" descr="pptx-deck-generated"/>
          <p:cNvSpPr/>
          <p:nvPr/>
        </p:nvSpPr>
        <p:spPr>
          <a:xfrm>
            <a:off x="457200" y="5181600"/>
            <a:ext cx="11274552" cy="457200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 w="9525">
            <a:solidFill>
              <a:schemeClr val="lt1">
                <a:lumMod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akeaway accent" descr="pptx-deck-generated"/>
          <p:cNvSpPr/>
          <p:nvPr/>
        </p:nvSpPr>
        <p:spPr>
          <a:xfrm>
            <a:off x="457200" y="5181600"/>
            <a:ext cx="82296" cy="457200"/>
          </a:xfrm>
          <a:prstGeom prst="rect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6" name="Takeaway text" descr="pptx-deck-generated"/>
          <p:cNvSpPr txBox="1"/>
          <p:nvPr/>
        </p:nvSpPr>
        <p:spPr>
          <a:xfrm>
            <a:off x="603504" y="5181600"/>
            <a:ext cx="110733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dk1"/>
                </a:solidFill>
                <a:latin typeface="Yu Gothic"/>
                <a:ea typeface="Yu Gothic"/>
              </a:rPr>
              <a:t>未定義の窓口から基準を決める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移行対象を方式と確認方法で整理する</a:t>
            </a:r>
          </a:p>
        </p:txBody>
      </p:sp>
      <p:graphicFrame>
        <p:nvGraphicFramePr>
          <p:cNvPr id="3" name="Library table" descr="pptx-deck-generated"/>
          <p:cNvGraphicFramePr>
            <a:graphicFrameLocks noGrp="1"/>
          </p:cNvGraphicFramePr>
          <p:nvPr/>
        </p:nvGraphicFramePr>
        <p:xfrm>
          <a:off x="457200" y="2522220"/>
          <a:ext cx="11274552" cy="2773680"/>
        </p:xfrm>
        <a:graphic>
          <a:graphicData uri="http://schemas.openxmlformats.org/drawingml/2006/table">
            <a:tbl>
              <a:tblPr firstRow="1"/>
              <a:tblGrid>
                <a:gridCol w="3758184"/>
                <a:gridCol w="3758184"/>
                <a:gridCol w="3758184"/>
              </a:tblGrid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lt1"/>
                          </a:solidFill>
                          <a:latin typeface="Yu Gothic"/>
                          <a:ea typeface="Yu Gothic"/>
                        </a:rPr>
                        <a:t>確認方法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データベース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停止後にダンプして新DBへ復元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件数照合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添付ファイル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2">
                        <a:lumMod val="14000"/>
                        <a:lumOff val="86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事前に全量コピーし停止中に差分同期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2">
                        <a:lumMod val="14000"/>
                        <a:lumOff val="86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ファイル数の一致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accent2">
                        <a:lumMod val="14000"/>
                        <a:lumOff val="86000"/>
                      </a:schemeClr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認証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LDAP接続を再作成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ログイン確認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554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URL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DNSを切り替える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chemeClr val="dk1"/>
                          </a:solidFill>
                          <a:latin typeface="Yu Gothic"/>
                          <a:ea typeface="Yu Gothic"/>
                        </a:rPr>
                        <a:t>接続確認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lt1">
                          <a:lumMod val="85000"/>
                        </a:schemeClr>
                      </a:solidFill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パイロットは管理画面と通知基盤から始める</a:t>
            </a:r>
          </a:p>
        </p:txBody>
      </p:sp>
      <p:sp>
        <p:nvSpPr>
          <p:cNvPr id="3" name="Scorecard column 1" descr="pptx-deck-generated"/>
          <p:cNvSpPr txBox="1"/>
          <p:nvPr/>
        </p:nvSpPr>
        <p:spPr>
          <a:xfrm>
            <a:off x="3749039" y="192024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請求基盤</a:t>
            </a:r>
          </a:p>
        </p:txBody>
      </p:sp>
      <p:sp>
        <p:nvSpPr>
          <p:cNvPr id="4" name="Scorecard column 2 band" descr="pptx-deck-generated"/>
          <p:cNvSpPr/>
          <p:nvPr/>
        </p:nvSpPr>
        <p:spPr>
          <a:xfrm>
            <a:off x="5772150" y="1645920"/>
            <a:ext cx="1940814" cy="4105656"/>
          </a:xfrm>
          <a:prstGeom prst="roundRect">
            <a:avLst>
              <a:gd name="adj" fmla="val 2827"/>
            </a:avLst>
          </a:prstGeom>
          <a:solidFill>
            <a:schemeClr val="accent2">
              <a:lumMod val="12000"/>
              <a:lumOff val="88000"/>
            </a:schemeClr>
          </a:solidFill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corecard column 2 badge" descr="pptx-deck-generated"/>
          <p:cNvSpPr/>
          <p:nvPr/>
        </p:nvSpPr>
        <p:spPr>
          <a:xfrm>
            <a:off x="6358508" y="1700784"/>
            <a:ext cx="76809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</p:spPr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推奨</a:t>
            </a:r>
          </a:p>
        </p:txBody>
      </p:sp>
      <p:sp>
        <p:nvSpPr>
          <p:cNvPr id="6" name="Scorecard column 2" descr="pptx-deck-generated"/>
          <p:cNvSpPr txBox="1"/>
          <p:nvPr/>
        </p:nvSpPr>
        <p:spPr>
          <a:xfrm>
            <a:off x="5744718" y="192024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2"/>
                </a:solidFill>
                <a:latin typeface="Yu Gothic"/>
                <a:ea typeface="Yu Gothic"/>
              </a:rPr>
              <a:t>管理画面</a:t>
            </a:r>
          </a:p>
        </p:txBody>
      </p:sp>
      <p:sp>
        <p:nvSpPr>
          <p:cNvPr id="7" name="Scorecard column 3 band" descr="pptx-deck-generated"/>
          <p:cNvSpPr/>
          <p:nvPr/>
        </p:nvSpPr>
        <p:spPr>
          <a:xfrm>
            <a:off x="7767827" y="1645920"/>
            <a:ext cx="1940814" cy="4105656"/>
          </a:xfrm>
          <a:prstGeom prst="roundRect">
            <a:avLst>
              <a:gd name="adj" fmla="val 2827"/>
            </a:avLst>
          </a:prstGeom>
          <a:solidFill>
            <a:schemeClr val="accent2">
              <a:lumMod val="12000"/>
              <a:lumOff val="88000"/>
            </a:schemeClr>
          </a:solidFill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corecard column 3 badge" descr="pptx-deck-generated"/>
          <p:cNvSpPr/>
          <p:nvPr/>
        </p:nvSpPr>
        <p:spPr>
          <a:xfrm>
            <a:off x="8354187" y="1700784"/>
            <a:ext cx="768096" cy="237744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</p:spPr>
        <p:txBody>
          <a:bodyPr rtlCol="0" anchor="ctr" wrap="none" lIns="9144" rIns="9144" tIns="9144" bIns="9144"/>
          <a:lstStyle/>
          <a:p>
            <a:pPr algn="ctr"/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推奨</a:t>
            </a:r>
          </a:p>
        </p:txBody>
      </p:sp>
      <p:sp>
        <p:nvSpPr>
          <p:cNvPr id="9" name="Scorecard column 3" descr="pptx-deck-generated"/>
          <p:cNvSpPr txBox="1"/>
          <p:nvPr/>
        </p:nvSpPr>
        <p:spPr>
          <a:xfrm>
            <a:off x="7740396" y="192024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2"/>
                </a:solidFill>
                <a:latin typeface="Yu Gothic"/>
                <a:ea typeface="Yu Gothic"/>
              </a:rPr>
              <a:t>通知基盤</a:t>
            </a:r>
          </a:p>
        </p:txBody>
      </p:sp>
      <p:sp>
        <p:nvSpPr>
          <p:cNvPr id="10" name="Scorecard column 4" descr="pptx-deck-generated"/>
          <p:cNvSpPr txBox="1"/>
          <p:nvPr/>
        </p:nvSpPr>
        <p:spPr>
          <a:xfrm>
            <a:off x="9736074" y="1920240"/>
            <a:ext cx="1995678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認証基盤</a:t>
            </a:r>
          </a:p>
        </p:txBody>
      </p:sp>
      <p:cxnSp>
        <p:nvCxnSpPr>
          <p:cNvPr id="11" name="Scorecard header rule" descr="pptx-deck-generated"/>
          <p:cNvCxnSpPr/>
          <p:nvPr/>
        </p:nvCxnSpPr>
        <p:spPr>
          <a:xfrm>
            <a:off x="457200" y="2438400"/>
            <a:ext cx="112745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12" name="Scorecard row 1" descr="pptx-deck-generated"/>
          <p:cNvGrpSpPr/>
          <p:nvPr/>
        </p:nvGrpSpPr>
        <p:grpSpPr>
          <a:xfrm>
            <a:off x="457200" y="2438400"/>
            <a:ext cx="11274552" cy="552196"/>
            <a:chOff x="0" y="0"/>
            <a:chExt cx="11274552" cy="552196"/>
          </a:xfrm>
        </p:grpSpPr>
        <p:sp>
          <p:nvSpPr>
            <p:cNvPr id="13" name="Scorecard row 1" descr="pptx-deck-generated"/>
            <p:cNvSpPr txBox="1"/>
            <p:nvPr/>
          </p:nvSpPr>
          <p:spPr>
            <a:xfrm>
              <a:off x="0" y="0"/>
              <a:ext cx="3291840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変更頻度が高い</a:t>
              </a:r>
            </a:p>
          </p:txBody>
        </p:sp>
        <p:sp>
          <p:nvSpPr>
            <p:cNvPr id="14" name="Scorecard cell 1-1" descr="pptx-deck-generated"/>
            <p:cNvSpPr txBox="1"/>
            <p:nvPr/>
          </p:nvSpPr>
          <p:spPr>
            <a:xfrm>
              <a:off x="3291839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15" name="Scorecard cell 1-2" descr="pptx-deck-generated"/>
            <p:cNvSpPr txBox="1"/>
            <p:nvPr/>
          </p:nvSpPr>
          <p:spPr>
            <a:xfrm>
              <a:off x="5287517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16" name="Scorecard cell 1-3" descr="pptx-deck-generated"/>
            <p:cNvSpPr txBox="1"/>
            <p:nvPr/>
          </p:nvSpPr>
          <p:spPr>
            <a:xfrm>
              <a:off x="7283196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17" name="Scorecard cell 1-4" descr="pptx-deck-generated"/>
            <p:cNvSpPr txBox="1"/>
            <p:nvPr/>
          </p:nvSpPr>
          <p:spPr>
            <a:xfrm>
              <a:off x="9278874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</p:grpSp>
      <p:cxnSp>
        <p:nvCxnSpPr>
          <p:cNvPr id="18" name="Scorecard rule 1" descr="pptx-deck-generated"/>
          <p:cNvCxnSpPr/>
          <p:nvPr/>
        </p:nvCxnSpPr>
        <p:spPr>
          <a:xfrm>
            <a:off x="457200" y="2990596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9" name="Scorecard row 2" descr="pptx-deck-generated"/>
          <p:cNvGrpSpPr/>
          <p:nvPr/>
        </p:nvGrpSpPr>
        <p:grpSpPr>
          <a:xfrm>
            <a:off x="457200" y="2990596"/>
            <a:ext cx="11274552" cy="552196"/>
            <a:chOff x="0" y="0"/>
            <a:chExt cx="11274552" cy="552196"/>
          </a:xfrm>
        </p:grpSpPr>
        <p:sp>
          <p:nvSpPr>
            <p:cNvPr id="20" name="Scorecard row 2" descr="pptx-deck-generated"/>
            <p:cNvSpPr txBox="1"/>
            <p:nvPr/>
          </p:nvSpPr>
          <p:spPr>
            <a:xfrm>
              <a:off x="0" y="0"/>
              <a:ext cx="3291840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エキスパートが在籍</a:t>
              </a:r>
            </a:p>
          </p:txBody>
        </p:sp>
        <p:sp>
          <p:nvSpPr>
            <p:cNvPr id="21" name="Scorecard cell 2-1" descr="pptx-deck-generated"/>
            <p:cNvSpPr txBox="1"/>
            <p:nvPr/>
          </p:nvSpPr>
          <p:spPr>
            <a:xfrm>
              <a:off x="3291839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22" name="Scorecard cell 2-2" descr="pptx-deck-generated"/>
            <p:cNvSpPr txBox="1"/>
            <p:nvPr/>
          </p:nvSpPr>
          <p:spPr>
            <a:xfrm>
              <a:off x="5287517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23" name="Scorecard cell 2-3" descr="pptx-deck-generated"/>
            <p:cNvSpPr txBox="1"/>
            <p:nvPr/>
          </p:nvSpPr>
          <p:spPr>
            <a:xfrm>
              <a:off x="7283196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24" name="Scorecard cell 2-4" descr="pptx-deck-generated"/>
            <p:cNvSpPr txBox="1"/>
            <p:nvPr/>
          </p:nvSpPr>
          <p:spPr>
            <a:xfrm>
              <a:off x="9278874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</p:grpSp>
      <p:cxnSp>
        <p:nvCxnSpPr>
          <p:cNvPr id="25" name="Scorecard rule 2" descr="pptx-deck-generated"/>
          <p:cNvCxnSpPr/>
          <p:nvPr/>
        </p:nvCxnSpPr>
        <p:spPr>
          <a:xfrm>
            <a:off x="457200" y="354279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6" name="Scorecard row 3" descr="pptx-deck-generated"/>
          <p:cNvGrpSpPr/>
          <p:nvPr/>
        </p:nvGrpSpPr>
        <p:grpSpPr>
          <a:xfrm>
            <a:off x="457200" y="3542792"/>
            <a:ext cx="11274552" cy="552196"/>
            <a:chOff x="0" y="0"/>
            <a:chExt cx="11274552" cy="552196"/>
          </a:xfrm>
        </p:grpSpPr>
        <p:sp>
          <p:nvSpPr>
            <p:cNvPr id="27" name="Scorecard row 3" descr="pptx-deck-generated"/>
            <p:cNvSpPr txBox="1"/>
            <p:nvPr/>
          </p:nvSpPr>
          <p:spPr>
            <a:xfrm>
              <a:off x="0" y="0"/>
              <a:ext cx="3291840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自動テストが厚い</a:t>
              </a:r>
            </a:p>
          </p:txBody>
        </p:sp>
        <p:sp>
          <p:nvSpPr>
            <p:cNvPr id="28" name="Scorecard cell 3-1" descr="pptx-deck-generated"/>
            <p:cNvSpPr txBox="1"/>
            <p:nvPr/>
          </p:nvSpPr>
          <p:spPr>
            <a:xfrm>
              <a:off x="3291839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  <p:sp>
          <p:nvSpPr>
            <p:cNvPr id="29" name="Scorecard cell 3-2" descr="pptx-deck-generated"/>
            <p:cNvSpPr txBox="1"/>
            <p:nvPr/>
          </p:nvSpPr>
          <p:spPr>
            <a:xfrm>
              <a:off x="5287517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30" name="Scorecard cell 3-3" descr="pptx-deck-generated"/>
            <p:cNvSpPr txBox="1"/>
            <p:nvPr/>
          </p:nvSpPr>
          <p:spPr>
            <a:xfrm>
              <a:off x="7283196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31" name="Scorecard cell 3-4" descr="pptx-deck-generated"/>
            <p:cNvSpPr txBox="1"/>
            <p:nvPr/>
          </p:nvSpPr>
          <p:spPr>
            <a:xfrm>
              <a:off x="9278874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</p:grpSp>
      <p:cxnSp>
        <p:nvCxnSpPr>
          <p:cNvPr id="32" name="Scorecard rule 3" descr="pptx-deck-generated"/>
          <p:cNvCxnSpPr/>
          <p:nvPr/>
        </p:nvCxnSpPr>
        <p:spPr>
          <a:xfrm>
            <a:off x="457200" y="4094988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3" name="Scorecard row 4" descr="pptx-deck-generated"/>
          <p:cNvGrpSpPr/>
          <p:nvPr/>
        </p:nvGrpSpPr>
        <p:grpSpPr>
          <a:xfrm>
            <a:off x="457200" y="4094988"/>
            <a:ext cx="11274552" cy="552196"/>
            <a:chOff x="0" y="0"/>
            <a:chExt cx="11274552" cy="552196"/>
          </a:xfrm>
        </p:grpSpPr>
        <p:sp>
          <p:nvSpPr>
            <p:cNvPr id="34" name="Scorecard row 4" descr="pptx-deck-generated"/>
            <p:cNvSpPr txBox="1"/>
            <p:nvPr/>
          </p:nvSpPr>
          <p:spPr>
            <a:xfrm>
              <a:off x="0" y="0"/>
              <a:ext cx="3291840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失敗時の顧客影響が小さい</a:t>
              </a:r>
            </a:p>
          </p:txBody>
        </p:sp>
        <p:sp>
          <p:nvSpPr>
            <p:cNvPr id="35" name="Scorecard cell 4-1" descr="pptx-deck-generated"/>
            <p:cNvSpPr txBox="1"/>
            <p:nvPr/>
          </p:nvSpPr>
          <p:spPr>
            <a:xfrm>
              <a:off x="3291839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×</a:t>
              </a:r>
            </a:p>
          </p:txBody>
        </p:sp>
        <p:sp>
          <p:nvSpPr>
            <p:cNvPr id="36" name="Scorecard cell 4-2" descr="pptx-deck-generated"/>
            <p:cNvSpPr txBox="1"/>
            <p:nvPr/>
          </p:nvSpPr>
          <p:spPr>
            <a:xfrm>
              <a:off x="5287517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37" name="Scorecard cell 4-3" descr="pptx-deck-generated"/>
            <p:cNvSpPr txBox="1"/>
            <p:nvPr/>
          </p:nvSpPr>
          <p:spPr>
            <a:xfrm>
              <a:off x="7283196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38" name="Scorecard cell 4-4" descr="pptx-deck-generated"/>
            <p:cNvSpPr txBox="1"/>
            <p:nvPr/>
          </p:nvSpPr>
          <p:spPr>
            <a:xfrm>
              <a:off x="9278874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2"/>
                  </a:solidFill>
                  <a:latin typeface="Yu Gothic"/>
                  <a:ea typeface="Yu Gothic"/>
                </a:rPr>
                <a:t>×</a:t>
              </a:r>
            </a:p>
          </p:txBody>
        </p:sp>
      </p:grpSp>
      <p:cxnSp>
        <p:nvCxnSpPr>
          <p:cNvPr id="39" name="Scorecard rule 4" descr="pptx-deck-generated"/>
          <p:cNvCxnSpPr/>
          <p:nvPr/>
        </p:nvCxnSpPr>
        <p:spPr>
          <a:xfrm>
            <a:off x="457200" y="4647184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40" name="Scorecard row 5" descr="pptx-deck-generated"/>
          <p:cNvGrpSpPr/>
          <p:nvPr/>
        </p:nvGrpSpPr>
        <p:grpSpPr>
          <a:xfrm>
            <a:off x="457200" y="4647184"/>
            <a:ext cx="11274552" cy="552196"/>
            <a:chOff x="0" y="0"/>
            <a:chExt cx="11274552" cy="552196"/>
          </a:xfrm>
        </p:grpSpPr>
        <p:sp>
          <p:nvSpPr>
            <p:cNvPr id="41" name="Scorecard row 5" descr="pptx-deck-generated"/>
            <p:cNvSpPr txBox="1"/>
            <p:nvPr/>
          </p:nvSpPr>
          <p:spPr>
            <a:xfrm>
              <a:off x="0" y="0"/>
              <a:ext cx="3291840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リーダーの意欲</a:t>
              </a:r>
            </a:p>
          </p:txBody>
        </p:sp>
        <p:sp>
          <p:nvSpPr>
            <p:cNvPr id="42" name="Scorecard cell 5-1" descr="pptx-deck-generated"/>
            <p:cNvSpPr txBox="1"/>
            <p:nvPr/>
          </p:nvSpPr>
          <p:spPr>
            <a:xfrm>
              <a:off x="3291839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43" name="Scorecard cell 5-2" descr="pptx-deck-generated"/>
            <p:cNvSpPr txBox="1"/>
            <p:nvPr/>
          </p:nvSpPr>
          <p:spPr>
            <a:xfrm>
              <a:off x="5287517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◎</a:t>
              </a:r>
            </a:p>
          </p:txBody>
        </p:sp>
        <p:sp>
          <p:nvSpPr>
            <p:cNvPr id="44" name="Scorecard cell 5-3" descr="pptx-deck-generated"/>
            <p:cNvSpPr txBox="1"/>
            <p:nvPr/>
          </p:nvSpPr>
          <p:spPr>
            <a:xfrm>
              <a:off x="7283196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accent1"/>
                  </a:solidFill>
                  <a:latin typeface="Yu Gothic"/>
                  <a:ea typeface="Yu Gothic"/>
                </a:rPr>
                <a:t>○</a:t>
              </a:r>
            </a:p>
          </p:txBody>
        </p:sp>
        <p:sp>
          <p:nvSpPr>
            <p:cNvPr id="45" name="Scorecard cell 5-4" descr="pptx-deck-generated"/>
            <p:cNvSpPr txBox="1"/>
            <p:nvPr/>
          </p:nvSpPr>
          <p:spPr>
            <a:xfrm>
              <a:off x="9278874" y="0"/>
              <a:ext cx="1995678" cy="552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0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△</a:t>
              </a:r>
            </a:p>
          </p:txBody>
        </p:sp>
      </p:grpSp>
      <p:cxnSp>
        <p:nvCxnSpPr>
          <p:cNvPr id="46" name="Scorecard rule 5" descr="pptx-deck-generated"/>
          <p:cNvCxnSpPr/>
          <p:nvPr/>
        </p:nvCxnSpPr>
        <p:spPr>
          <a:xfrm>
            <a:off x="457200" y="5199380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47" name="Scorecard total label" descr="pptx-deck-generated"/>
          <p:cNvSpPr txBox="1"/>
          <p:nvPr/>
        </p:nvSpPr>
        <p:spPr>
          <a:xfrm>
            <a:off x="457200" y="5199380"/>
            <a:ext cx="3291840" cy="5521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/>
                </a:solidFill>
                <a:latin typeface="Yu Gothic"/>
                <a:ea typeface="Yu Gothic"/>
              </a:rPr>
              <a:t>合計（◎3・○2・△1・×0）</a:t>
            </a:r>
          </a:p>
        </p:txBody>
      </p:sp>
      <p:sp>
        <p:nvSpPr>
          <p:cNvPr id="48" name="Scorecard total 1" descr="pptx-deck-generated"/>
          <p:cNvSpPr txBox="1"/>
          <p:nvPr/>
        </p:nvSpPr>
        <p:spPr>
          <a:xfrm>
            <a:off x="3749039" y="5199380"/>
            <a:ext cx="1995678" cy="5521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49" name="Scorecard total 2" descr="pptx-deck-generated"/>
          <p:cNvSpPr txBox="1"/>
          <p:nvPr/>
        </p:nvSpPr>
        <p:spPr>
          <a:xfrm>
            <a:off x="5744718" y="5199380"/>
            <a:ext cx="1995678" cy="5521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accent2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50" name="Scorecard total 3" descr="pptx-deck-generated"/>
          <p:cNvSpPr txBox="1"/>
          <p:nvPr/>
        </p:nvSpPr>
        <p:spPr>
          <a:xfrm>
            <a:off x="7740396" y="5199380"/>
            <a:ext cx="1995678" cy="5521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accent2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51" name="Scorecard total 4" descr="pptx-deck-generated"/>
          <p:cNvSpPr txBox="1"/>
          <p:nvPr/>
        </p:nvSpPr>
        <p:spPr>
          <a:xfrm>
            <a:off x="9736074" y="5199380"/>
            <a:ext cx="1995678" cy="5521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dk1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52" name="Scorecard legend" descr="pptx-deck-generated"/>
          <p:cNvSpPr txBox="1"/>
          <p:nvPr/>
        </p:nvSpPr>
        <p:spPr>
          <a:xfrm>
            <a:off x="457200" y="5788152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◎ 非常に適合　○ 適合　△ 一部適合　× 不適合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役割をRACIで固定する</a:t>
            </a:r>
          </a:p>
        </p:txBody>
      </p:sp>
      <p:sp>
        <p:nvSpPr>
          <p:cNvPr id="3" name="Scorecard column 1" descr="pptx-deck-generated"/>
          <p:cNvSpPr txBox="1"/>
          <p:nvPr/>
        </p:nvSpPr>
        <p:spPr>
          <a:xfrm>
            <a:off x="3749039" y="2232660"/>
            <a:ext cx="1596542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4" name="Scorecard column 2" descr="pptx-deck-generated"/>
          <p:cNvSpPr txBox="1"/>
          <p:nvPr/>
        </p:nvSpPr>
        <p:spPr>
          <a:xfrm>
            <a:off x="5345582" y="2232660"/>
            <a:ext cx="1596542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テックリード</a:t>
            </a:r>
          </a:p>
        </p:txBody>
      </p:sp>
      <p:sp>
        <p:nvSpPr>
          <p:cNvPr id="5" name="Scorecard column 3" descr="pptx-deck-generated"/>
          <p:cNvSpPr txBox="1"/>
          <p:nvPr/>
        </p:nvSpPr>
        <p:spPr>
          <a:xfrm>
            <a:off x="6942124" y="2232660"/>
            <a:ext cx="1596542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エキスパート</a:t>
            </a:r>
          </a:p>
        </p:txBody>
      </p:sp>
      <p:sp>
        <p:nvSpPr>
          <p:cNvPr id="6" name="Scorecard column 4" descr="pptx-deck-generated"/>
          <p:cNvSpPr txBox="1"/>
          <p:nvPr/>
        </p:nvSpPr>
        <p:spPr>
          <a:xfrm>
            <a:off x="8538667" y="2232660"/>
            <a:ext cx="1596542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QA</a:t>
            </a:r>
          </a:p>
        </p:txBody>
      </p:sp>
      <p:sp>
        <p:nvSpPr>
          <p:cNvPr id="7" name="Scorecard column 5" descr="pptx-deck-generated"/>
          <p:cNvSpPr txBox="1"/>
          <p:nvPr/>
        </p:nvSpPr>
        <p:spPr>
          <a:xfrm>
            <a:off x="10135209" y="2232660"/>
            <a:ext cx="1596542" cy="518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accent1"/>
                </a:solidFill>
                <a:latin typeface="Yu Gothic"/>
                <a:ea typeface="Yu Gothic"/>
              </a:rPr>
              <a:t>CTO</a:t>
            </a:r>
          </a:p>
        </p:txBody>
      </p:sp>
      <p:cxnSp>
        <p:nvCxnSpPr>
          <p:cNvPr id="8" name="Scorecard header rule" descr="pptx-deck-generated"/>
          <p:cNvCxnSpPr/>
          <p:nvPr/>
        </p:nvCxnSpPr>
        <p:spPr>
          <a:xfrm>
            <a:off x="457200" y="2750820"/>
            <a:ext cx="112745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9" name="Scorecard row 1" descr="pptx-deck-generated"/>
          <p:cNvGrpSpPr/>
          <p:nvPr/>
        </p:nvGrpSpPr>
        <p:grpSpPr>
          <a:xfrm>
            <a:off x="457200" y="2750820"/>
            <a:ext cx="10668304" cy="603504"/>
            <a:chOff x="0" y="0"/>
            <a:chExt cx="10668304" cy="603504"/>
          </a:xfrm>
        </p:grpSpPr>
        <p:sp>
          <p:nvSpPr>
            <p:cNvPr id="10" name="Scorecard row 1" descr="pptx-deck-generated"/>
            <p:cNvSpPr txBox="1"/>
            <p:nvPr/>
          </p:nvSpPr>
          <p:spPr>
            <a:xfrm>
              <a:off x="0" y="0"/>
              <a:ext cx="3291840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コンテキスト基盤</a:t>
              </a:r>
            </a:p>
          </p:txBody>
        </p:sp>
        <p:sp>
          <p:nvSpPr>
            <p:cNvPr id="11" name="Scorecard cell 1-1" descr="pptx-deck-generated"/>
            <p:cNvSpPr/>
            <p:nvPr/>
          </p:nvSpPr>
          <p:spPr>
            <a:xfrm>
              <a:off x="3770071" y="109728"/>
              <a:ext cx="640080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A/R</a:t>
              </a:r>
            </a:p>
          </p:txBody>
        </p:sp>
        <p:sp>
          <p:nvSpPr>
            <p:cNvPr id="12" name="Scorecard cell 1-2" descr="pptx-deck-generated"/>
            <p:cNvSpPr/>
            <p:nvPr/>
          </p:nvSpPr>
          <p:spPr>
            <a:xfrm>
              <a:off x="5494629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13" name="Scorecard cell 1-3" descr="pptx-deck-generated"/>
            <p:cNvSpPr/>
            <p:nvPr/>
          </p:nvSpPr>
          <p:spPr>
            <a:xfrm>
              <a:off x="7091171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14" name="Scorecard cell 1-4" descr="pptx-deck-generated"/>
            <p:cNvSpPr/>
            <p:nvPr/>
          </p:nvSpPr>
          <p:spPr>
            <a:xfrm>
              <a:off x="8687714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</a:t>
              </a:r>
            </a:p>
          </p:txBody>
        </p:sp>
        <p:sp>
          <p:nvSpPr>
            <p:cNvPr id="15" name="Scorecard cell 1-5" descr="pptx-deck-generated"/>
            <p:cNvSpPr/>
            <p:nvPr/>
          </p:nvSpPr>
          <p:spPr>
            <a:xfrm>
              <a:off x="10284256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</a:t>
              </a:r>
            </a:p>
          </p:txBody>
        </p:sp>
      </p:grpSp>
      <p:cxnSp>
        <p:nvCxnSpPr>
          <p:cNvPr id="16" name="Scorecard rule 1" descr="pptx-deck-generated"/>
          <p:cNvCxnSpPr/>
          <p:nvPr/>
        </p:nvCxnSpPr>
        <p:spPr>
          <a:xfrm>
            <a:off x="457200" y="3354324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7" name="Scorecard row 2" descr="pptx-deck-generated"/>
          <p:cNvGrpSpPr/>
          <p:nvPr/>
        </p:nvGrpSpPr>
        <p:grpSpPr>
          <a:xfrm>
            <a:off x="457200" y="3354324"/>
            <a:ext cx="10668304" cy="603504"/>
            <a:chOff x="0" y="0"/>
            <a:chExt cx="10668304" cy="603504"/>
          </a:xfrm>
        </p:grpSpPr>
        <p:sp>
          <p:nvSpPr>
            <p:cNvPr id="18" name="Scorecard row 2" descr="pptx-deck-generated"/>
            <p:cNvSpPr txBox="1"/>
            <p:nvPr/>
          </p:nvSpPr>
          <p:spPr>
            <a:xfrm>
              <a:off x="0" y="0"/>
              <a:ext cx="3291840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暗黙知インタビュー</a:t>
              </a:r>
            </a:p>
          </p:txBody>
        </p:sp>
        <p:sp>
          <p:nvSpPr>
            <p:cNvPr id="19" name="Scorecard cell 2-1" descr="pptx-deck-generated"/>
            <p:cNvSpPr/>
            <p:nvPr/>
          </p:nvSpPr>
          <p:spPr>
            <a:xfrm>
              <a:off x="3898087" y="109728"/>
              <a:ext cx="384048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R</a:t>
              </a:r>
            </a:p>
          </p:txBody>
        </p:sp>
        <p:sp>
          <p:nvSpPr>
            <p:cNvPr id="20" name="Scorecard cell 2-2" descr="pptx-deck-generated"/>
            <p:cNvSpPr/>
            <p:nvPr/>
          </p:nvSpPr>
          <p:spPr>
            <a:xfrm>
              <a:off x="5494629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</a:t>
              </a:r>
            </a:p>
          </p:txBody>
        </p:sp>
        <p:sp>
          <p:nvSpPr>
            <p:cNvPr id="21" name="Scorecard cell 2-3" descr="pptx-deck-generated"/>
            <p:cNvSpPr/>
            <p:nvPr/>
          </p:nvSpPr>
          <p:spPr>
            <a:xfrm>
              <a:off x="7091171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22" name="Scorecard cell 2-5" descr="pptx-deck-generated"/>
            <p:cNvSpPr/>
            <p:nvPr/>
          </p:nvSpPr>
          <p:spPr>
            <a:xfrm>
              <a:off x="10284256" y="109728"/>
              <a:ext cx="384048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A</a:t>
              </a:r>
            </a:p>
          </p:txBody>
        </p:sp>
      </p:grpSp>
      <p:cxnSp>
        <p:nvCxnSpPr>
          <p:cNvPr id="23" name="Scorecard rule 2" descr="pptx-deck-generated"/>
          <p:cNvCxnSpPr/>
          <p:nvPr/>
        </p:nvCxnSpPr>
        <p:spPr>
          <a:xfrm>
            <a:off x="457200" y="3957828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4" name="Scorecard row 3" descr="pptx-deck-generated"/>
          <p:cNvGrpSpPr/>
          <p:nvPr/>
        </p:nvGrpSpPr>
        <p:grpSpPr>
          <a:xfrm>
            <a:off x="457200" y="3957828"/>
            <a:ext cx="10668304" cy="603504"/>
            <a:chOff x="0" y="0"/>
            <a:chExt cx="10668304" cy="603504"/>
          </a:xfrm>
        </p:grpSpPr>
        <p:sp>
          <p:nvSpPr>
            <p:cNvPr id="25" name="Scorecard row 3" descr="pptx-deck-generated"/>
            <p:cNvSpPr txBox="1"/>
            <p:nvPr/>
          </p:nvSpPr>
          <p:spPr>
            <a:xfrm>
              <a:off x="0" y="0"/>
              <a:ext cx="3291840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評価セット</a:t>
              </a:r>
            </a:p>
          </p:txBody>
        </p:sp>
        <p:sp>
          <p:nvSpPr>
            <p:cNvPr id="26" name="Scorecard cell 3-1" descr="pptx-deck-generated"/>
            <p:cNvSpPr/>
            <p:nvPr/>
          </p:nvSpPr>
          <p:spPr>
            <a:xfrm>
              <a:off x="3898087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27" name="Scorecard cell 3-2" descr="pptx-deck-generated"/>
            <p:cNvSpPr/>
            <p:nvPr/>
          </p:nvSpPr>
          <p:spPr>
            <a:xfrm>
              <a:off x="5494629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28" name="Scorecard cell 3-3" descr="pptx-deck-generated"/>
            <p:cNvSpPr/>
            <p:nvPr/>
          </p:nvSpPr>
          <p:spPr>
            <a:xfrm>
              <a:off x="7091171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29" name="Scorecard cell 3-4" descr="pptx-deck-generated"/>
            <p:cNvSpPr/>
            <p:nvPr/>
          </p:nvSpPr>
          <p:spPr>
            <a:xfrm>
              <a:off x="8559698" y="109728"/>
              <a:ext cx="640080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A/R</a:t>
              </a:r>
            </a:p>
          </p:txBody>
        </p:sp>
        <p:sp>
          <p:nvSpPr>
            <p:cNvPr id="30" name="Scorecard cell 3-5" descr="pptx-deck-generated"/>
            <p:cNvSpPr/>
            <p:nvPr/>
          </p:nvSpPr>
          <p:spPr>
            <a:xfrm>
              <a:off x="10284256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</a:t>
              </a:r>
            </a:p>
          </p:txBody>
        </p:sp>
      </p:grpSp>
      <p:cxnSp>
        <p:nvCxnSpPr>
          <p:cNvPr id="31" name="Scorecard rule 3" descr="pptx-deck-generated"/>
          <p:cNvCxnSpPr/>
          <p:nvPr/>
        </p:nvCxnSpPr>
        <p:spPr>
          <a:xfrm>
            <a:off x="457200" y="4561332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2" name="Scorecard row 4" descr="pptx-deck-generated"/>
          <p:cNvGrpSpPr/>
          <p:nvPr/>
        </p:nvGrpSpPr>
        <p:grpSpPr>
          <a:xfrm>
            <a:off x="457200" y="4561332"/>
            <a:ext cx="10668304" cy="603504"/>
            <a:chOff x="0" y="0"/>
            <a:chExt cx="10668304" cy="603504"/>
          </a:xfrm>
        </p:grpSpPr>
        <p:sp>
          <p:nvSpPr>
            <p:cNvPr id="33" name="Scorecard row 4" descr="pptx-deck-generated"/>
            <p:cNvSpPr txBox="1"/>
            <p:nvPr/>
          </p:nvSpPr>
          <p:spPr>
            <a:xfrm>
              <a:off x="0" y="0"/>
              <a:ext cx="3291840" cy="603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展開判断</a:t>
              </a:r>
            </a:p>
          </p:txBody>
        </p:sp>
        <p:sp>
          <p:nvSpPr>
            <p:cNvPr id="34" name="Scorecard cell 4-1" descr="pptx-deck-generated"/>
            <p:cNvSpPr/>
            <p:nvPr/>
          </p:nvSpPr>
          <p:spPr>
            <a:xfrm>
              <a:off x="3898087" y="109728"/>
              <a:ext cx="384048" cy="384048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R</a:t>
              </a:r>
            </a:p>
          </p:txBody>
        </p:sp>
        <p:sp>
          <p:nvSpPr>
            <p:cNvPr id="35" name="Scorecard cell 4-2" descr="pptx-deck-generated"/>
            <p:cNvSpPr/>
            <p:nvPr/>
          </p:nvSpPr>
          <p:spPr>
            <a:xfrm>
              <a:off x="5494629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36" name="Scorecard cell 4-3" descr="pptx-deck-generated"/>
            <p:cNvSpPr/>
            <p:nvPr/>
          </p:nvSpPr>
          <p:spPr>
            <a:xfrm>
              <a:off x="7091171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</a:t>
              </a:r>
            </a:p>
          </p:txBody>
        </p:sp>
        <p:sp>
          <p:nvSpPr>
            <p:cNvPr id="37" name="Scorecard cell 4-4" descr="pptx-deck-generated"/>
            <p:cNvSpPr/>
            <p:nvPr/>
          </p:nvSpPr>
          <p:spPr>
            <a:xfrm>
              <a:off x="8687714" y="109728"/>
              <a:ext cx="384048" cy="384048"/>
            </a:xfrm>
            <a:prstGeom prst="roundRect">
              <a:avLst>
                <a:gd name="adj" fmla="val 14286"/>
              </a:avLst>
            </a:prstGeom>
            <a:noFill/>
            <a:ln w="9525">
              <a:solidFill>
                <a:schemeClr val="accent1"/>
              </a:solidFill>
            </a:ln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accent1"/>
                  </a:solidFill>
                  <a:latin typeface="Yu Gothic"/>
                  <a:ea typeface="Yu Gothic"/>
                </a:rPr>
                <a:t>C</a:t>
              </a:r>
            </a:p>
          </p:txBody>
        </p:sp>
        <p:sp>
          <p:nvSpPr>
            <p:cNvPr id="38" name="Scorecard cell 4-5" descr="pptx-deck-generated"/>
            <p:cNvSpPr/>
            <p:nvPr/>
          </p:nvSpPr>
          <p:spPr>
            <a:xfrm>
              <a:off x="10284256" y="109728"/>
              <a:ext cx="384048" cy="384048"/>
            </a:xfrm>
            <a:prstGeom prst="roundRect">
              <a:avLst>
                <a:gd name="adj" fmla="val 14286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A</a:t>
              </a:r>
            </a:p>
          </p:txBody>
        </p:sp>
      </p:grpSp>
      <p:cxnSp>
        <p:nvCxnSpPr>
          <p:cNvPr id="39" name="Scorecard rule 4" descr="pptx-deck-generated"/>
          <p:cNvCxnSpPr/>
          <p:nvPr/>
        </p:nvCxnSpPr>
        <p:spPr>
          <a:xfrm>
            <a:off x="457200" y="5164836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sp>
        <p:nvSpPr>
          <p:cNvPr id="40" name="Scorecard legend" descr="pptx-deck-generated"/>
          <p:cNvSpPr txBox="1"/>
          <p:nvPr/>
        </p:nvSpPr>
        <p:spPr>
          <a:xfrm>
            <a:off x="457200" y="5201412"/>
            <a:ext cx="1127455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R 実行　A 説明責任　C 相談　I 報告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3回の判断ゲートで続行か修正かを決める</a:t>
            </a:r>
          </a:p>
        </p:txBody>
      </p:sp>
      <p:cxnSp>
        <p:nvCxnSpPr>
          <p:cNvPr id="3" name="Timeline axis" descr="pptx-deck-generated"/>
          <p:cNvCxnSpPr/>
          <p:nvPr/>
        </p:nvCxnSpPr>
        <p:spPr>
          <a:xfrm>
            <a:off x="457200" y="3561588"/>
            <a:ext cx="11274552" cy="0"/>
          </a:xfrm>
          <a:prstGeom prst="line">
            <a:avLst/>
          </a:prstGeom>
          <a:ln w="25400">
            <a:solidFill>
              <a:schemeClr val="lt1">
                <a:lumMod val="85000"/>
              </a:schemeClr>
            </a:solidFill>
            <a:tailEnd type="triangle" w="med" len="med"/>
          </a:ln>
        </p:spPr>
      </p:cxnSp>
      <p:grpSp>
        <p:nvGrpSpPr>
          <p:cNvPr id="4" name="Timeline 1" descr="pptx-deck-generated"/>
          <p:cNvGrpSpPr/>
          <p:nvPr/>
        </p:nvGrpSpPr>
        <p:grpSpPr>
          <a:xfrm>
            <a:off x="457199" y="2958084"/>
            <a:ext cx="2818638" cy="1901952"/>
            <a:chOff x="0" y="0"/>
            <a:chExt cx="2818638" cy="1901952"/>
          </a:xfrm>
        </p:grpSpPr>
        <p:sp>
          <p:nvSpPr>
            <p:cNvPr id="5" name="Timeline date 1" descr="pptx-deck-generated"/>
            <p:cNvSpPr txBox="1"/>
            <p:nvPr/>
          </p:nvSpPr>
          <p:spPr>
            <a:xfrm>
              <a:off x="0" y="0"/>
              <a:ext cx="2818638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b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Day 0</a:t>
              </a:r>
            </a:p>
          </p:txBody>
        </p:sp>
        <p:sp>
          <p:nvSpPr>
            <p:cNvPr id="6" name="Timeline dot 1" descr="pptx-deck-generated"/>
            <p:cNvSpPr/>
            <p:nvPr/>
          </p:nvSpPr>
          <p:spPr>
            <a:xfrm>
              <a:off x="1290448" y="484632"/>
              <a:ext cx="237744" cy="2377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imeline label 1" descr="pptx-deck-generated"/>
            <p:cNvSpPr txBox="1"/>
            <p:nvPr/>
          </p:nvSpPr>
          <p:spPr>
            <a:xfrm>
              <a:off x="54864" y="877824"/>
              <a:ext cx="2708910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キックオフ</a:t>
              </a:r>
            </a:p>
          </p:txBody>
        </p:sp>
        <p:sp>
          <p:nvSpPr>
            <p:cNvPr id="8" name="Timeline detail 1" descr="pptx-deck-generated"/>
            <p:cNvSpPr txBox="1"/>
            <p:nvPr/>
          </p:nvSpPr>
          <p:spPr>
            <a:xfrm>
              <a:off x="54864" y="1267968"/>
              <a:ext cx="2708910" cy="633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パイロット2チームとエキスパートを確定</a:t>
              </a:r>
            </a:p>
          </p:txBody>
        </p:sp>
      </p:grpSp>
      <p:grpSp>
        <p:nvGrpSpPr>
          <p:cNvPr id="9" name="Timeline 2" descr="pptx-deck-generated"/>
          <p:cNvGrpSpPr/>
          <p:nvPr/>
        </p:nvGrpSpPr>
        <p:grpSpPr>
          <a:xfrm>
            <a:off x="3275838" y="2958084"/>
            <a:ext cx="2818638" cy="1901952"/>
            <a:chOff x="0" y="0"/>
            <a:chExt cx="2818638" cy="1901952"/>
          </a:xfrm>
        </p:grpSpPr>
        <p:sp>
          <p:nvSpPr>
            <p:cNvPr id="10" name="Timeline date 2" descr="pptx-deck-generated"/>
            <p:cNvSpPr txBox="1"/>
            <p:nvPr/>
          </p:nvSpPr>
          <p:spPr>
            <a:xfrm>
              <a:off x="0" y="0"/>
              <a:ext cx="2818638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b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Day 30</a:t>
              </a:r>
            </a:p>
          </p:txBody>
        </p:sp>
        <p:sp>
          <p:nvSpPr>
            <p:cNvPr id="11" name="Timeline dot 2" descr="pptx-deck-generated"/>
            <p:cNvSpPr/>
            <p:nvPr/>
          </p:nvSpPr>
          <p:spPr>
            <a:xfrm>
              <a:off x="1290447" y="484632"/>
              <a:ext cx="237744" cy="2377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imeline label 2" descr="pptx-deck-generated"/>
            <p:cNvSpPr txBox="1"/>
            <p:nvPr/>
          </p:nvSpPr>
          <p:spPr>
            <a:xfrm>
              <a:off x="54864" y="877824"/>
              <a:ext cx="2708910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基盤v1判定</a:t>
              </a:r>
            </a:p>
          </p:txBody>
        </p:sp>
        <p:sp>
          <p:nvSpPr>
            <p:cNvPr id="13" name="Timeline detail 2" descr="pptx-deck-generated"/>
            <p:cNvSpPr txBox="1"/>
            <p:nvPr/>
          </p:nvSpPr>
          <p:spPr>
            <a:xfrm>
              <a:off x="54864" y="1267968"/>
              <a:ext cx="2708910" cy="633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指示ファイル配置・利用ガイド公開</a:t>
              </a:r>
            </a:p>
          </p:txBody>
        </p:sp>
      </p:grpSp>
      <p:grpSp>
        <p:nvGrpSpPr>
          <p:cNvPr id="14" name="Timeline 3" descr="pptx-deck-generated"/>
          <p:cNvGrpSpPr/>
          <p:nvPr/>
        </p:nvGrpSpPr>
        <p:grpSpPr>
          <a:xfrm>
            <a:off x="6094476" y="2958084"/>
            <a:ext cx="2818638" cy="1901952"/>
            <a:chOff x="0" y="0"/>
            <a:chExt cx="2818638" cy="1901952"/>
          </a:xfrm>
        </p:grpSpPr>
        <p:sp>
          <p:nvSpPr>
            <p:cNvPr id="15" name="Timeline date 3" descr="pptx-deck-generated"/>
            <p:cNvSpPr txBox="1"/>
            <p:nvPr/>
          </p:nvSpPr>
          <p:spPr>
            <a:xfrm>
              <a:off x="0" y="0"/>
              <a:ext cx="2818638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b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Day 60</a:t>
              </a:r>
            </a:p>
          </p:txBody>
        </p:sp>
        <p:sp>
          <p:nvSpPr>
            <p:cNvPr id="16" name="Timeline dot 3" descr="pptx-deck-generated"/>
            <p:cNvSpPr/>
            <p:nvPr/>
          </p:nvSpPr>
          <p:spPr>
            <a:xfrm>
              <a:off x="1290447" y="484632"/>
              <a:ext cx="237744" cy="2377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imeline label 3" descr="pptx-deck-generated"/>
            <p:cNvSpPr txBox="1"/>
            <p:nvPr/>
          </p:nvSpPr>
          <p:spPr>
            <a:xfrm>
              <a:off x="54864" y="877824"/>
              <a:ext cx="2708910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評価CI判定</a:t>
              </a:r>
            </a:p>
          </p:txBody>
        </p:sp>
        <p:sp>
          <p:nvSpPr>
            <p:cNvPr id="18" name="Timeline detail 3" descr="pptx-deck-generated"/>
            <p:cNvSpPr txBox="1"/>
            <p:nvPr/>
          </p:nvSpPr>
          <p:spPr>
            <a:xfrm>
              <a:off x="54864" y="1267968"/>
              <a:ext cx="2708910" cy="633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合格率を週次で計測できている</a:t>
              </a:r>
            </a:p>
          </p:txBody>
        </p:sp>
      </p:grpSp>
      <p:grpSp>
        <p:nvGrpSpPr>
          <p:cNvPr id="19" name="Timeline 4" descr="pptx-deck-generated"/>
          <p:cNvGrpSpPr/>
          <p:nvPr/>
        </p:nvGrpSpPr>
        <p:grpSpPr>
          <a:xfrm>
            <a:off x="8913114" y="2958084"/>
            <a:ext cx="2818638" cy="1901952"/>
            <a:chOff x="0" y="0"/>
            <a:chExt cx="2818638" cy="1901952"/>
          </a:xfrm>
        </p:grpSpPr>
        <p:sp>
          <p:nvSpPr>
            <p:cNvPr id="20" name="Timeline date 4" descr="pptx-deck-generated"/>
            <p:cNvSpPr txBox="1"/>
            <p:nvPr/>
          </p:nvSpPr>
          <p:spPr>
            <a:xfrm>
              <a:off x="0" y="0"/>
              <a:ext cx="2818638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b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2"/>
                  </a:solidFill>
                  <a:latin typeface="Yu Gothic"/>
                  <a:ea typeface="Yu Gothic"/>
                </a:rPr>
                <a:t>Day 90</a:t>
              </a:r>
            </a:p>
          </p:txBody>
        </p:sp>
        <p:sp>
          <p:nvSpPr>
            <p:cNvPr id="21" name="Timeline dot 4" descr="pptx-deck-generated"/>
            <p:cNvSpPr/>
            <p:nvPr/>
          </p:nvSpPr>
          <p:spPr>
            <a:xfrm>
              <a:off x="1253871" y="448056"/>
              <a:ext cx="310896" cy="31089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imeline label 4" descr="pptx-deck-generated"/>
            <p:cNvSpPr txBox="1"/>
            <p:nvPr/>
          </p:nvSpPr>
          <p:spPr>
            <a:xfrm>
              <a:off x="54864" y="877824"/>
              <a:ext cx="2708910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展開判断</a:t>
              </a:r>
            </a:p>
          </p:txBody>
        </p:sp>
        <p:sp>
          <p:nvSpPr>
            <p:cNvPr id="23" name="Timeline detail 4" descr="pptx-deck-generated"/>
            <p:cNvSpPr txBox="1"/>
            <p:nvPr/>
          </p:nvSpPr>
          <p:spPr>
            <a:xfrm>
              <a:off x="54864" y="1267968"/>
              <a:ext cx="2708910" cy="633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4指標で全社展開の可否を決める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初月は週ごとに完了物を決める</a:t>
            </a:r>
          </a:p>
        </p:txBody>
      </p:sp>
      <p:cxnSp>
        <p:nvCxnSpPr>
          <p:cNvPr id="3" name="Timeline axis" descr="pptx-deck-generated"/>
          <p:cNvCxnSpPr/>
          <p:nvPr/>
        </p:nvCxnSpPr>
        <p:spPr>
          <a:xfrm>
            <a:off x="2240280" y="2601468"/>
            <a:ext cx="0" cy="2615184"/>
          </a:xfrm>
          <a:prstGeom prst="line">
            <a:avLst/>
          </a:prstGeom>
          <a:ln w="25400">
            <a:solidFill>
              <a:schemeClr val="lt1">
                <a:lumMod val="85000"/>
              </a:schemeClr>
            </a:solidFill>
          </a:ln>
        </p:spPr>
      </p:cxnSp>
      <p:grpSp>
        <p:nvGrpSpPr>
          <p:cNvPr id="4" name="Timeline 1" descr="pptx-deck-generated"/>
          <p:cNvGrpSpPr/>
          <p:nvPr/>
        </p:nvGrpSpPr>
        <p:grpSpPr>
          <a:xfrm>
            <a:off x="457200" y="2165604"/>
            <a:ext cx="11274552" cy="871728"/>
            <a:chOff x="0" y="0"/>
            <a:chExt cx="11274552" cy="871728"/>
          </a:xfrm>
        </p:grpSpPr>
        <p:sp>
          <p:nvSpPr>
            <p:cNvPr id="5" name="Timeline date 1" descr="pptx-deck-generated"/>
            <p:cNvSpPr txBox="1"/>
            <p:nvPr/>
          </p:nvSpPr>
          <p:spPr>
            <a:xfrm>
              <a:off x="0" y="0"/>
              <a:ext cx="1554480" cy="871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第1週</a:t>
              </a:r>
            </a:p>
          </p:txBody>
        </p:sp>
        <p:sp>
          <p:nvSpPr>
            <p:cNvPr id="6" name="Timeline dot 1" descr="pptx-deck-generated"/>
            <p:cNvSpPr/>
            <p:nvPr/>
          </p:nvSpPr>
          <p:spPr>
            <a:xfrm>
              <a:off x="1682496" y="335280"/>
              <a:ext cx="201168" cy="201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imeline label 1" descr="pptx-deck-generated"/>
            <p:cNvSpPr txBox="1"/>
            <p:nvPr/>
          </p:nvSpPr>
          <p:spPr>
            <a:xfrm>
              <a:off x="2103120" y="45720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ベースライン取得</a:t>
              </a:r>
            </a:p>
          </p:txBody>
        </p:sp>
        <p:sp>
          <p:nvSpPr>
            <p:cNvPr id="8" name="Timeline detail 1" descr="pptx-deck-generated"/>
            <p:cNvSpPr txBox="1"/>
            <p:nvPr/>
          </p:nvSpPr>
          <p:spPr>
            <a:xfrm>
              <a:off x="2103120" y="435864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リードタイムと変更失敗率を計測</a:t>
              </a:r>
            </a:p>
          </p:txBody>
        </p:sp>
      </p:grpSp>
      <p:grpSp>
        <p:nvGrpSpPr>
          <p:cNvPr id="9" name="Timeline 2" descr="pptx-deck-generated"/>
          <p:cNvGrpSpPr/>
          <p:nvPr/>
        </p:nvGrpSpPr>
        <p:grpSpPr>
          <a:xfrm>
            <a:off x="457200" y="3037332"/>
            <a:ext cx="11274552" cy="871728"/>
            <a:chOff x="0" y="0"/>
            <a:chExt cx="11274552" cy="871728"/>
          </a:xfrm>
        </p:grpSpPr>
        <p:sp>
          <p:nvSpPr>
            <p:cNvPr id="10" name="Timeline date 2" descr="pptx-deck-generated"/>
            <p:cNvSpPr txBox="1"/>
            <p:nvPr/>
          </p:nvSpPr>
          <p:spPr>
            <a:xfrm>
              <a:off x="0" y="0"/>
              <a:ext cx="1554480" cy="871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第2週</a:t>
              </a:r>
            </a:p>
          </p:txBody>
        </p:sp>
        <p:sp>
          <p:nvSpPr>
            <p:cNvPr id="11" name="Timeline dot 2" descr="pptx-deck-generated"/>
            <p:cNvSpPr/>
            <p:nvPr/>
          </p:nvSpPr>
          <p:spPr>
            <a:xfrm>
              <a:off x="1682496" y="335280"/>
              <a:ext cx="201168" cy="201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imeline label 2" descr="pptx-deck-generated"/>
            <p:cNvSpPr txBox="1"/>
            <p:nvPr/>
          </p:nvSpPr>
          <p:spPr>
            <a:xfrm>
              <a:off x="2103120" y="45720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利用ガイド公開</a:t>
              </a:r>
            </a:p>
          </p:txBody>
        </p:sp>
        <p:sp>
          <p:nvSpPr>
            <p:cNvPr id="13" name="Timeline detail 2" descr="pptx-deck-generated"/>
            <p:cNvSpPr txBox="1"/>
            <p:nvPr/>
          </p:nvSpPr>
          <p:spPr>
            <a:xfrm>
              <a:off x="2103120" y="435864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機密区分と予算上限を設定</a:t>
              </a:r>
            </a:p>
          </p:txBody>
        </p:sp>
      </p:grpSp>
      <p:grpSp>
        <p:nvGrpSpPr>
          <p:cNvPr id="14" name="Timeline 3" descr="pptx-deck-generated"/>
          <p:cNvGrpSpPr/>
          <p:nvPr/>
        </p:nvGrpSpPr>
        <p:grpSpPr>
          <a:xfrm>
            <a:off x="457200" y="3909060"/>
            <a:ext cx="11274552" cy="871728"/>
            <a:chOff x="0" y="0"/>
            <a:chExt cx="11274552" cy="871728"/>
          </a:xfrm>
        </p:grpSpPr>
        <p:sp>
          <p:nvSpPr>
            <p:cNvPr id="15" name="Timeline date 3" descr="pptx-deck-generated"/>
            <p:cNvSpPr txBox="1"/>
            <p:nvPr/>
          </p:nvSpPr>
          <p:spPr>
            <a:xfrm>
              <a:off x="0" y="0"/>
              <a:ext cx="1554480" cy="871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第3週</a:t>
              </a:r>
            </a:p>
          </p:txBody>
        </p:sp>
        <p:sp>
          <p:nvSpPr>
            <p:cNvPr id="16" name="Timeline dot 3" descr="pptx-deck-generated"/>
            <p:cNvSpPr/>
            <p:nvPr/>
          </p:nvSpPr>
          <p:spPr>
            <a:xfrm>
              <a:off x="1682496" y="335280"/>
              <a:ext cx="201168" cy="201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imeline label 3" descr="pptx-deck-generated"/>
            <p:cNvSpPr txBox="1"/>
            <p:nvPr/>
          </p:nvSpPr>
          <p:spPr>
            <a:xfrm>
              <a:off x="2103120" y="45720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インタビュー開始</a:t>
              </a:r>
            </a:p>
          </p:txBody>
        </p:sp>
        <p:sp>
          <p:nvSpPr>
            <p:cNvPr id="18" name="Timeline detail 3" descr="pptx-deck-generated"/>
            <p:cNvSpPr txBox="1"/>
            <p:nvPr/>
          </p:nvSpPr>
          <p:spPr>
            <a:xfrm>
              <a:off x="2103120" y="435864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エキスパート6名に各2回</a:t>
              </a:r>
            </a:p>
          </p:txBody>
        </p:sp>
      </p:grpSp>
      <p:grpSp>
        <p:nvGrpSpPr>
          <p:cNvPr id="19" name="Timeline 4" descr="pptx-deck-generated"/>
          <p:cNvGrpSpPr/>
          <p:nvPr/>
        </p:nvGrpSpPr>
        <p:grpSpPr>
          <a:xfrm>
            <a:off x="457200" y="4780788"/>
            <a:ext cx="11274552" cy="871728"/>
            <a:chOff x="0" y="0"/>
            <a:chExt cx="11274552" cy="871728"/>
          </a:xfrm>
        </p:grpSpPr>
        <p:sp>
          <p:nvSpPr>
            <p:cNvPr id="20" name="Timeline date 4" descr="pptx-deck-generated"/>
            <p:cNvSpPr txBox="1"/>
            <p:nvPr/>
          </p:nvSpPr>
          <p:spPr>
            <a:xfrm>
              <a:off x="0" y="0"/>
              <a:ext cx="1554480" cy="871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2"/>
                  </a:solidFill>
                  <a:latin typeface="Yu Gothic"/>
                  <a:ea typeface="Yu Gothic"/>
                </a:rPr>
                <a:t>第4週</a:t>
              </a:r>
            </a:p>
          </p:txBody>
        </p:sp>
        <p:sp>
          <p:nvSpPr>
            <p:cNvPr id="21" name="Timeline dot 4" descr="pptx-deck-generated"/>
            <p:cNvSpPr/>
            <p:nvPr/>
          </p:nvSpPr>
          <p:spPr>
            <a:xfrm>
              <a:off x="1645920" y="298704"/>
              <a:ext cx="274320" cy="27432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l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imeline label 4" descr="pptx-deck-generated"/>
            <p:cNvSpPr txBox="1"/>
            <p:nvPr/>
          </p:nvSpPr>
          <p:spPr>
            <a:xfrm>
              <a:off x="2103120" y="45720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基盤v1</a:t>
              </a:r>
            </a:p>
          </p:txBody>
        </p:sp>
        <p:sp>
          <p:nvSpPr>
            <p:cNvPr id="23" name="Timeline detail 4" descr="pptx-deck-generated"/>
            <p:cNvSpPr txBox="1"/>
            <p:nvPr/>
          </p:nvSpPr>
          <p:spPr>
            <a:xfrm>
              <a:off x="2103120" y="435864"/>
              <a:ext cx="9171432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パイロット2リポジトリに配置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成果が出ない原因を3系統に分解し、打ち手を割り当てる</a:t>
            </a:r>
          </a:p>
        </p:txBody>
      </p:sp>
      <p:sp>
        <p:nvSpPr>
          <p:cNvPr id="3" name="Tree header 1" descr="pptx-deck-generated"/>
          <p:cNvSpPr txBox="1"/>
          <p:nvPr/>
        </p:nvSpPr>
        <p:spPr>
          <a:xfrm>
            <a:off x="457200" y="1645920"/>
            <a:ext cx="214216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4" name="Tree header 2" descr="pptx-deck-generated"/>
          <p:cNvSpPr txBox="1"/>
          <p:nvPr/>
        </p:nvSpPr>
        <p:spPr>
          <a:xfrm>
            <a:off x="3056564" y="1645920"/>
            <a:ext cx="32696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原因</a:t>
            </a:r>
          </a:p>
        </p:txBody>
      </p:sp>
      <p:sp>
        <p:nvSpPr>
          <p:cNvPr id="5" name="Tree header 3" descr="pptx-deck-generated"/>
          <p:cNvSpPr txBox="1"/>
          <p:nvPr/>
        </p:nvSpPr>
        <p:spPr>
          <a:xfrm>
            <a:off x="6783384" y="1645920"/>
            <a:ext cx="4948367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要因とアクション</a:t>
            </a:r>
          </a:p>
        </p:txBody>
      </p:sp>
      <p:grpSp>
        <p:nvGrpSpPr>
          <p:cNvPr id="6" name="Tree branch 1" descr="pptx-deck-generated"/>
          <p:cNvGrpSpPr/>
          <p:nvPr/>
        </p:nvGrpSpPr>
        <p:grpSpPr>
          <a:xfrm>
            <a:off x="3056564" y="2029968"/>
            <a:ext cx="8675187" cy="1283208"/>
            <a:chOff x="0" y="0"/>
            <a:chExt cx="8675187" cy="1283208"/>
          </a:xfrm>
        </p:grpSpPr>
        <p:sp>
          <p:nvSpPr>
            <p:cNvPr id="7" name="Tree leaf 1-1" descr="pptx-deck-generated"/>
            <p:cNvSpPr/>
            <p:nvPr/>
          </p:nvSpPr>
          <p:spPr>
            <a:xfrm>
              <a:off x="3726820" y="0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ree leaf 1-1 text" descr="pptx-deck-generated"/>
            <p:cNvSpPr txBox="1"/>
            <p:nvPr/>
          </p:nvSpPr>
          <p:spPr>
            <a:xfrm>
              <a:off x="3745108" y="0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設計判断がエキスパートの頭の中にある</a:t>
              </a:r>
            </a:p>
          </p:txBody>
        </p:sp>
        <p:sp>
          <p:nvSpPr>
            <p:cNvPr id="9" name="Tree leaf 1-1 tag" descr="pptx-deck-generated"/>
            <p:cNvSpPr/>
            <p:nvPr/>
          </p:nvSpPr>
          <p:spPr>
            <a:xfrm>
              <a:off x="8089972" y="15621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A2</a:t>
              </a:r>
            </a:p>
          </p:txBody>
        </p:sp>
        <p:sp>
          <p:nvSpPr>
            <p:cNvPr id="10" name="Tree leaf 1-2" descr="pptx-deck-generated"/>
            <p:cNvSpPr/>
            <p:nvPr/>
          </p:nvSpPr>
          <p:spPr>
            <a:xfrm>
              <a:off x="3726820" y="678180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ree leaf 1-2 text" descr="pptx-deck-generated"/>
            <p:cNvSpPr txBox="1"/>
            <p:nvPr/>
          </p:nvSpPr>
          <p:spPr>
            <a:xfrm>
              <a:off x="3745108" y="678180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リポジトリに最小限の指示が無い</a:t>
              </a:r>
            </a:p>
          </p:txBody>
        </p:sp>
        <p:sp>
          <p:nvSpPr>
            <p:cNvPr id="12" name="Tree leaf 1-2 tag" descr="pptx-deck-generated"/>
            <p:cNvSpPr/>
            <p:nvPr/>
          </p:nvSpPr>
          <p:spPr>
            <a:xfrm>
              <a:off x="8089972" y="83439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A1</a:t>
              </a:r>
            </a:p>
          </p:txBody>
        </p:sp>
        <p:sp>
          <p:nvSpPr>
            <p:cNvPr id="13" name="Tree branch 1" descr="pptx-deck-generated"/>
            <p:cNvSpPr/>
            <p:nvPr/>
          </p:nvSpPr>
          <p:spPr>
            <a:xfrm>
              <a:off x="0" y="18440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AIが前提を知らない</a:t>
              </a:r>
            </a:p>
          </p:txBody>
        </p:sp>
      </p:grpSp>
      <p:cxnSp>
        <p:nvCxnSpPr>
          <p:cNvPr id="14" name="Tree stem 1" descr="pptx-deck-generated"/>
          <p:cNvCxnSpPr/>
          <p:nvPr/>
        </p:nvCxnSpPr>
        <p:spPr>
          <a:xfrm>
            <a:off x="6326184" y="267157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5" name="Tree spine 1" descr="pptx-deck-generated"/>
          <p:cNvCxnSpPr/>
          <p:nvPr/>
        </p:nvCxnSpPr>
        <p:spPr>
          <a:xfrm>
            <a:off x="6554784" y="2332482"/>
            <a:ext cx="0" cy="67818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6" name="Tree twig 1-1" descr="pptx-deck-generated"/>
          <p:cNvCxnSpPr/>
          <p:nvPr/>
        </p:nvCxnSpPr>
        <p:spPr>
          <a:xfrm>
            <a:off x="6554784" y="233248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17" name="Tree twig 1-2" descr="pptx-deck-generated"/>
          <p:cNvCxnSpPr/>
          <p:nvPr/>
        </p:nvCxnSpPr>
        <p:spPr>
          <a:xfrm>
            <a:off x="6554784" y="3010662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18" name="Tree branch 2" descr="pptx-deck-generated"/>
          <p:cNvGrpSpPr/>
          <p:nvPr/>
        </p:nvGrpSpPr>
        <p:grpSpPr>
          <a:xfrm>
            <a:off x="3056564" y="3459480"/>
            <a:ext cx="8675187" cy="1283207"/>
            <a:chOff x="0" y="0"/>
            <a:chExt cx="8675187" cy="1283207"/>
          </a:xfrm>
        </p:grpSpPr>
        <p:sp>
          <p:nvSpPr>
            <p:cNvPr id="19" name="Tree leaf 2-1" descr="pptx-deck-generated"/>
            <p:cNvSpPr/>
            <p:nvPr/>
          </p:nvSpPr>
          <p:spPr>
            <a:xfrm>
              <a:off x="3726820" y="0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ree leaf 2-1 text" descr="pptx-deck-generated"/>
            <p:cNvSpPr txBox="1"/>
            <p:nvPr/>
          </p:nvSpPr>
          <p:spPr>
            <a:xfrm>
              <a:off x="3745108" y="0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評価の基準が人により違う</a:t>
              </a:r>
            </a:p>
          </p:txBody>
        </p:sp>
        <p:sp>
          <p:nvSpPr>
            <p:cNvPr id="21" name="Tree leaf 2-1 tag" descr="pptx-deck-generated"/>
            <p:cNvSpPr/>
            <p:nvPr/>
          </p:nvSpPr>
          <p:spPr>
            <a:xfrm>
              <a:off x="8089972" y="15621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A3</a:t>
              </a:r>
            </a:p>
          </p:txBody>
        </p:sp>
        <p:sp>
          <p:nvSpPr>
            <p:cNvPr id="22" name="Tree leaf 2-2" descr="pptx-deck-generated"/>
            <p:cNvSpPr/>
            <p:nvPr/>
          </p:nvSpPr>
          <p:spPr>
            <a:xfrm>
              <a:off x="3726820" y="678179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ree leaf 2-2 text" descr="pptx-deck-generated"/>
            <p:cNvSpPr txBox="1"/>
            <p:nvPr/>
          </p:nvSpPr>
          <p:spPr>
            <a:xfrm>
              <a:off x="3745108" y="678179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PRが大きくレビューが詰まる</a:t>
              </a:r>
            </a:p>
          </p:txBody>
        </p:sp>
        <p:sp>
          <p:nvSpPr>
            <p:cNvPr id="24" name="Tree leaf 2-2 tag" descr="pptx-deck-generated"/>
            <p:cNvSpPr/>
            <p:nvPr/>
          </p:nvSpPr>
          <p:spPr>
            <a:xfrm>
              <a:off x="8089972" y="83439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A4</a:t>
              </a:r>
            </a:p>
          </p:txBody>
        </p:sp>
        <p:sp>
          <p:nvSpPr>
            <p:cNvPr id="25" name="Tree branch 2" descr="pptx-deck-generated"/>
            <p:cNvSpPr/>
            <p:nvPr/>
          </p:nvSpPr>
          <p:spPr>
            <a:xfrm>
              <a:off x="0" y="18440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出力を検証しきれない</a:t>
              </a:r>
            </a:p>
          </p:txBody>
        </p:sp>
      </p:grpSp>
      <p:cxnSp>
        <p:nvCxnSpPr>
          <p:cNvPr id="26" name="Tree stem 2" descr="pptx-deck-generated"/>
          <p:cNvCxnSpPr/>
          <p:nvPr/>
        </p:nvCxnSpPr>
        <p:spPr>
          <a:xfrm>
            <a:off x="6326184" y="4101083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7" name="Tree spine 2" descr="pptx-deck-generated"/>
          <p:cNvCxnSpPr/>
          <p:nvPr/>
        </p:nvCxnSpPr>
        <p:spPr>
          <a:xfrm>
            <a:off x="6554784" y="3761994"/>
            <a:ext cx="0" cy="67818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8" name="Tree twig 2-1" descr="pptx-deck-generated"/>
          <p:cNvCxnSpPr/>
          <p:nvPr/>
        </p:nvCxnSpPr>
        <p:spPr>
          <a:xfrm>
            <a:off x="6554784" y="3761994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29" name="Tree twig 2-2" descr="pptx-deck-generated"/>
          <p:cNvCxnSpPr/>
          <p:nvPr/>
        </p:nvCxnSpPr>
        <p:spPr>
          <a:xfrm>
            <a:off x="6554784" y="4440174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30" name="Tree branch 3" descr="pptx-deck-generated"/>
          <p:cNvGrpSpPr/>
          <p:nvPr/>
        </p:nvGrpSpPr>
        <p:grpSpPr>
          <a:xfrm>
            <a:off x="3056564" y="4888992"/>
            <a:ext cx="8675187" cy="1283208"/>
            <a:chOff x="0" y="0"/>
            <a:chExt cx="8675187" cy="1283208"/>
          </a:xfrm>
        </p:grpSpPr>
        <p:sp>
          <p:nvSpPr>
            <p:cNvPr id="31" name="Tree leaf 3-1" descr="pptx-deck-generated"/>
            <p:cNvSpPr/>
            <p:nvPr/>
          </p:nvSpPr>
          <p:spPr>
            <a:xfrm>
              <a:off x="3726820" y="0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ree leaf 3-1 text" descr="pptx-deck-generated"/>
            <p:cNvSpPr txBox="1"/>
            <p:nvPr/>
          </p:nvSpPr>
          <p:spPr>
            <a:xfrm>
              <a:off x="3745108" y="0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利用範囲とツール権限が未定義</a:t>
              </a:r>
            </a:p>
          </p:txBody>
        </p:sp>
        <p:sp>
          <p:nvSpPr>
            <p:cNvPr id="33" name="Tree leaf 3-1 tag" descr="pptx-deck-generated"/>
            <p:cNvSpPr/>
            <p:nvPr/>
          </p:nvSpPr>
          <p:spPr>
            <a:xfrm>
              <a:off x="8089972" y="15621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A5</a:t>
              </a:r>
            </a:p>
          </p:txBody>
        </p:sp>
        <p:sp>
          <p:nvSpPr>
            <p:cNvPr id="34" name="Tree leaf 3-2" descr="pptx-deck-generated"/>
            <p:cNvSpPr/>
            <p:nvPr/>
          </p:nvSpPr>
          <p:spPr>
            <a:xfrm>
              <a:off x="3726820" y="678180"/>
              <a:ext cx="4948367" cy="605028"/>
            </a:xfrm>
            <a:prstGeom prst="roundRect">
              <a:avLst>
                <a:gd name="adj" fmla="val 9068"/>
              </a:avLst>
            </a:prstGeom>
            <a:solidFill>
              <a:schemeClr val="lt2"/>
            </a:solidFill>
            <a:ln w="9525">
              <a:solidFill>
                <a:schemeClr val="lt1">
                  <a:lumMod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ree leaf 3-2 text" descr="pptx-deck-generated"/>
            <p:cNvSpPr txBox="1"/>
            <p:nvPr/>
          </p:nvSpPr>
          <p:spPr>
            <a:xfrm>
              <a:off x="3745108" y="678180"/>
              <a:ext cx="4344863" cy="605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/>
                  </a:solidFill>
                  <a:latin typeface="Yu Gothic"/>
                  <a:ea typeface="Yu Gothic"/>
                </a:rPr>
                <a:t>効果と費用を実測していない</a:t>
              </a:r>
            </a:p>
          </p:txBody>
        </p:sp>
        <p:sp>
          <p:nvSpPr>
            <p:cNvPr id="36" name="Tree leaf 3-2 tag" descr="pptx-deck-generated"/>
            <p:cNvSpPr/>
            <p:nvPr/>
          </p:nvSpPr>
          <p:spPr>
            <a:xfrm>
              <a:off x="8089972" y="834390"/>
              <a:ext cx="512064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A6</a:t>
              </a:r>
            </a:p>
          </p:txBody>
        </p:sp>
        <p:sp>
          <p:nvSpPr>
            <p:cNvPr id="37" name="Tree branch 3" descr="pptx-deck-generated"/>
            <p:cNvSpPr/>
            <p:nvPr/>
          </p:nvSpPr>
          <p:spPr>
            <a:xfrm>
              <a:off x="0" y="184404"/>
              <a:ext cx="3269620" cy="914400"/>
            </a:xfrm>
            <a:prstGeom prst="roundRect">
              <a:avLst>
                <a:gd name="adj" fmla="val 6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accent1"/>
                  </a:solidFill>
                  <a:latin typeface="Yu Gothic"/>
                  <a:ea typeface="Yu Gothic"/>
                </a:rPr>
                <a:t>使い方と費用が統制されていない</a:t>
              </a:r>
            </a:p>
          </p:txBody>
        </p:sp>
      </p:grpSp>
      <p:cxnSp>
        <p:nvCxnSpPr>
          <p:cNvPr id="38" name="Tree stem 3" descr="pptx-deck-generated"/>
          <p:cNvCxnSpPr/>
          <p:nvPr/>
        </p:nvCxnSpPr>
        <p:spPr>
          <a:xfrm>
            <a:off x="6326184" y="5530596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39" name="Tree spine 3" descr="pptx-deck-generated"/>
          <p:cNvCxnSpPr/>
          <p:nvPr/>
        </p:nvCxnSpPr>
        <p:spPr>
          <a:xfrm>
            <a:off x="6554784" y="5191506"/>
            <a:ext cx="0" cy="67818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0" name="Tree twig 3-1" descr="pptx-deck-generated"/>
          <p:cNvCxnSpPr/>
          <p:nvPr/>
        </p:nvCxnSpPr>
        <p:spPr>
          <a:xfrm>
            <a:off x="6554784" y="5191506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cxnSp>
        <p:nvCxnSpPr>
          <p:cNvPr id="41" name="Tree twig 3-2" descr="pptx-deck-generated"/>
          <p:cNvCxnSpPr/>
          <p:nvPr/>
        </p:nvCxnSpPr>
        <p:spPr>
          <a:xfrm>
            <a:off x="6554784" y="5869686"/>
            <a:ext cx="2286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42" name="Tree root" descr="pptx-deck-generated"/>
          <p:cNvSpPr/>
          <p:nvPr/>
        </p:nvSpPr>
        <p:spPr>
          <a:xfrm>
            <a:off x="457200" y="3433572"/>
            <a:ext cx="2142164" cy="1335024"/>
          </a:xfrm>
          <a:prstGeom prst="roundRect">
            <a:avLst>
              <a:gd name="adj" fmla="val 4110"/>
            </a:avLst>
          </a:prstGeom>
          <a:solidFill>
            <a:schemeClr val="accent1"/>
          </a:solidFill>
        </p:spPr>
        <p:txBody>
          <a:bodyPr rtlCol="0" anchor="ctr" wrap="square" lIns="109728" rIns="109728" tIns="73152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lt1"/>
                </a:solidFill>
                <a:latin typeface="Yu Gothic"/>
                <a:ea typeface="Yu Gothic"/>
              </a:rPr>
              <a:t>Copilotの成果がリリースに届かない</a:t>
            </a:r>
          </a:p>
        </p:txBody>
      </p:sp>
      <p:cxnSp>
        <p:nvCxnSpPr>
          <p:cNvPr id="43" name="Tree root stem" descr="pptx-deck-generated"/>
          <p:cNvCxnSpPr/>
          <p:nvPr/>
        </p:nvCxnSpPr>
        <p:spPr>
          <a:xfrm>
            <a:off x="2599364" y="4101083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4" name="Tree root spine" descr="pptx-deck-generated"/>
          <p:cNvCxnSpPr/>
          <p:nvPr/>
        </p:nvCxnSpPr>
        <p:spPr>
          <a:xfrm>
            <a:off x="2827964" y="2671572"/>
            <a:ext cx="0" cy="2859024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5" name="Tree root twig 1" descr="pptx-deck-generated"/>
          <p:cNvCxnSpPr/>
          <p:nvPr/>
        </p:nvCxnSpPr>
        <p:spPr>
          <a:xfrm>
            <a:off x="2827964" y="2671572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6" name="Tree root twig 2" descr="pptx-deck-generated"/>
          <p:cNvCxnSpPr/>
          <p:nvPr/>
        </p:nvCxnSpPr>
        <p:spPr>
          <a:xfrm>
            <a:off x="2827964" y="4101083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47" name="Tree root twig 3" descr="pptx-deck-generated"/>
          <p:cNvCxnSpPr/>
          <p:nvPr/>
        </p:nvCxnSpPr>
        <p:spPr>
          <a:xfrm>
            <a:off x="2827964" y="553059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全社の問い合わせを1つの窓口に集約する</a:t>
            </a:r>
          </a:p>
        </p:txBody>
      </p:sp>
      <p:grpSp>
        <p:nvGrpSpPr>
          <p:cNvPr id="3" name="Hub left 1 0" descr="pptx-deck-generated"/>
          <p:cNvGrpSpPr/>
          <p:nvPr/>
        </p:nvGrpSpPr>
        <p:grpSpPr>
          <a:xfrm>
            <a:off x="457200" y="2185416"/>
            <a:ext cx="4082796" cy="1051560"/>
            <a:chOff x="0" y="0"/>
            <a:chExt cx="4082796" cy="1051560"/>
          </a:xfrm>
        </p:grpSpPr>
        <p:sp>
          <p:nvSpPr>
            <p:cNvPr id="4" name="Hub left 1 box" descr="pptx-deck-generated"/>
            <p:cNvSpPr/>
            <p:nvPr/>
          </p:nvSpPr>
          <p:spPr>
            <a:xfrm>
              <a:off x="0" y="0"/>
              <a:ext cx="4082796" cy="1051560"/>
            </a:xfrm>
            <a:prstGeom prst="roundRect">
              <a:avLst>
                <a:gd name="adj" fmla="val 521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ub left 1 label" descr="pptx-deck-generated"/>
            <p:cNvSpPr txBox="1"/>
            <p:nvPr/>
          </p:nvSpPr>
          <p:spPr>
            <a:xfrm>
              <a:off x="45720" y="135636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情報システム</a:t>
              </a:r>
            </a:p>
          </p:txBody>
        </p:sp>
        <p:sp>
          <p:nvSpPr>
            <p:cNvPr id="6" name="Hub left 1 detail" descr="pptx-deck-generated"/>
            <p:cNvSpPr txBox="1"/>
            <p:nvPr/>
          </p:nvSpPr>
          <p:spPr>
            <a:xfrm>
              <a:off x="45720" y="525780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アカウント・端末</a:t>
              </a:r>
            </a:p>
          </p:txBody>
        </p:sp>
      </p:grpSp>
      <p:cxnSp>
        <p:nvCxnSpPr>
          <p:cNvPr id="7" name="Hub left 1 link" descr="pptx-deck-generated"/>
          <p:cNvCxnSpPr/>
          <p:nvPr/>
        </p:nvCxnSpPr>
        <p:spPr>
          <a:xfrm>
            <a:off x="4539996" y="2711196"/>
            <a:ext cx="678077" cy="522518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8" name="Hub left 2 0" descr="pptx-deck-generated"/>
          <p:cNvGrpSpPr/>
          <p:nvPr/>
        </p:nvGrpSpPr>
        <p:grpSpPr>
          <a:xfrm>
            <a:off x="457200" y="3383280"/>
            <a:ext cx="4082796" cy="1051560"/>
            <a:chOff x="0" y="0"/>
            <a:chExt cx="4082796" cy="1051560"/>
          </a:xfrm>
        </p:grpSpPr>
        <p:sp>
          <p:nvSpPr>
            <p:cNvPr id="9" name="Hub left 2 box" descr="pptx-deck-generated"/>
            <p:cNvSpPr/>
            <p:nvPr/>
          </p:nvSpPr>
          <p:spPr>
            <a:xfrm>
              <a:off x="0" y="0"/>
              <a:ext cx="4082796" cy="1051560"/>
            </a:xfrm>
            <a:prstGeom prst="roundRect">
              <a:avLst>
                <a:gd name="adj" fmla="val 521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ub left 2 label" descr="pptx-deck-generated"/>
            <p:cNvSpPr txBox="1"/>
            <p:nvPr/>
          </p:nvSpPr>
          <p:spPr>
            <a:xfrm>
              <a:off x="45720" y="135636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総務</a:t>
              </a:r>
            </a:p>
          </p:txBody>
        </p:sp>
        <p:sp>
          <p:nvSpPr>
            <p:cNvPr id="11" name="Hub left 2 detail" descr="pptx-deck-generated"/>
            <p:cNvSpPr txBox="1"/>
            <p:nvPr/>
          </p:nvSpPr>
          <p:spPr>
            <a:xfrm>
              <a:off x="45720" y="525780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備品・施設</a:t>
              </a:r>
            </a:p>
          </p:txBody>
        </p:sp>
      </p:grpSp>
      <p:cxnSp>
        <p:nvCxnSpPr>
          <p:cNvPr id="12" name="Hub left 2 link" descr="pptx-deck-generated"/>
          <p:cNvCxnSpPr/>
          <p:nvPr/>
        </p:nvCxnSpPr>
        <p:spPr>
          <a:xfrm>
            <a:off x="4539996" y="3909059"/>
            <a:ext cx="4480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13" name="Hub left 3 0" descr="pptx-deck-generated"/>
          <p:cNvGrpSpPr/>
          <p:nvPr/>
        </p:nvGrpSpPr>
        <p:grpSpPr>
          <a:xfrm>
            <a:off x="457200" y="4581144"/>
            <a:ext cx="4082796" cy="1051560"/>
            <a:chOff x="0" y="0"/>
            <a:chExt cx="4082796" cy="1051560"/>
          </a:xfrm>
        </p:grpSpPr>
        <p:sp>
          <p:nvSpPr>
            <p:cNvPr id="14" name="Hub left 3 box" descr="pptx-deck-generated"/>
            <p:cNvSpPr/>
            <p:nvPr/>
          </p:nvSpPr>
          <p:spPr>
            <a:xfrm>
              <a:off x="0" y="0"/>
              <a:ext cx="4082796" cy="1051560"/>
            </a:xfrm>
            <a:prstGeom prst="roundRect">
              <a:avLst>
                <a:gd name="adj" fmla="val 521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ub left 3 label" descr="pptx-deck-generated"/>
            <p:cNvSpPr txBox="1"/>
            <p:nvPr/>
          </p:nvSpPr>
          <p:spPr>
            <a:xfrm>
              <a:off x="45720" y="135636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人事</a:t>
              </a:r>
            </a:p>
          </p:txBody>
        </p:sp>
        <p:sp>
          <p:nvSpPr>
            <p:cNvPr id="16" name="Hub left 3 detail" descr="pptx-deck-generated"/>
            <p:cNvSpPr txBox="1"/>
            <p:nvPr/>
          </p:nvSpPr>
          <p:spPr>
            <a:xfrm>
              <a:off x="45720" y="525780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勤怠・制度</a:t>
              </a:r>
            </a:p>
          </p:txBody>
        </p:sp>
      </p:grpSp>
      <p:cxnSp>
        <p:nvCxnSpPr>
          <p:cNvPr id="17" name="Hub left 3 link" descr="pptx-deck-generated"/>
          <p:cNvCxnSpPr/>
          <p:nvPr/>
        </p:nvCxnSpPr>
        <p:spPr>
          <a:xfrm flipV="1">
            <a:off x="4539996" y="4584405"/>
            <a:ext cx="678077" cy="522519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18" name="Hub right 1 0" descr="pptx-deck-generated"/>
          <p:cNvGrpSpPr/>
          <p:nvPr/>
        </p:nvGrpSpPr>
        <p:grpSpPr>
          <a:xfrm>
            <a:off x="7648955" y="2784348"/>
            <a:ext cx="4082796" cy="1051560"/>
            <a:chOff x="0" y="0"/>
            <a:chExt cx="4082796" cy="1051560"/>
          </a:xfrm>
        </p:grpSpPr>
        <p:sp>
          <p:nvSpPr>
            <p:cNvPr id="19" name="Hub right 1 box" descr="pptx-deck-generated"/>
            <p:cNvSpPr/>
            <p:nvPr/>
          </p:nvSpPr>
          <p:spPr>
            <a:xfrm>
              <a:off x="0" y="0"/>
              <a:ext cx="4082796" cy="1051560"/>
            </a:xfrm>
            <a:prstGeom prst="roundRect">
              <a:avLst>
                <a:gd name="adj" fmla="val 521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ub right 1 label" descr="pptx-deck-generated"/>
            <p:cNvSpPr txBox="1"/>
            <p:nvPr/>
          </p:nvSpPr>
          <p:spPr>
            <a:xfrm>
              <a:off x="45720" y="135636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経理</a:t>
              </a:r>
            </a:p>
          </p:txBody>
        </p:sp>
        <p:sp>
          <p:nvSpPr>
            <p:cNvPr id="21" name="Hub right 1 detail" descr="pptx-deck-generated"/>
            <p:cNvSpPr txBox="1"/>
            <p:nvPr/>
          </p:nvSpPr>
          <p:spPr>
            <a:xfrm>
              <a:off x="45720" y="525780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精算・請求</a:t>
              </a:r>
            </a:p>
          </p:txBody>
        </p:sp>
      </p:grpSp>
      <p:cxnSp>
        <p:nvCxnSpPr>
          <p:cNvPr id="22" name="Hub right 1 link" descr="pptx-deck-generated"/>
          <p:cNvCxnSpPr/>
          <p:nvPr/>
        </p:nvCxnSpPr>
        <p:spPr>
          <a:xfrm flipH="1">
            <a:off x="7126917" y="3310128"/>
            <a:ext cx="522038" cy="201138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grpSp>
        <p:nvGrpSpPr>
          <p:cNvPr id="23" name="Hub right 2 0" descr="pptx-deck-generated"/>
          <p:cNvGrpSpPr/>
          <p:nvPr/>
        </p:nvGrpSpPr>
        <p:grpSpPr>
          <a:xfrm>
            <a:off x="7648955" y="3982211"/>
            <a:ext cx="4082796" cy="1051560"/>
            <a:chOff x="0" y="0"/>
            <a:chExt cx="4082796" cy="1051560"/>
          </a:xfrm>
        </p:grpSpPr>
        <p:sp>
          <p:nvSpPr>
            <p:cNvPr id="24" name="Hub right 2 box" descr="pptx-deck-generated"/>
            <p:cNvSpPr/>
            <p:nvPr/>
          </p:nvSpPr>
          <p:spPr>
            <a:xfrm>
              <a:off x="0" y="0"/>
              <a:ext cx="4082796" cy="1051560"/>
            </a:xfrm>
            <a:prstGeom prst="roundRect">
              <a:avLst>
                <a:gd name="adj" fmla="val 521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ub right 2 label" descr="pptx-deck-generated"/>
            <p:cNvSpPr txBox="1"/>
            <p:nvPr/>
          </p:nvSpPr>
          <p:spPr>
            <a:xfrm>
              <a:off x="45720" y="13563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法務</a:t>
              </a:r>
            </a:p>
          </p:txBody>
        </p:sp>
        <p:sp>
          <p:nvSpPr>
            <p:cNvPr id="26" name="Hub right 2 detail" descr="pptx-deck-generated"/>
            <p:cNvSpPr txBox="1"/>
            <p:nvPr/>
          </p:nvSpPr>
          <p:spPr>
            <a:xfrm>
              <a:off x="45720" y="52578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契約・規程</a:t>
              </a:r>
            </a:p>
          </p:txBody>
        </p:sp>
      </p:grpSp>
      <p:cxnSp>
        <p:nvCxnSpPr>
          <p:cNvPr id="27" name="Hub right 2 link" descr="pptx-deck-generated"/>
          <p:cNvCxnSpPr/>
          <p:nvPr/>
        </p:nvCxnSpPr>
        <p:spPr>
          <a:xfrm flipH="1" flipV="1">
            <a:off x="7126917" y="4306853"/>
            <a:ext cx="522038" cy="201139"/>
          </a:xfrm>
          <a:prstGeom prst="line">
            <a:avLst/>
          </a:prstGeom>
          <a:ln w="15875">
            <a:solidFill>
              <a:schemeClr val="accent1"/>
            </a:solidFill>
          </a:ln>
        </p:spPr>
      </p:cxnSp>
      <p:sp>
        <p:nvSpPr>
          <p:cNvPr id="28" name="Hub center ring" descr="pptx-deck-generated"/>
          <p:cNvSpPr/>
          <p:nvPr/>
        </p:nvSpPr>
        <p:spPr>
          <a:xfrm>
            <a:off x="4969764" y="2784347"/>
            <a:ext cx="2249424" cy="22494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29" name="Hub center" descr="pptx-deck-generated"/>
          <p:cNvSpPr/>
          <p:nvPr/>
        </p:nvSpPr>
        <p:spPr>
          <a:xfrm>
            <a:off x="5042916" y="2857499"/>
            <a:ext cx="2103120" cy="2103120"/>
          </a:xfrm>
          <a:prstGeom prst="ellips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30" name="Hub center text" descr="pptx-deck-generated"/>
          <p:cNvSpPr txBox="1"/>
          <p:nvPr/>
        </p:nvSpPr>
        <p:spPr>
          <a:xfrm>
            <a:off x="5274259" y="3088843"/>
            <a:ext cx="1640433" cy="1640433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chemeClr val="lt1"/>
                </a:solidFill>
                <a:latin typeface="Yu Gothic"/>
                <a:ea typeface="Yu Gothic"/>
              </a:rPr>
              <a:t>統合窓口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コンテキストはリポジトリに置き、全エージェントが同じ前提を読む</a:t>
            </a:r>
          </a:p>
        </p:txBody>
      </p:sp>
      <p:sp>
        <p:nvSpPr>
          <p:cNvPr id="3" name="Hub side 1 title" descr="pptx-deck-generated"/>
          <p:cNvSpPr txBox="1"/>
          <p:nvPr/>
        </p:nvSpPr>
        <p:spPr>
          <a:xfrm>
            <a:off x="457200" y="1645920"/>
            <a:ext cx="40827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入れるもの</a:t>
            </a:r>
          </a:p>
        </p:txBody>
      </p:sp>
      <p:grpSp>
        <p:nvGrpSpPr>
          <p:cNvPr id="4" name="Hub left 1 0" descr="pptx-deck-generated"/>
          <p:cNvGrpSpPr/>
          <p:nvPr/>
        </p:nvGrpSpPr>
        <p:grpSpPr>
          <a:xfrm>
            <a:off x="457200" y="2550033"/>
            <a:ext cx="4082796" cy="930402"/>
            <a:chOff x="0" y="0"/>
            <a:chExt cx="4082796" cy="930402"/>
          </a:xfrm>
        </p:grpSpPr>
        <p:sp>
          <p:nvSpPr>
            <p:cNvPr id="5" name="Hub left 1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ub left 1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規約・禁止事項</a:t>
              </a:r>
            </a:p>
          </p:txBody>
        </p:sp>
        <p:sp>
          <p:nvSpPr>
            <p:cNvPr id="7" name="Hub left 1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インタビュー由来</a:t>
              </a:r>
            </a:p>
          </p:txBody>
        </p:sp>
      </p:grpSp>
      <p:cxnSp>
        <p:nvCxnSpPr>
          <p:cNvPr id="8" name="Hub left 1 link" descr="pptx-deck-generated"/>
          <p:cNvCxnSpPr/>
          <p:nvPr/>
        </p:nvCxnSpPr>
        <p:spPr>
          <a:xfrm>
            <a:off x="4576572" y="3015234"/>
            <a:ext cx="608355" cy="446709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9" name="Hub left 2 0" descr="pptx-deck-generated"/>
          <p:cNvGrpSpPr/>
          <p:nvPr/>
        </p:nvGrpSpPr>
        <p:grpSpPr>
          <a:xfrm>
            <a:off x="457200" y="3626739"/>
            <a:ext cx="4082796" cy="930402"/>
            <a:chOff x="0" y="0"/>
            <a:chExt cx="4082796" cy="930402"/>
          </a:xfrm>
        </p:grpSpPr>
        <p:sp>
          <p:nvSpPr>
            <p:cNvPr id="10" name="Hub left 2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ub left 2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設計判断・用語</a:t>
              </a:r>
            </a:p>
          </p:txBody>
        </p:sp>
        <p:sp>
          <p:nvSpPr>
            <p:cNvPr id="12" name="Hub left 2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ADR・CONTEXT.md</a:t>
              </a:r>
            </a:p>
          </p:txBody>
        </p:sp>
      </p:grpSp>
      <p:cxnSp>
        <p:nvCxnSpPr>
          <p:cNvPr id="13" name="Hub left 2 link" descr="pptx-deck-generated"/>
          <p:cNvCxnSpPr/>
          <p:nvPr/>
        </p:nvCxnSpPr>
        <p:spPr>
          <a:xfrm>
            <a:off x="4576572" y="4091940"/>
            <a:ext cx="411480" cy="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14" name="Hub left 3 0" descr="pptx-deck-generated"/>
          <p:cNvGrpSpPr/>
          <p:nvPr/>
        </p:nvGrpSpPr>
        <p:grpSpPr>
          <a:xfrm>
            <a:off x="457200" y="4703445"/>
            <a:ext cx="4082796" cy="930402"/>
            <a:chOff x="0" y="0"/>
            <a:chExt cx="4082796" cy="930402"/>
          </a:xfrm>
        </p:grpSpPr>
        <p:sp>
          <p:nvSpPr>
            <p:cNvPr id="15" name="Hub left 3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ub left 3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評価ケース</a:t>
              </a:r>
            </a:p>
          </p:txBody>
        </p:sp>
        <p:sp>
          <p:nvSpPr>
            <p:cNvPr id="17" name="Hub left 3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採否の判定に使う</a:t>
              </a:r>
            </a:p>
          </p:txBody>
        </p:sp>
      </p:grpSp>
      <p:cxnSp>
        <p:nvCxnSpPr>
          <p:cNvPr id="18" name="Hub left 3 link" descr="pptx-deck-generated"/>
          <p:cNvCxnSpPr/>
          <p:nvPr/>
        </p:nvCxnSpPr>
        <p:spPr>
          <a:xfrm flipV="1">
            <a:off x="4576572" y="4721936"/>
            <a:ext cx="608355" cy="44671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19" name="Hub side 2 title" descr="pptx-deck-generated"/>
          <p:cNvSpPr txBox="1"/>
          <p:nvPr/>
        </p:nvSpPr>
        <p:spPr>
          <a:xfrm>
            <a:off x="7648955" y="1645920"/>
            <a:ext cx="4082796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rIns="109728" tIns="73152" bIns="73152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使う側</a:t>
            </a:r>
          </a:p>
        </p:txBody>
      </p:sp>
      <p:grpSp>
        <p:nvGrpSpPr>
          <p:cNvPr id="20" name="Hub right 1 0" descr="pptx-deck-generated"/>
          <p:cNvGrpSpPr/>
          <p:nvPr/>
        </p:nvGrpSpPr>
        <p:grpSpPr>
          <a:xfrm>
            <a:off x="7648955" y="2011680"/>
            <a:ext cx="4082796" cy="930402"/>
            <a:chOff x="0" y="0"/>
            <a:chExt cx="4082796" cy="930402"/>
          </a:xfrm>
        </p:grpSpPr>
        <p:sp>
          <p:nvSpPr>
            <p:cNvPr id="21" name="Hub right 1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ub right 1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IDEのagent mode</a:t>
              </a:r>
            </a:p>
          </p:txBody>
        </p:sp>
        <p:sp>
          <p:nvSpPr>
            <p:cNvPr id="23" name="Hub right 1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日々の実装</a:t>
              </a:r>
            </a:p>
          </p:txBody>
        </p:sp>
      </p:grpSp>
      <p:cxnSp>
        <p:nvCxnSpPr>
          <p:cNvPr id="24" name="Hub right 1 link" descr="pptx-deck-generated"/>
          <p:cNvCxnSpPr/>
          <p:nvPr/>
        </p:nvCxnSpPr>
        <p:spPr>
          <a:xfrm flipV="1">
            <a:off x="6861742" y="2476881"/>
            <a:ext cx="750637" cy="817891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25" name="Hub right 2 0" descr="pptx-deck-generated"/>
          <p:cNvGrpSpPr/>
          <p:nvPr/>
        </p:nvGrpSpPr>
        <p:grpSpPr>
          <a:xfrm>
            <a:off x="7648955" y="3088386"/>
            <a:ext cx="4082796" cy="930402"/>
            <a:chOff x="0" y="0"/>
            <a:chExt cx="4082796" cy="930402"/>
          </a:xfrm>
        </p:grpSpPr>
        <p:sp>
          <p:nvSpPr>
            <p:cNvPr id="26" name="Hub right 2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ub right 2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cloud agent</a:t>
              </a:r>
            </a:p>
          </p:txBody>
        </p:sp>
        <p:sp>
          <p:nvSpPr>
            <p:cNvPr id="28" name="Hub right 2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Issueから自動でPR</a:t>
              </a:r>
            </a:p>
          </p:txBody>
        </p:sp>
      </p:grpSp>
      <p:cxnSp>
        <p:nvCxnSpPr>
          <p:cNvPr id="29" name="Hub right 2 link" descr="pptx-deck-generated"/>
          <p:cNvCxnSpPr/>
          <p:nvPr/>
        </p:nvCxnSpPr>
        <p:spPr>
          <a:xfrm flipV="1">
            <a:off x="7139976" y="3553587"/>
            <a:ext cx="472403" cy="176271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30" name="Hub right 3 0" descr="pptx-deck-generated"/>
          <p:cNvGrpSpPr/>
          <p:nvPr/>
        </p:nvGrpSpPr>
        <p:grpSpPr>
          <a:xfrm>
            <a:off x="7648955" y="4165091"/>
            <a:ext cx="4082796" cy="930402"/>
            <a:chOff x="0" y="0"/>
            <a:chExt cx="4082796" cy="930402"/>
          </a:xfrm>
        </p:grpSpPr>
        <p:sp>
          <p:nvSpPr>
            <p:cNvPr id="31" name="Hub right 3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ub right 3 label" descr="pptx-deck-generated"/>
            <p:cNvSpPr txBox="1"/>
            <p:nvPr/>
          </p:nvSpPr>
          <p:spPr>
            <a:xfrm>
              <a:off x="45720" y="75058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code review</a:t>
              </a:r>
            </a:p>
          </p:txBody>
        </p:sp>
        <p:sp>
          <p:nvSpPr>
            <p:cNvPr id="33" name="Hub right 3 detail" descr="pptx-deck-generated"/>
            <p:cNvSpPr txBox="1"/>
            <p:nvPr/>
          </p:nvSpPr>
          <p:spPr>
            <a:xfrm>
              <a:off x="45720" y="465202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観点の自動適用</a:t>
              </a:r>
            </a:p>
          </p:txBody>
        </p:sp>
      </p:grpSp>
      <p:cxnSp>
        <p:nvCxnSpPr>
          <p:cNvPr id="34" name="Hub right 3 link" descr="pptx-deck-generated"/>
          <p:cNvCxnSpPr/>
          <p:nvPr/>
        </p:nvCxnSpPr>
        <p:spPr>
          <a:xfrm>
            <a:off x="7139976" y="4454021"/>
            <a:ext cx="472403" cy="176272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grpSp>
        <p:nvGrpSpPr>
          <p:cNvPr id="35" name="Hub right 4 0" descr="pptx-deck-generated"/>
          <p:cNvGrpSpPr/>
          <p:nvPr/>
        </p:nvGrpSpPr>
        <p:grpSpPr>
          <a:xfrm>
            <a:off x="7648955" y="5241798"/>
            <a:ext cx="4082796" cy="930402"/>
            <a:chOff x="0" y="0"/>
            <a:chExt cx="4082796" cy="930402"/>
          </a:xfrm>
        </p:grpSpPr>
        <p:sp>
          <p:nvSpPr>
            <p:cNvPr id="36" name="Hub right 4 box" descr="pptx-deck-generated"/>
            <p:cNvSpPr/>
            <p:nvPr/>
          </p:nvSpPr>
          <p:spPr>
            <a:xfrm>
              <a:off x="0" y="0"/>
              <a:ext cx="4082796" cy="930402"/>
            </a:xfrm>
            <a:prstGeom prst="roundRect">
              <a:avLst>
                <a:gd name="adj" fmla="val 5897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ub right 4 label" descr="pptx-deck-generated"/>
            <p:cNvSpPr txBox="1"/>
            <p:nvPr/>
          </p:nvSpPr>
          <p:spPr>
            <a:xfrm>
              <a:off x="45720" y="75057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chemeClr val="dk1"/>
                  </a:solidFill>
                  <a:latin typeface="Yu Gothic"/>
                  <a:ea typeface="Yu Gothic"/>
                </a:rPr>
                <a:t>他社エージェント</a:t>
              </a:r>
            </a:p>
          </p:txBody>
        </p:sp>
        <p:sp>
          <p:nvSpPr>
            <p:cNvPr id="38" name="Hub right 4 detail" descr="pptx-deck-generated"/>
            <p:cNvSpPr txBox="1"/>
            <p:nvPr/>
          </p:nvSpPr>
          <p:spPr>
            <a:xfrm>
              <a:off x="45720" y="465201"/>
              <a:ext cx="3991356" cy="3901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chemeClr val="dk1">
                      <a:lumMod val="65000"/>
                      <a:lumOff val="35000"/>
                    </a:schemeClr>
                  </a:solidFill>
                  <a:latin typeface="Yu Gothic"/>
                  <a:ea typeface="Yu Gothic"/>
                </a:rPr>
                <a:t>Agent HQ経由</a:t>
              </a:r>
            </a:p>
          </p:txBody>
        </p:sp>
      </p:grpSp>
      <p:cxnSp>
        <p:nvCxnSpPr>
          <p:cNvPr id="39" name="Hub right 4 link" descr="pptx-deck-generated"/>
          <p:cNvCxnSpPr/>
          <p:nvPr/>
        </p:nvCxnSpPr>
        <p:spPr>
          <a:xfrm>
            <a:off x="6861742" y="4889107"/>
            <a:ext cx="750637" cy="817892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sp>
        <p:nvSpPr>
          <p:cNvPr id="40" name="Hub center ring" descr="pptx-deck-generated"/>
          <p:cNvSpPr/>
          <p:nvPr/>
        </p:nvSpPr>
        <p:spPr>
          <a:xfrm>
            <a:off x="4969764" y="2967228"/>
            <a:ext cx="2249424" cy="224942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1" name="Hub center" descr="pptx-deck-generated"/>
          <p:cNvSpPr/>
          <p:nvPr/>
        </p:nvSpPr>
        <p:spPr>
          <a:xfrm>
            <a:off x="5042916" y="3040380"/>
            <a:ext cx="2103120" cy="2103120"/>
          </a:xfrm>
          <a:prstGeom prst="ellipse">
            <a:avLst/>
          </a:prstGeom>
          <a:solidFill>
            <a:schemeClr val="accen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2" name="Hub center text" descr="pptx-deck-generated"/>
          <p:cNvSpPr txBox="1"/>
          <p:nvPr/>
        </p:nvSpPr>
        <p:spPr>
          <a:xfrm>
            <a:off x="5274259" y="3271723"/>
            <a:ext cx="1640433" cy="1640433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rIns="109728" tIns="73152" bIns="73152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chemeClr val="lt1"/>
                </a:solidFill>
                <a:latin typeface="Yu Gothic"/>
                <a:ea typeface="Yu Gothic"/>
              </a:rPr>
              <a:t>コンテキスト基盤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chemeClr val="lt1"/>
                </a:solidFill>
                <a:latin typeface="Yu Gothic"/>
                <a:ea typeface="Yu Gothic"/>
              </a:rPr>
              <a:t>.github/ 配下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暗黙知はインタビューで引き出し、評価で効いた分だけ入れる</a:t>
            </a:r>
          </a:p>
        </p:txBody>
      </p:sp>
      <p:sp>
        <p:nvSpPr>
          <p:cNvPr id="3" name="Swimlane band 1" descr="pptx-deck-generated"/>
          <p:cNvSpPr/>
          <p:nvPr/>
        </p:nvSpPr>
        <p:spPr>
          <a:xfrm>
            <a:off x="457200" y="1645920"/>
            <a:ext cx="11274552" cy="1131570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4" name="Swimlane lane 1" descr="pptx-deck-generated"/>
          <p:cNvSpPr/>
          <p:nvPr/>
        </p:nvSpPr>
        <p:spPr>
          <a:xfrm>
            <a:off x="457200" y="1645920"/>
            <a:ext cx="1554480" cy="113157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エキスパート＋ジュニア</a:t>
            </a:r>
          </a:p>
        </p:txBody>
      </p:sp>
      <p:sp>
        <p:nvSpPr>
          <p:cNvPr id="5" name="Swimlane band 2" descr="pptx-deck-generated"/>
          <p:cNvSpPr/>
          <p:nvPr/>
        </p:nvSpPr>
        <p:spPr>
          <a:xfrm>
            <a:off x="457200" y="2777490"/>
            <a:ext cx="11274552" cy="1131570"/>
          </a:xfrm>
          <a:prstGeom prst="rect">
            <a:avLst/>
          </a:prstGeom>
          <a:solidFill>
            <a:schemeClr val="l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6" name="Swimlane lane 2" descr="pptx-deck-generated"/>
          <p:cNvSpPr/>
          <p:nvPr/>
        </p:nvSpPr>
        <p:spPr>
          <a:xfrm>
            <a:off x="457200" y="2777490"/>
            <a:ext cx="1554480" cy="113157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インタビューskill</a:t>
            </a:r>
          </a:p>
        </p:txBody>
      </p:sp>
      <p:sp>
        <p:nvSpPr>
          <p:cNvPr id="7" name="Swimlane band 3" descr="pptx-deck-generated"/>
          <p:cNvSpPr/>
          <p:nvPr/>
        </p:nvSpPr>
        <p:spPr>
          <a:xfrm>
            <a:off x="457200" y="3909060"/>
            <a:ext cx="11274552" cy="1131570"/>
          </a:xfrm>
          <a:prstGeom prst="rect">
            <a:avLst/>
          </a:prstGeom>
          <a:solidFill>
            <a:schemeClr val="lt2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8" name="Swimlane lane 3" descr="pptx-deck-generated"/>
          <p:cNvSpPr/>
          <p:nvPr/>
        </p:nvSpPr>
        <p:spPr>
          <a:xfrm>
            <a:off x="457200" y="3909060"/>
            <a:ext cx="1554480" cy="113157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9" name="Swimlane band 4" descr="pptx-deck-generated"/>
          <p:cNvSpPr/>
          <p:nvPr/>
        </p:nvSpPr>
        <p:spPr>
          <a:xfrm>
            <a:off x="457200" y="5040630"/>
            <a:ext cx="11274552" cy="1131570"/>
          </a:xfrm>
          <a:prstGeom prst="rect">
            <a:avLst/>
          </a:prstGeom>
          <a:solidFill>
            <a:schemeClr val="lt1"/>
          </a:solidFill>
        </p:spPr>
        <p:txBody>
          <a:bodyPr rtlCol="0" anchor="ctr"/>
          <a:lstStyle/>
          <a:p>
            <a:pPr algn="ctr"/>
          </a:p>
        </p:txBody>
      </p:sp>
      <p:sp>
        <p:nvSpPr>
          <p:cNvPr id="10" name="Swimlane lane 4" descr="pptx-deck-generated"/>
          <p:cNvSpPr/>
          <p:nvPr/>
        </p:nvSpPr>
        <p:spPr>
          <a:xfrm>
            <a:off x="457200" y="5040630"/>
            <a:ext cx="1554480" cy="113157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lt1"/>
            </a:solidFill>
          </a:ln>
        </p:spPr>
        <p:txBody>
          <a:bodyPr rtlCol="0" anchor="ctr" wrap="square" lIns="109728" rIns="109728" tIns="73152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Yu Gothic"/>
                <a:ea typeface="Yu Gothic"/>
              </a:rPr>
              <a:t>CI（評価）</a:t>
            </a:r>
          </a:p>
        </p:txBody>
      </p:sp>
      <p:cxnSp>
        <p:nvCxnSpPr>
          <p:cNvPr id="11" name="Swimlane bottom rule" descr="pptx-deck-generated"/>
          <p:cNvCxnSpPr/>
          <p:nvPr/>
        </p:nvCxnSpPr>
        <p:spPr>
          <a:xfrm>
            <a:off x="457200" y="6172200"/>
            <a:ext cx="11274552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2" name="Swimlane step 1" descr="pptx-deck-generated"/>
          <p:cNvGrpSpPr/>
          <p:nvPr/>
        </p:nvGrpSpPr>
        <p:grpSpPr>
          <a:xfrm>
            <a:off x="2048256" y="2786634"/>
            <a:ext cx="1455420" cy="1030986"/>
            <a:chOff x="0" y="0"/>
            <a:chExt cx="1455420" cy="1030986"/>
          </a:xfrm>
        </p:grpSpPr>
        <p:sp>
          <p:nvSpPr>
            <p:cNvPr id="13" name="Swimlane step 1" descr="pptx-deck-generated"/>
            <p:cNvSpPr/>
            <p:nvPr/>
          </p:nvSpPr>
          <p:spPr>
            <a:xfrm>
              <a:off x="91440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Yu Gothic"/>
                  <a:ea typeface="Yu Gothic"/>
                </a:rPr>
                <a:t>既存資料とPR指摘を読み、空白と矛盾を論点にする</a:t>
              </a:r>
            </a:p>
          </p:txBody>
        </p:sp>
        <p:sp>
          <p:nvSpPr>
            <p:cNvPr id="14" name="Swimlane step 1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1</a:t>
              </a:r>
            </a:p>
          </p:txBody>
        </p:sp>
      </p:grpSp>
      <p:grpSp>
        <p:nvGrpSpPr>
          <p:cNvPr id="15" name="Swimlane step 2" descr="pptx-deck-generated"/>
          <p:cNvGrpSpPr/>
          <p:nvPr/>
        </p:nvGrpSpPr>
        <p:grpSpPr>
          <a:xfrm>
            <a:off x="3668268" y="1655064"/>
            <a:ext cx="1455419" cy="1030986"/>
            <a:chOff x="0" y="0"/>
            <a:chExt cx="1455419" cy="1030986"/>
          </a:xfrm>
        </p:grpSpPr>
        <p:sp>
          <p:nvSpPr>
            <p:cNvPr id="16" name="Swimlane step 2" descr="pptx-deck-generated"/>
            <p:cNvSpPr/>
            <p:nvPr/>
          </p:nvSpPr>
          <p:spPr>
            <a:xfrm>
              <a:off x="91439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Yu Gothic"/>
                  <a:ea typeface="Yu Gothic"/>
                </a:rPr>
                <a:t>判断の理由と例外を答える</a:t>
              </a:r>
            </a:p>
          </p:txBody>
        </p:sp>
        <p:sp>
          <p:nvSpPr>
            <p:cNvPr id="17" name="Swimlane step 2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2</a:t>
              </a:r>
            </a:p>
          </p:txBody>
        </p:sp>
      </p:grpSp>
      <p:grpSp>
        <p:nvGrpSpPr>
          <p:cNvPr id="18" name="Swimlane step 3" descr="pptx-deck-generated"/>
          <p:cNvGrpSpPr/>
          <p:nvPr/>
        </p:nvGrpSpPr>
        <p:grpSpPr>
          <a:xfrm>
            <a:off x="5288280" y="2786634"/>
            <a:ext cx="1455420" cy="1030986"/>
            <a:chOff x="0" y="0"/>
            <a:chExt cx="1455420" cy="1030986"/>
          </a:xfrm>
        </p:grpSpPr>
        <p:sp>
          <p:nvSpPr>
            <p:cNvPr id="19" name="Swimlane step 3" descr="pptx-deck-generated"/>
            <p:cNvSpPr/>
            <p:nvPr/>
          </p:nvSpPr>
          <p:spPr>
            <a:xfrm>
              <a:off x="91440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Yu Gothic"/>
                  <a:ea typeface="Yu Gothic"/>
                </a:rPr>
                <a:t>規約案と評価ケース案を同時に起こす</a:t>
              </a:r>
            </a:p>
          </p:txBody>
        </p:sp>
        <p:sp>
          <p:nvSpPr>
            <p:cNvPr id="20" name="Swimlane step 3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3</a:t>
              </a:r>
            </a:p>
          </p:txBody>
        </p:sp>
      </p:grpSp>
      <p:grpSp>
        <p:nvGrpSpPr>
          <p:cNvPr id="21" name="Swimlane step 4" descr="pptx-deck-generated"/>
          <p:cNvGrpSpPr/>
          <p:nvPr/>
        </p:nvGrpSpPr>
        <p:grpSpPr>
          <a:xfrm>
            <a:off x="6908292" y="3918204"/>
            <a:ext cx="1455420" cy="1030986"/>
            <a:chOff x="0" y="0"/>
            <a:chExt cx="1455420" cy="1030986"/>
          </a:xfrm>
        </p:grpSpPr>
        <p:sp>
          <p:nvSpPr>
            <p:cNvPr id="22" name="Swimlane step 4" descr="pptx-deck-generated"/>
            <p:cNvSpPr/>
            <p:nvPr/>
          </p:nvSpPr>
          <p:spPr>
            <a:xfrm>
              <a:off x="91440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Yu Gothic"/>
                  <a:ea typeface="Yu Gothic"/>
                </a:rPr>
                <a:t>要否をレビューし最小限に絞る</a:t>
              </a:r>
            </a:p>
          </p:txBody>
        </p:sp>
        <p:sp>
          <p:nvSpPr>
            <p:cNvPr id="23" name="Swimlane step 4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4</a:t>
              </a:r>
            </a:p>
          </p:txBody>
        </p:sp>
      </p:grpSp>
      <p:grpSp>
        <p:nvGrpSpPr>
          <p:cNvPr id="24" name="Swimlane step 5" descr="pptx-deck-generated"/>
          <p:cNvGrpSpPr/>
          <p:nvPr/>
        </p:nvGrpSpPr>
        <p:grpSpPr>
          <a:xfrm>
            <a:off x="8528304" y="5049774"/>
            <a:ext cx="1455420" cy="1030986"/>
            <a:chOff x="0" y="0"/>
            <a:chExt cx="1455420" cy="1030986"/>
          </a:xfrm>
        </p:grpSpPr>
        <p:sp>
          <p:nvSpPr>
            <p:cNvPr id="25" name="Swimlane step 5" descr="pptx-deck-generated"/>
            <p:cNvSpPr/>
            <p:nvPr/>
          </p:nvSpPr>
          <p:spPr>
            <a:xfrm>
              <a:off x="91440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25400">
              <a:solidFill>
                <a:schemeClr val="accent2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1">
                  <a:solidFill>
                    <a:schemeClr val="dk1"/>
                  </a:solidFill>
                  <a:latin typeface="Yu Gothic"/>
                  <a:ea typeface="Yu Gothic"/>
                </a:rPr>
                <a:t>規約あり／なしで評価を比較</a:t>
              </a:r>
            </a:p>
          </p:txBody>
        </p:sp>
        <p:sp>
          <p:nvSpPr>
            <p:cNvPr id="26" name="Swimlane step 5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dk1"/>
                  </a:solidFill>
                  <a:latin typeface="Yu Gothic"/>
                  <a:ea typeface="Yu Gothic"/>
                </a:rPr>
                <a:t>5</a:t>
              </a:r>
            </a:p>
          </p:txBody>
        </p:sp>
      </p:grpSp>
      <p:grpSp>
        <p:nvGrpSpPr>
          <p:cNvPr id="27" name="Swimlane step 6" descr="pptx-deck-generated"/>
          <p:cNvGrpSpPr/>
          <p:nvPr/>
        </p:nvGrpSpPr>
        <p:grpSpPr>
          <a:xfrm>
            <a:off x="10148316" y="3918204"/>
            <a:ext cx="1455420" cy="1030986"/>
            <a:chOff x="0" y="0"/>
            <a:chExt cx="1455420" cy="1030986"/>
          </a:xfrm>
        </p:grpSpPr>
        <p:sp>
          <p:nvSpPr>
            <p:cNvPr id="28" name="Swimlane step 6" descr="pptx-deck-generated"/>
            <p:cNvSpPr/>
            <p:nvPr/>
          </p:nvSpPr>
          <p:spPr>
            <a:xfrm>
              <a:off x="91440" y="118872"/>
              <a:ext cx="1363980" cy="912114"/>
            </a:xfrm>
            <a:prstGeom prst="roundRect">
              <a:avLst>
                <a:gd name="adj" fmla="val 6015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 wrap="square" lIns="109728" rIns="109728" tIns="146304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00" b="0">
                  <a:solidFill>
                    <a:schemeClr val="dk1"/>
                  </a:solidFill>
                  <a:latin typeface="Yu Gothic"/>
                  <a:ea typeface="Yu Gothic"/>
                </a:rPr>
                <a:t>改善した分だけ基盤へ反映</a:t>
              </a:r>
            </a:p>
          </p:txBody>
        </p:sp>
        <p:sp>
          <p:nvSpPr>
            <p:cNvPr id="29" name="Swimlane step 6 number" descr="pptx-deck-generated"/>
            <p:cNvSpPr/>
            <p:nvPr/>
          </p:nvSpPr>
          <p:spPr>
            <a:xfrm>
              <a:off x="0" y="0"/>
              <a:ext cx="292608" cy="292608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100" b="1">
                  <a:solidFill>
                    <a:schemeClr val="lt1"/>
                  </a:solidFill>
                  <a:latin typeface="Yu Gothic"/>
                  <a:ea typeface="Yu Gothic"/>
                </a:rPr>
                <a:t>6</a:t>
              </a:r>
            </a:p>
          </p:txBody>
        </p:sp>
      </p:grpSp>
      <p:cxnSp>
        <p:nvCxnSpPr>
          <p:cNvPr id="30" name="Swimlane flow 1" descr="pptx-deck-generated"/>
          <p:cNvCxnSpPr/>
          <p:nvPr/>
        </p:nvCxnSpPr>
        <p:spPr>
          <a:xfrm flipV="1">
            <a:off x="3503676" y="2229993"/>
            <a:ext cx="256031" cy="113157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1" name="Swimlane flow 2" descr="pptx-deck-generated"/>
          <p:cNvCxnSpPr/>
          <p:nvPr/>
        </p:nvCxnSpPr>
        <p:spPr>
          <a:xfrm>
            <a:off x="5123688" y="2229993"/>
            <a:ext cx="256032" cy="113157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2" name="Swimlane flow 3" descr="pptx-deck-generated"/>
          <p:cNvCxnSpPr/>
          <p:nvPr/>
        </p:nvCxnSpPr>
        <p:spPr>
          <a:xfrm>
            <a:off x="6743700" y="3361563"/>
            <a:ext cx="256032" cy="113157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3" name="Swimlane flow 4" descr="pptx-deck-generated"/>
          <p:cNvCxnSpPr/>
          <p:nvPr/>
        </p:nvCxnSpPr>
        <p:spPr>
          <a:xfrm>
            <a:off x="8363712" y="4493133"/>
            <a:ext cx="256032" cy="113157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  <p:cxnSp>
        <p:nvCxnSpPr>
          <p:cNvPr id="34" name="Swimlane flow 5" descr="pptx-deck-generated"/>
          <p:cNvCxnSpPr/>
          <p:nvPr/>
        </p:nvCxnSpPr>
        <p:spPr>
          <a:xfrm flipV="1">
            <a:off x="9983724" y="4493133"/>
            <a:ext cx="256032" cy="1131570"/>
          </a:xfrm>
          <a:prstGeom prst="bentConnector3">
            <a:avLst/>
          </a:prstGeom>
          <a:ln w="15875">
            <a:solidFill>
              <a:schemeClr val="accent1"/>
            </a:solidFill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/>
          <a:lstStyle/>
          <a:p>
            <a:r>
              <a:t>6つのアクションに担当と完了条件を付ける</a:t>
            </a:r>
          </a:p>
        </p:txBody>
      </p:sp>
      <p:sp>
        <p:nvSpPr>
          <p:cNvPr id="3" name="Action header issue" descr="pptx-deck-generated"/>
          <p:cNvSpPr txBox="1"/>
          <p:nvPr/>
        </p:nvSpPr>
        <p:spPr>
          <a:xfrm>
            <a:off x="457200" y="1645920"/>
            <a:ext cx="245013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4" name="Action header action" descr="pptx-deck-generated"/>
          <p:cNvSpPr txBox="1"/>
          <p:nvPr/>
        </p:nvSpPr>
        <p:spPr>
          <a:xfrm>
            <a:off x="3309670" y="1645920"/>
            <a:ext cx="33023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アクション</a:t>
            </a:r>
          </a:p>
        </p:txBody>
      </p:sp>
      <p:sp>
        <p:nvSpPr>
          <p:cNvPr id="5" name="Action header owner" descr="pptx-deck-generated"/>
          <p:cNvSpPr txBox="1"/>
          <p:nvPr/>
        </p:nvSpPr>
        <p:spPr>
          <a:xfrm>
            <a:off x="6685178" y="1645920"/>
            <a:ext cx="159791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担当</a:t>
            </a:r>
          </a:p>
        </p:txBody>
      </p:sp>
      <p:sp>
        <p:nvSpPr>
          <p:cNvPr id="6" name="Action header due" descr="pptx-deck-generated"/>
          <p:cNvSpPr txBox="1"/>
          <p:nvPr/>
        </p:nvSpPr>
        <p:spPr>
          <a:xfrm>
            <a:off x="8356244" y="1645920"/>
            <a:ext cx="8522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期限</a:t>
            </a:r>
          </a:p>
        </p:txBody>
      </p:sp>
      <p:sp>
        <p:nvSpPr>
          <p:cNvPr id="7" name="Action header done_when" descr="pptx-deck-generated"/>
          <p:cNvSpPr txBox="1"/>
          <p:nvPr/>
        </p:nvSpPr>
        <p:spPr>
          <a:xfrm>
            <a:off x="9281617" y="1645920"/>
            <a:ext cx="2450134" cy="384048"/>
          </a:xfrm>
          <a:prstGeom prst="rect">
            <a:avLst/>
          </a:prstGeom>
          <a:noFill/>
          <a:ln>
            <a:noFill/>
          </a:ln>
        </p:spPr>
        <p:txBody>
          <a:bodyPr wrap="square" anchor="b" lIns="109728" rIns="109728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chemeClr val="dk1">
                    <a:lumMod val="65000"/>
                    <a:lumOff val="35000"/>
                  </a:schemeClr>
                </a:solidFill>
                <a:latin typeface="Yu Gothic"/>
                <a:ea typeface="Yu Gothic"/>
              </a:rPr>
              <a:t>完了条件</a:t>
            </a:r>
          </a:p>
        </p:txBody>
      </p:sp>
      <p:cxnSp>
        <p:nvCxnSpPr>
          <p:cNvPr id="8" name="Action header rule" descr="pptx-deck-generated"/>
          <p:cNvCxnSpPr/>
          <p:nvPr/>
        </p:nvCxnSpPr>
        <p:spPr>
          <a:xfrm>
            <a:off x="457200" y="2029968"/>
            <a:ext cx="11274552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grpSp>
        <p:nvGrpSpPr>
          <p:cNvPr id="9" name="Action 1" descr="pptx-deck-generated"/>
          <p:cNvGrpSpPr/>
          <p:nvPr/>
        </p:nvGrpSpPr>
        <p:grpSpPr>
          <a:xfrm>
            <a:off x="457200" y="2103120"/>
            <a:ext cx="11274551" cy="614172"/>
            <a:chOff x="0" y="0"/>
            <a:chExt cx="11274551" cy="614172"/>
          </a:xfrm>
        </p:grpSpPr>
        <p:sp>
          <p:nvSpPr>
            <p:cNvPr id="10" name="Action 1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最小限の指示が無い</a:t>
              </a:r>
            </a:p>
          </p:txBody>
        </p:sp>
        <p:sp>
          <p:nvSpPr>
            <p:cNvPr id="11" name="Action 1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Action 1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Action 1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A1</a:t>
              </a:r>
            </a:p>
          </p:txBody>
        </p:sp>
        <p:sp>
          <p:nvSpPr>
            <p:cNvPr id="14" name="Action 1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最小コンテキスト基盤を配置</a:t>
              </a:r>
            </a:p>
          </p:txBody>
        </p:sp>
        <p:sp>
          <p:nvSpPr>
            <p:cNvPr id="15" name="Action 1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推進チーム</a:t>
              </a:r>
            </a:p>
          </p:txBody>
        </p:sp>
        <p:sp>
          <p:nvSpPr>
            <p:cNvPr id="16" name="Action 1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Day30</a:t>
              </a:r>
            </a:p>
          </p:txBody>
        </p:sp>
        <p:sp>
          <p:nvSpPr>
            <p:cNvPr id="17" name="Action 1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2リポジトリに配置、記述ごとに評価ケースあり</a:t>
              </a:r>
            </a:p>
          </p:txBody>
        </p:sp>
      </p:grpSp>
      <p:cxnSp>
        <p:nvCxnSpPr>
          <p:cNvPr id="18" name="Action rule 1" descr="pptx-deck-generated"/>
          <p:cNvCxnSpPr/>
          <p:nvPr/>
        </p:nvCxnSpPr>
        <p:spPr>
          <a:xfrm>
            <a:off x="6685178" y="2763012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19" name="Action 2" descr="pptx-deck-generated"/>
          <p:cNvGrpSpPr/>
          <p:nvPr/>
        </p:nvGrpSpPr>
        <p:grpSpPr>
          <a:xfrm>
            <a:off x="457200" y="2808732"/>
            <a:ext cx="11274551" cy="614172"/>
            <a:chOff x="0" y="0"/>
            <a:chExt cx="11274551" cy="614172"/>
          </a:xfrm>
        </p:grpSpPr>
        <p:sp>
          <p:nvSpPr>
            <p:cNvPr id="20" name="Action 2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暗黙知がエキスパート依存</a:t>
              </a:r>
            </a:p>
          </p:txBody>
        </p:sp>
        <p:sp>
          <p:nvSpPr>
            <p:cNvPr id="21" name="Action 2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2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Action 2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Action 2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2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A2</a:t>
              </a:r>
            </a:p>
          </p:txBody>
        </p:sp>
        <p:sp>
          <p:nvSpPr>
            <p:cNvPr id="24" name="Action 2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インタビューskillで抽出（ジュニア同席）</a:t>
              </a:r>
            </a:p>
          </p:txBody>
        </p:sp>
        <p:sp>
          <p:nvSpPr>
            <p:cNvPr id="25" name="Action 2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推進＋エキスパート</a:t>
              </a:r>
            </a:p>
          </p:txBody>
        </p:sp>
        <p:sp>
          <p:nvSpPr>
            <p:cNvPr id="26" name="Action 2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Day60</a:t>
              </a:r>
            </a:p>
          </p:txBody>
        </p:sp>
        <p:sp>
          <p:nvSpPr>
            <p:cNvPr id="27" name="Action 2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抽出40件をレビュー済み</a:t>
              </a:r>
            </a:p>
          </p:txBody>
        </p:sp>
      </p:grpSp>
      <p:cxnSp>
        <p:nvCxnSpPr>
          <p:cNvPr id="28" name="Action rule 2" descr="pptx-deck-generated"/>
          <p:cNvCxnSpPr/>
          <p:nvPr/>
        </p:nvCxnSpPr>
        <p:spPr>
          <a:xfrm>
            <a:off x="6685178" y="3468624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29" name="Action 3" descr="pptx-deck-generated"/>
          <p:cNvGrpSpPr/>
          <p:nvPr/>
        </p:nvGrpSpPr>
        <p:grpSpPr>
          <a:xfrm>
            <a:off x="457200" y="3514344"/>
            <a:ext cx="11274551" cy="614172"/>
            <a:chOff x="0" y="0"/>
            <a:chExt cx="11274551" cy="614172"/>
          </a:xfrm>
        </p:grpSpPr>
        <p:sp>
          <p:nvSpPr>
            <p:cNvPr id="30" name="Action 3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評価の基準が人依存</a:t>
              </a:r>
            </a:p>
          </p:txBody>
        </p:sp>
        <p:sp>
          <p:nvSpPr>
            <p:cNvPr id="31" name="Action 3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Action 3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Action 3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A3</a:t>
              </a:r>
            </a:p>
          </p:txBody>
        </p:sp>
        <p:sp>
          <p:nvSpPr>
            <p:cNvPr id="34" name="Action 3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評価セットをCIに組み込む</a:t>
              </a:r>
            </a:p>
          </p:txBody>
        </p:sp>
        <p:sp>
          <p:nvSpPr>
            <p:cNvPr id="35" name="Action 3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QA</a:t>
              </a:r>
            </a:p>
          </p:txBody>
        </p:sp>
        <p:sp>
          <p:nvSpPr>
            <p:cNvPr id="36" name="Action 3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Day60</a:t>
              </a:r>
            </a:p>
          </p:txBody>
        </p:sp>
        <p:sp>
          <p:nvSpPr>
            <p:cNvPr id="37" name="Action 3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合格率を週次で計測</a:t>
              </a:r>
            </a:p>
          </p:txBody>
        </p:sp>
      </p:grpSp>
      <p:cxnSp>
        <p:nvCxnSpPr>
          <p:cNvPr id="38" name="Action rule 3" descr="pptx-deck-generated"/>
          <p:cNvCxnSpPr/>
          <p:nvPr/>
        </p:nvCxnSpPr>
        <p:spPr>
          <a:xfrm>
            <a:off x="6685178" y="4174236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39" name="Action 4" descr="pptx-deck-generated"/>
          <p:cNvGrpSpPr/>
          <p:nvPr/>
        </p:nvGrpSpPr>
        <p:grpSpPr>
          <a:xfrm>
            <a:off x="457200" y="4219956"/>
            <a:ext cx="11274551" cy="614172"/>
            <a:chOff x="0" y="0"/>
            <a:chExt cx="11274551" cy="614172"/>
          </a:xfrm>
        </p:grpSpPr>
        <p:sp>
          <p:nvSpPr>
            <p:cNvPr id="40" name="Action 4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PRが大きくレビューが詰まる</a:t>
              </a:r>
            </a:p>
          </p:txBody>
        </p:sp>
        <p:sp>
          <p:nvSpPr>
            <p:cNvPr id="41" name="Action 4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Action 4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Action 4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A4</a:t>
              </a:r>
            </a:p>
          </p:txBody>
        </p:sp>
        <p:sp>
          <p:nvSpPr>
            <p:cNvPr id="44" name="Action 4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PRサイズ上限とレビュー観点の統合</a:t>
              </a:r>
            </a:p>
          </p:txBody>
        </p:sp>
        <p:sp>
          <p:nvSpPr>
            <p:cNvPr id="45" name="Action 4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テックリード</a:t>
              </a:r>
            </a:p>
          </p:txBody>
        </p:sp>
        <p:sp>
          <p:nvSpPr>
            <p:cNvPr id="46" name="Action 4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Day45</a:t>
              </a:r>
            </a:p>
          </p:txBody>
        </p:sp>
        <p:sp>
          <p:nvSpPr>
            <p:cNvPr id="47" name="Action 4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上限超えPRの比率を計測</a:t>
              </a:r>
            </a:p>
          </p:txBody>
        </p:sp>
      </p:grpSp>
      <p:cxnSp>
        <p:nvCxnSpPr>
          <p:cNvPr id="48" name="Action rule 4" descr="pptx-deck-generated"/>
          <p:cNvCxnSpPr/>
          <p:nvPr/>
        </p:nvCxnSpPr>
        <p:spPr>
          <a:xfrm>
            <a:off x="6685178" y="4879848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49" name="Action 5" descr="pptx-deck-generated"/>
          <p:cNvGrpSpPr/>
          <p:nvPr/>
        </p:nvGrpSpPr>
        <p:grpSpPr>
          <a:xfrm>
            <a:off x="457200" y="4925568"/>
            <a:ext cx="11274551" cy="614172"/>
            <a:chOff x="0" y="0"/>
            <a:chExt cx="11274551" cy="614172"/>
          </a:xfrm>
        </p:grpSpPr>
        <p:sp>
          <p:nvSpPr>
            <p:cNvPr id="50" name="Action 5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利用範囲・権限・費用が未統制</a:t>
              </a:r>
            </a:p>
          </p:txBody>
        </p:sp>
        <p:sp>
          <p:nvSpPr>
            <p:cNvPr id="51" name="Action 5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Action 5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Action 5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A5</a:t>
              </a:r>
            </a:p>
          </p:txBody>
        </p:sp>
        <p:sp>
          <p:nvSpPr>
            <p:cNvPr id="54" name="Action 5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利用ガイド・権限分離・予算上限</a:t>
              </a:r>
            </a:p>
          </p:txBody>
        </p:sp>
        <p:sp>
          <p:nvSpPr>
            <p:cNvPr id="55" name="Action 5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セキュリティ</a:t>
              </a:r>
            </a:p>
          </p:txBody>
        </p:sp>
        <p:sp>
          <p:nvSpPr>
            <p:cNvPr id="56" name="Action 5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Day30</a:t>
              </a:r>
            </a:p>
          </p:txBody>
        </p:sp>
        <p:sp>
          <p:nvSpPr>
            <p:cNvPr id="57" name="Action 5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ガイド公開・上限設定済み</a:t>
              </a:r>
            </a:p>
          </p:txBody>
        </p:sp>
      </p:grpSp>
      <p:cxnSp>
        <p:nvCxnSpPr>
          <p:cNvPr id="58" name="Action rule 5" descr="pptx-deck-generated"/>
          <p:cNvCxnSpPr/>
          <p:nvPr/>
        </p:nvCxnSpPr>
        <p:spPr>
          <a:xfrm>
            <a:off x="6685178" y="5585460"/>
            <a:ext cx="5046574" cy="0"/>
          </a:xfrm>
          <a:prstGeom prst="line">
            <a:avLst/>
          </a:prstGeom>
          <a:ln w="9525">
            <a:solidFill>
              <a:schemeClr val="lt1">
                <a:lumMod val="85000"/>
              </a:schemeClr>
            </a:solidFill>
          </a:ln>
        </p:spPr>
      </p:cxnSp>
      <p:grpSp>
        <p:nvGrpSpPr>
          <p:cNvPr id="59" name="Action 6" descr="pptx-deck-generated"/>
          <p:cNvGrpSpPr/>
          <p:nvPr/>
        </p:nvGrpSpPr>
        <p:grpSpPr>
          <a:xfrm>
            <a:off x="457200" y="5631180"/>
            <a:ext cx="11274551" cy="614172"/>
            <a:chOff x="0" y="0"/>
            <a:chExt cx="11274551" cy="614172"/>
          </a:xfrm>
        </p:grpSpPr>
        <p:sp>
          <p:nvSpPr>
            <p:cNvPr id="60" name="Action 6 issue" descr="pptx-deck-generated"/>
            <p:cNvSpPr/>
            <p:nvPr/>
          </p:nvSpPr>
          <p:spPr>
            <a:xfrm>
              <a:off x="0" y="0"/>
              <a:ext cx="2450134" cy="614172"/>
            </a:xfrm>
            <a:prstGeom prst="roundRect">
              <a:avLst>
                <a:gd name="adj" fmla="val 8933"/>
              </a:avLst>
            </a:prstGeom>
            <a:solidFill>
              <a:schemeClr val="lt2"/>
            </a:solidFill>
          </p:spPr>
          <p:txBody>
            <a:bodyPr rtlCol="0" anchor="ctr" wrap="square" lIns="109728" rIns="109728" tIns="73152" bIns="73152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効果を実測していない</a:t>
              </a:r>
            </a:p>
          </p:txBody>
        </p:sp>
        <p:sp>
          <p:nvSpPr>
            <p:cNvPr id="61" name="Action 6 arrow" descr="pptx-deck-generated"/>
            <p:cNvSpPr/>
            <p:nvPr/>
          </p:nvSpPr>
          <p:spPr>
            <a:xfrm>
              <a:off x="2504998" y="188214"/>
              <a:ext cx="292608" cy="237744"/>
            </a:xfrm>
            <a:prstGeom prst="rightArrow">
              <a:avLst/>
            </a:prstGeom>
            <a:solidFill>
              <a:schemeClr val="accent1"/>
            </a:solidFill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Action 6 box" descr="pptx-deck-generated"/>
            <p:cNvSpPr/>
            <p:nvPr/>
          </p:nvSpPr>
          <p:spPr>
            <a:xfrm>
              <a:off x="2852470" y="0"/>
              <a:ext cx="3302355" cy="614172"/>
            </a:xfrm>
            <a:prstGeom prst="roundRect">
              <a:avLst>
                <a:gd name="adj" fmla="val 8933"/>
              </a:avLst>
            </a:prstGeom>
            <a:solidFill>
              <a:schemeClr val="lt1"/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Action 6 id" descr="pptx-deck-generated"/>
            <p:cNvSpPr/>
            <p:nvPr/>
          </p:nvSpPr>
          <p:spPr>
            <a:xfrm>
              <a:off x="2925622" y="151638"/>
              <a:ext cx="420624" cy="310896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</p:spPr>
          <p:txBody>
            <a:bodyPr rtlCol="0" anchor="ctr" wrap="none" lIns="9144" rIns="9144" tIns="9144" bIns="9144"/>
            <a:lstStyle/>
            <a:p>
              <a:pPr algn="ctr"/>
              <a:r>
                <a:rPr sz="1300" b="1">
                  <a:solidFill>
                    <a:schemeClr val="lt1"/>
                  </a:solidFill>
                  <a:latin typeface="Yu Gothic"/>
                  <a:ea typeface="Yu Gothic"/>
                </a:rPr>
                <a:t>A6</a:t>
              </a:r>
            </a:p>
          </p:txBody>
        </p:sp>
        <p:sp>
          <p:nvSpPr>
            <p:cNvPr id="64" name="Action 6 text" descr="pptx-deck-generated"/>
            <p:cNvSpPr txBox="1"/>
            <p:nvPr/>
          </p:nvSpPr>
          <p:spPr>
            <a:xfrm>
              <a:off x="3346246" y="0"/>
              <a:ext cx="2808579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実測ダッシュボードとベースライン</a:t>
              </a:r>
            </a:p>
          </p:txBody>
        </p:sp>
        <p:sp>
          <p:nvSpPr>
            <p:cNvPr id="65" name="Action 6 owner" descr="pptx-deck-generated"/>
            <p:cNvSpPr txBox="1"/>
            <p:nvPr/>
          </p:nvSpPr>
          <p:spPr>
            <a:xfrm>
              <a:off x="6227978" y="0"/>
              <a:ext cx="159791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chemeClr val="dk1"/>
                  </a:solidFill>
                  <a:latin typeface="Yu Gothic"/>
                  <a:ea typeface="Yu Gothic"/>
                </a:rPr>
                <a:t>推進チーム</a:t>
              </a:r>
            </a:p>
          </p:txBody>
        </p:sp>
        <p:sp>
          <p:nvSpPr>
            <p:cNvPr id="66" name="Action 6 due" descr="pptx-deck-generated"/>
            <p:cNvSpPr txBox="1"/>
            <p:nvPr/>
          </p:nvSpPr>
          <p:spPr>
            <a:xfrm>
              <a:off x="7899044" y="0"/>
              <a:ext cx="852220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chemeClr val="dk1"/>
                  </a:solidFill>
                  <a:latin typeface="Yu Gothic"/>
                  <a:ea typeface="Yu Gothic"/>
                </a:rPr>
                <a:t>Day21</a:t>
              </a:r>
            </a:p>
          </p:txBody>
        </p:sp>
        <p:sp>
          <p:nvSpPr>
            <p:cNvPr id="67" name="Action 6 done_when" descr="pptx-deck-generated"/>
            <p:cNvSpPr txBox="1"/>
            <p:nvPr/>
          </p:nvSpPr>
          <p:spPr>
            <a:xfrm>
              <a:off x="8824417" y="0"/>
              <a:ext cx="2450134" cy="614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109728" rIns="109728" tIns="73152" bIns="73152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chemeClr val="dk1"/>
                  </a:solidFill>
                  <a:latin typeface="Yu Gothic"/>
                  <a:ea typeface="Yu Gothic"/>
                </a:rPr>
                <a:t>4指標の基準値を取得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rgbClr val="FFFFFF"/>
      </a:lt1>
      <a:dk2>
        <a:srgbClr val="0F5B4F"/>
      </a:dk2>
      <a:lt2>
        <a:srgbClr val="EEF4F2"/>
      </a:lt2>
      <a:accent1>
        <a:srgbClr val="0F5B4F"/>
      </a:accent1>
      <a:accent2>
        <a:srgbClr val="E07A1F"/>
      </a:accent2>
      <a:accent3>
        <a:srgbClr val="6C817B"/>
      </a:accent3>
      <a:accent4>
        <a:srgbClr val="9DAEA9"/>
      </a:accent4>
      <a:accent5>
        <a:srgbClr val="CAD4D1"/>
      </a:accent5>
      <a:accent6>
        <a:srgbClr val="718782"/>
      </a:accent6>
      <a:hlink>
        <a:srgbClr val="E07A1F"/>
      </a:hlink>
      <a:folHlink>
        <a:srgbClr val="8F5522"/>
      </a:folHlink>
    </a:clrScheme>
    <a:fontScheme name="Office">
      <a:maj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