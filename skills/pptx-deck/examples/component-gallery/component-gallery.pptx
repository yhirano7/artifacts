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自己解決率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</c:v>
                </c:pt>
                <c:pt idx="1">
                  <c:v>0.58</c:v>
                </c:pt>
                <c:pt idx="2">
                  <c:v>0.72</c:v>
                </c:pt>
              </c:numCache>
            </c:numRef>
          </c:val>
          <c:spPr>
            <a:solidFill>
              <a:schemeClr val="accent1"/>
            </a:solidFill>
          </c:spPr>
        </c:ser>
        <c:dLbls>
          <c:numFmt formatCode="0%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chemeClr val="dk1"/>
          </a:solidFill>
        </a:defRPr>
      </a:pPr>
      <a:endParaRPr lang="en-US" sz="1600">
        <a:solidFill>
          <a:schemeClr val="dk1"/>
        </a:solidFill>
      </a:endParaR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受付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  <c:pt idx="3">
                  <c:v>1月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146</c:v>
                </c:pt>
              </c:numCache>
            </c:numRef>
          </c:val>
          <c:smooth val="0"/>
          <c:spPr>
            <a:solidFill>
              <a:schemeClr val="accent1"/>
            </a:solidFill>
          </c:spPr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解決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  <c:pt idx="3">
                  <c:v>1月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108</c:v>
                </c:pt>
                <c:pt idx="1">
                  <c:v>122</c:v>
                </c:pt>
                <c:pt idx="2">
                  <c:v>136</c:v>
                </c:pt>
                <c:pt idx="3">
                  <c:v>158</c:v>
                </c:pt>
              </c:numCache>
            </c:numRef>
          </c:val>
          <c:smooth val="0"/>
          <c:spPr>
            <a:solidFill>
              <a:schemeClr val="accent2"/>
            </a:solidFill>
          </c:spPr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600">
          <a:solidFill>
            <a:schemeClr val="dk1"/>
          </a:solidFill>
        </a:defRPr>
      </a:pPr>
      <a:endParaRPr lang="en-US" sz="1600">
        <a:solidFill>
          <a:schemeClr val="dk1"/>
        </a:solidFill>
      </a:endParaR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窓口を一本化し、共通の分類と回答ナレッジで運用する。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標準化した受付情報をチーム間で共有する。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試行結果を反映してから全社へ展開する。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数値は初期目標の例であり、試行結果に基づいて見直す。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初期の運用目標をシンプルに示した例。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受付から記録までの標準フローを示す。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問い合わせをナレッジ改善へつなげる循環を示す。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部門をまたぐ問い合わせの流れを示す。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導入前後の運用差を比較する。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一次窓口と専門チームの役割分担を示す。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分類基準は部門間で合意して運用する。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自己解決を土台に、専門性が必要な案件へ人員を集中する。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共通の受付情報を使って担当を判断する。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日々の対応とナレッジ更新をつなぐ。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複数の運用要素を一体として整備する。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小規模な試行で受付項目を確かめてから対象を広げる。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提案の中心となるメッセージを強調する。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ナレッジ共有の目指す状態を短く表現する。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準備状況と担当・期限を一覧で確認する。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数値は運用イメージを示す架空の例で、実績値ではない。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問い合わせ件数は説明用の架空データ。受付と解決の差を継続確認する。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377440"/>
            <a:ext cx="10515600" cy="685800"/>
          </a:xfrm>
        </p:spPr>
        <p:txBody>
          <a:bodyPr anchor="t"/>
          <a:lstStyle>
            <a:lvl1pPr algn="l">
              <a:defRPr sz="40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172968"/>
            <a:ext cx="10515600" cy="502920"/>
          </a:xfrm>
        </p:spPr>
        <p:txBody>
          <a:bodyPr anchor="t"/>
          <a:lstStyle>
            <a:lvl1pPr marL="0" indent="0" algn="l">
              <a:buNone/>
              <a:defRPr sz="1800">
                <a:solidFill>
                  <a:srgbClr val="595F6B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Slide Accent"/>
          <p:cNvSpPr/>
          <p:nvPr/>
        </p:nvSpPr>
        <p:spPr>
          <a:xfrm>
            <a:off x="822960" y="2084831"/>
            <a:ext cx="1097280" cy="548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77440"/>
            <a:ext cx="10515600" cy="685800"/>
          </a:xfrm>
        </p:spPr>
        <p:txBody>
          <a:bodyPr anchor="t"/>
          <a:lstStyle>
            <a:lvl1pPr algn="l">
              <a:defRPr sz="4000" b="1" cap="all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 Header Accent"/>
          <p:cNvSpPr/>
          <p:nvPr/>
        </p:nvSpPr>
        <p:spPr>
          <a:xfrm>
            <a:off x="822960" y="2084831"/>
            <a:ext cx="1097280" cy="548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1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377440"/>
            <a:ext cx="10515600" cy="685800"/>
          </a:xfrm>
        </p:spPr>
        <p:txBody>
          <a:bodyPr/>
          <a:lstStyle/>
          <a:p>
            <a:r>
              <a:t>社内問い合わせ窓口を一本化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172968"/>
            <a:ext cx="10515600" cy="502920"/>
          </a:xfrm>
        </p:spPr>
        <p:txBody>
          <a:bodyPr/>
          <a:lstStyle/>
          <a:p>
            <a:r>
              <a:t>コンポーネントギャラリー | Sample 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受付を一つにまとめる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645920"/>
            <a:ext cx="11274552" cy="45110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dk1"/>
                </a:solidFill>
                <a:latin typeface="Yu Gothic"/>
                <a:ea typeface="Yu Gothic"/>
              </a:rPr>
              <a:t>窓口統合で変える三つのポイント</a:t>
            </a:r>
          </a:p>
        </p:txBody>
      </p:sp>
      <p:grpSp>
        <p:nvGrpSpPr>
          <p:cNvPr id="4" name="Cards 1" descr="pptx-deck-generated"/>
          <p:cNvGrpSpPr/>
          <p:nvPr/>
        </p:nvGrpSpPr>
        <p:grpSpPr>
          <a:xfrm>
            <a:off x="457200" y="3022092"/>
            <a:ext cx="3648456" cy="2334768"/>
            <a:chOff x="0" y="0"/>
            <a:chExt cx="3648456" cy="2334768"/>
          </a:xfrm>
        </p:grpSpPr>
        <p:sp>
          <p:nvSpPr>
            <p:cNvPr id="5" name="Card 1 body" descr="pptx-deck-generated"/>
            <p:cNvSpPr/>
            <p:nvPr/>
          </p:nvSpPr>
          <p:spPr>
            <a:xfrm>
              <a:off x="0" y="0"/>
              <a:ext cx="3648456" cy="2334768"/>
            </a:xfrm>
            <a:prstGeom prst="roundRect">
              <a:avLst>
                <a:gd name="adj" fmla="val 2350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ard 1 heading" descr="pptx-deck-generated"/>
            <p:cNvSpPr/>
            <p:nvPr/>
          </p:nvSpPr>
          <p:spPr>
            <a:xfrm>
              <a:off x="0" y="0"/>
              <a:ext cx="3648456" cy="560832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受付を集約</a:t>
              </a:r>
            </a:p>
          </p:txBody>
        </p:sp>
        <p:sp>
          <p:nvSpPr>
            <p:cNvPr id="7" name="Card 1 copy" descr="pptx-deck-generated"/>
            <p:cNvSpPr txBox="1"/>
            <p:nvPr/>
          </p:nvSpPr>
          <p:spPr>
            <a:xfrm>
              <a:off x="109728" y="560832"/>
              <a:ext cx="3429000" cy="17007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申請先を一つにして迷いを減らす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受付通知を自動で返し、受領状況を明確にする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対応状況を同じ窓口で確認する</a:t>
              </a:r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3022092"/>
            <a:ext cx="3648456" cy="2334768"/>
            <a:chOff x="0" y="0"/>
            <a:chExt cx="3648456" cy="2334768"/>
          </a:xfrm>
        </p:grpSpPr>
        <p:sp>
          <p:nvSpPr>
            <p:cNvPr id="9" name="Card 2 body" descr="pptx-deck-generated"/>
            <p:cNvSpPr/>
            <p:nvPr/>
          </p:nvSpPr>
          <p:spPr>
            <a:xfrm>
              <a:off x="0" y="0"/>
              <a:ext cx="3648456" cy="2334768"/>
            </a:xfrm>
            <a:prstGeom prst="roundRect">
              <a:avLst>
                <a:gd name="adj" fmla="val 2350"/>
              </a:avLst>
            </a:prstGeom>
            <a:solidFill>
              <a:schemeClr val="lt1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/>
            <p:nvPr/>
          </p:nvSpPr>
          <p:spPr>
            <a:xfrm>
              <a:off x="0" y="0"/>
              <a:ext cx="3648456" cy="560832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分類を共通化</a:t>
              </a:r>
            </a:p>
          </p:txBody>
        </p:sp>
        <p:sp>
          <p:nvSpPr>
            <p:cNvPr id="11" name="Card 2 copy" descr="pptx-deck-generated"/>
            <p:cNvSpPr txBox="1"/>
            <p:nvPr/>
          </p:nvSpPr>
          <p:spPr>
            <a:xfrm>
              <a:off x="109728" y="560832"/>
              <a:ext cx="3429000" cy="17007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カテゴリと優先度を統一する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必要情報をそろえて担当へ引き継ぐ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緊急度に応じた対応順を決める</a:t>
              </a:r>
            </a:p>
          </p:txBody>
        </p:sp>
      </p:grpSp>
      <p:grpSp>
        <p:nvGrpSpPr>
          <p:cNvPr id="12" name="Cards 3" descr="pptx-deck-generated"/>
          <p:cNvGrpSpPr/>
          <p:nvPr/>
        </p:nvGrpSpPr>
        <p:grpSpPr>
          <a:xfrm>
            <a:off x="8083296" y="3022092"/>
            <a:ext cx="3648456" cy="2334768"/>
            <a:chOff x="0" y="0"/>
            <a:chExt cx="3648456" cy="2334768"/>
          </a:xfrm>
        </p:grpSpPr>
        <p:sp>
          <p:nvSpPr>
            <p:cNvPr id="13" name="Card 3 body" descr="pptx-deck-generated"/>
            <p:cNvSpPr/>
            <p:nvPr/>
          </p:nvSpPr>
          <p:spPr>
            <a:xfrm>
              <a:off x="0" y="0"/>
              <a:ext cx="3648456" cy="2334768"/>
            </a:xfrm>
            <a:prstGeom prst="roundRect">
              <a:avLst>
                <a:gd name="adj" fmla="val 2350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ard 3 heading" descr="pptx-deck-generated"/>
            <p:cNvSpPr/>
            <p:nvPr/>
          </p:nvSpPr>
          <p:spPr>
            <a:xfrm>
              <a:off x="0" y="0"/>
              <a:ext cx="3648456" cy="560832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回答を再利用</a:t>
              </a:r>
            </a:p>
          </p:txBody>
        </p:sp>
        <p:sp>
          <p:nvSpPr>
            <p:cNvPr id="15" name="Card 3 copy" descr="pptx-deck-generated"/>
            <p:cNvSpPr txBox="1"/>
            <p:nvPr/>
          </p:nvSpPr>
          <p:spPr>
            <a:xfrm>
              <a:off x="109727" y="560832"/>
              <a:ext cx="3429000" cy="17007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FAQを育て、重複対応を減らす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解決内容を記録して次の回答に活用する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同じ質問への再回答を減らす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受付から回答までを標準化する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2520696"/>
            <a:ext cx="3648456" cy="2090928"/>
            <a:chOff x="0" y="0"/>
            <a:chExt cx="3648456" cy="2090928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2090928"/>
            </a:xfrm>
            <a:prstGeom prst="roundRect">
              <a:avLst>
                <a:gd name="adj" fmla="val 2624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heading" descr="pptx-deck-generated"/>
            <p:cNvSpPr txBox="1"/>
            <p:nvPr/>
          </p:nvSpPr>
          <p:spPr>
            <a:xfrm>
              <a:off x="109728" y="73152"/>
              <a:ext cx="34290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6" name="Card 1 body" descr="pptx-deck-generated"/>
            <p:cNvSpPr txBox="1"/>
            <p:nvPr/>
          </p:nvSpPr>
          <p:spPr>
            <a:xfrm>
              <a:off x="109728" y="560832"/>
              <a:ext cx="3429000" cy="1103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フォームで必要情報を収集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受付通知を自動送信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対応状況を受付台帳に記録</a:t>
              </a:r>
            </a:p>
          </p:txBody>
        </p:sp>
        <p:sp>
          <p:nvSpPr>
            <p:cNvPr id="7" name="Card 1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2520696"/>
            <a:ext cx="3648456" cy="2090928"/>
            <a:chOff x="0" y="0"/>
            <a:chExt cx="3648456" cy="2090928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2090928"/>
            </a:xfrm>
            <a:prstGeom prst="roundRect">
              <a:avLst>
                <a:gd name="adj" fmla="val 2624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 txBox="1"/>
            <p:nvPr/>
          </p:nvSpPr>
          <p:spPr>
            <a:xfrm>
              <a:off x="109728" y="73152"/>
              <a:ext cx="34290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振り分ける</a:t>
              </a:r>
            </a:p>
          </p:txBody>
        </p:sp>
        <p:sp>
          <p:nvSpPr>
            <p:cNvPr id="11" name="Card 2 body" descr="pptx-deck-generated"/>
            <p:cNvSpPr txBox="1"/>
            <p:nvPr/>
          </p:nvSpPr>
          <p:spPr>
            <a:xfrm>
              <a:off x="109728" y="560832"/>
              <a:ext cx="3429000" cy="1347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共通カテゴリで分類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担当チームへ割り当て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緊急度を確認して優先順位を決める</a:t>
              </a:r>
            </a:p>
          </p:txBody>
        </p:sp>
        <p:sp>
          <p:nvSpPr>
            <p:cNvPr id="12" name="Card 2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2520696"/>
            <a:ext cx="3648456" cy="2090928"/>
            <a:chOff x="0" y="0"/>
            <a:chExt cx="3648456" cy="2090928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2090928"/>
            </a:xfrm>
            <a:prstGeom prst="roundRect">
              <a:avLst>
                <a:gd name="adj" fmla="val 2624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heading" descr="pptx-deck-generated"/>
            <p:cNvSpPr txBox="1"/>
            <p:nvPr/>
          </p:nvSpPr>
          <p:spPr>
            <a:xfrm>
              <a:off x="109727" y="73152"/>
              <a:ext cx="34290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回答する</a:t>
              </a:r>
            </a:p>
          </p:txBody>
        </p:sp>
        <p:sp>
          <p:nvSpPr>
            <p:cNvPr id="16" name="Card 3 body" descr="pptx-deck-generated"/>
            <p:cNvSpPr txBox="1"/>
            <p:nvPr/>
          </p:nvSpPr>
          <p:spPr>
            <a:xfrm>
              <a:off x="109727" y="560832"/>
              <a:ext cx="3429000" cy="1103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FAQを確認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解決内容を記録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再利用できる知見をFAQへ反映</a:t>
              </a:r>
            </a:p>
          </p:txBody>
        </p:sp>
        <p:sp>
          <p:nvSpPr>
            <p:cNvPr id="17" name="Card 3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" name="Component takeaway" descr="pptx-deck-generated"/>
          <p:cNvSpPr/>
          <p:nvPr/>
        </p:nvSpPr>
        <p:spPr>
          <a:xfrm>
            <a:off x="457200" y="4840224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accent" descr="pptx-deck-generated"/>
          <p:cNvSpPr/>
          <p:nvPr/>
        </p:nvSpPr>
        <p:spPr>
          <a:xfrm>
            <a:off x="457200" y="4840224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 text" descr="pptx-deck-generated"/>
          <p:cNvSpPr txBox="1"/>
          <p:nvPr/>
        </p:nvSpPr>
        <p:spPr>
          <a:xfrm>
            <a:off x="603504" y="4840224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問い合わせ状況と解決内容を一元管理する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段階的に定着させる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2619756"/>
            <a:ext cx="3648456" cy="2578608"/>
            <a:chOff x="0" y="0"/>
            <a:chExt cx="3648456" cy="2578608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2578608"/>
            </a:xfrm>
            <a:prstGeom prst="roundRect">
              <a:avLst>
                <a:gd name="adj" fmla="val 212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number" descr="pptx-deck-generated"/>
            <p:cNvSpPr/>
            <p:nvPr/>
          </p:nvSpPr>
          <p:spPr>
            <a:xfrm>
              <a:off x="128016" y="109728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6" name="Card 1 heading" descr="pptx-deck-generated"/>
            <p:cNvSpPr txBox="1"/>
            <p:nvPr/>
          </p:nvSpPr>
          <p:spPr>
            <a:xfrm>
              <a:off x="585216" y="91440"/>
              <a:ext cx="2935224" cy="56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試行</a:t>
              </a:r>
            </a:p>
          </p:txBody>
        </p:sp>
        <p:sp>
          <p:nvSpPr>
            <p:cNvPr id="7" name="Card 1 copy" descr="pptx-deck-generated"/>
            <p:cNvSpPr txBox="1"/>
            <p:nvPr/>
          </p:nvSpPr>
          <p:spPr>
            <a:xfrm>
              <a:off x="146304" y="640080"/>
              <a:ext cx="3355848" cy="1865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対象部門を絞り、受付項目を検証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利用者の声を集め、入力負荷を確認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問い合わせ件数と内容を記録</a:t>
              </a:r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2619756"/>
            <a:ext cx="3648456" cy="2578608"/>
            <a:chOff x="0" y="0"/>
            <a:chExt cx="3648456" cy="2578608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2578608"/>
            </a:xfrm>
            <a:prstGeom prst="roundRect">
              <a:avLst>
                <a:gd name="adj" fmla="val 212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number" descr="pptx-deck-generated"/>
            <p:cNvSpPr/>
            <p:nvPr/>
          </p:nvSpPr>
          <p:spPr>
            <a:xfrm>
              <a:off x="128016" y="109728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1" name="Card 2 heading" descr="pptx-deck-generated"/>
            <p:cNvSpPr txBox="1"/>
            <p:nvPr/>
          </p:nvSpPr>
          <p:spPr>
            <a:xfrm>
              <a:off x="585216" y="91440"/>
              <a:ext cx="2935224" cy="56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展開</a:t>
              </a:r>
            </a:p>
          </p:txBody>
        </p:sp>
        <p:sp>
          <p:nvSpPr>
            <p:cNvPr id="12" name="Card 2 copy" descr="pptx-deck-generated"/>
            <p:cNvSpPr txBox="1"/>
            <p:nvPr/>
          </p:nvSpPr>
          <p:spPr>
            <a:xfrm>
              <a:off x="146304" y="640080"/>
              <a:ext cx="3355848" cy="1865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FAQと担当範囲を整えて対象拡大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運用状況を見ながら対象を段階的に広げる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部門別の利用状況を確認する</a:t>
              </a:r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2619756"/>
            <a:ext cx="3648456" cy="2578608"/>
            <a:chOff x="0" y="0"/>
            <a:chExt cx="3648456" cy="2578608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2578608"/>
            </a:xfrm>
            <a:prstGeom prst="roundRect">
              <a:avLst>
                <a:gd name="adj" fmla="val 2128"/>
              </a:avLst>
            </a:prstGeom>
            <a:solidFill>
              <a:schemeClr val="lt2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number" descr="pptx-deck-generated"/>
            <p:cNvSpPr/>
            <p:nvPr/>
          </p:nvSpPr>
          <p:spPr>
            <a:xfrm>
              <a:off x="128016" y="109728"/>
              <a:ext cx="384048" cy="384048"/>
            </a:xfrm>
            <a:prstGeom prst="ellipse">
              <a:avLst/>
            </a:prstGeom>
            <a:solidFill>
              <a:schemeClr val="accent2"/>
            </a:solidFill>
          </p:spPr>
          <p:txBody>
            <a:bodyPr rtlCol="0" anchor="t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6" name="Card 3 heading" descr="pptx-deck-generated"/>
            <p:cNvSpPr txBox="1"/>
            <p:nvPr/>
          </p:nvSpPr>
          <p:spPr>
            <a:xfrm>
              <a:off x="585216" y="91440"/>
              <a:ext cx="2935224" cy="56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2"/>
                  </a:solidFill>
                  <a:latin typeface="Yu Gothic"/>
                  <a:ea typeface="Yu Gothic"/>
                </a:rPr>
                <a:t>定着</a:t>
              </a:r>
            </a:p>
          </p:txBody>
        </p:sp>
        <p:sp>
          <p:nvSpPr>
            <p:cNvPr id="17" name="Card 3 copy" descr="pptx-deck-generated"/>
            <p:cNvSpPr txBox="1"/>
            <p:nvPr/>
          </p:nvSpPr>
          <p:spPr>
            <a:xfrm>
              <a:off x="146304" y="640080"/>
              <a:ext cx="3355848" cy="1865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実績を見て手順とナレッジを更新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定期的に課題を確認し、改善を続ける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問い合わせ傾向から改善テーマを決める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受付集約で対応状況を見える化</a:t>
            </a:r>
          </a:p>
        </p:txBody>
      </p:sp>
      <p:grpSp>
        <p:nvGrpSpPr>
          <p:cNvPr id="3" name="KPI 1" descr="pptx-deck-generated"/>
          <p:cNvGrpSpPr/>
          <p:nvPr/>
        </p:nvGrpSpPr>
        <p:grpSpPr>
          <a:xfrm>
            <a:off x="457200" y="2883408"/>
            <a:ext cx="2708910" cy="2051304"/>
            <a:chOff x="0" y="0"/>
            <a:chExt cx="2708910" cy="2051304"/>
          </a:xfrm>
        </p:grpSpPr>
        <p:sp>
          <p:nvSpPr>
            <p:cNvPr id="4" name="KPI 1 tile" descr="pptx-deck-generated"/>
            <p:cNvSpPr/>
            <p:nvPr/>
          </p:nvSpPr>
          <p:spPr>
            <a:xfrm>
              <a:off x="0" y="0"/>
              <a:ext cx="2708910" cy="2051304"/>
            </a:xfrm>
            <a:prstGeom prst="roundRect">
              <a:avLst>
                <a:gd name="adj" fmla="val 2675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KPI 1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KPI 1 value" descr="pptx-deck-generated"/>
            <p:cNvSpPr txBox="1"/>
            <p:nvPr/>
          </p:nvSpPr>
          <p:spPr>
            <a:xfrm>
              <a:off x="18288" y="91440"/>
              <a:ext cx="2672334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1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窓口</a:t>
              </a:r>
            </a:p>
          </p:txBody>
        </p:sp>
        <p:sp>
          <p:nvSpPr>
            <p:cNvPr id="7" name="KPI 1 label" descr="pptx-deck-generated"/>
            <p:cNvSpPr txBox="1"/>
            <p:nvPr/>
          </p:nvSpPr>
          <p:spPr>
            <a:xfrm>
              <a:off x="109728" y="1097280"/>
              <a:ext cx="2489454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受付先</a:t>
              </a:r>
            </a:p>
          </p:txBody>
        </p:sp>
      </p:grpSp>
      <p:grpSp>
        <p:nvGrpSpPr>
          <p:cNvPr id="8" name="KPI 2" descr="pptx-deck-generated"/>
          <p:cNvGrpSpPr/>
          <p:nvPr/>
        </p:nvGrpSpPr>
        <p:grpSpPr>
          <a:xfrm>
            <a:off x="3312414" y="2883408"/>
            <a:ext cx="2708910" cy="2051304"/>
            <a:chOff x="0" y="0"/>
            <a:chExt cx="2708910" cy="2051304"/>
          </a:xfrm>
        </p:grpSpPr>
        <p:sp>
          <p:nvSpPr>
            <p:cNvPr id="9" name="KPI 2 tile" descr="pptx-deck-generated"/>
            <p:cNvSpPr/>
            <p:nvPr/>
          </p:nvSpPr>
          <p:spPr>
            <a:xfrm>
              <a:off x="0" y="0"/>
              <a:ext cx="2708910" cy="2051304"/>
            </a:xfrm>
            <a:prstGeom prst="roundRect">
              <a:avLst>
                <a:gd name="adj" fmla="val 2675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KPI 2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KPI 2 value" descr="pptx-deck-generated"/>
            <p:cNvSpPr txBox="1"/>
            <p:nvPr/>
          </p:nvSpPr>
          <p:spPr>
            <a:xfrm>
              <a:off x="18288" y="91440"/>
              <a:ext cx="2672334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3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営業日</a:t>
              </a:r>
            </a:p>
          </p:txBody>
        </p:sp>
        <p:sp>
          <p:nvSpPr>
            <p:cNvPr id="12" name="KPI 2 label" descr="pptx-deck-generated"/>
            <p:cNvSpPr txBox="1"/>
            <p:nvPr/>
          </p:nvSpPr>
          <p:spPr>
            <a:xfrm>
              <a:off x="109728" y="1097280"/>
              <a:ext cx="2489454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初回回答目標</a:t>
              </a:r>
            </a:p>
          </p:txBody>
        </p:sp>
      </p:grpSp>
      <p:grpSp>
        <p:nvGrpSpPr>
          <p:cNvPr id="13" name="KPI 3" descr="pptx-deck-generated"/>
          <p:cNvGrpSpPr/>
          <p:nvPr/>
        </p:nvGrpSpPr>
        <p:grpSpPr>
          <a:xfrm>
            <a:off x="6167628" y="2883408"/>
            <a:ext cx="2708910" cy="2051304"/>
            <a:chOff x="0" y="0"/>
            <a:chExt cx="2708910" cy="2051304"/>
          </a:xfrm>
        </p:grpSpPr>
        <p:sp>
          <p:nvSpPr>
            <p:cNvPr id="14" name="KPI 3 tile" descr="pptx-deck-generated"/>
            <p:cNvSpPr/>
            <p:nvPr/>
          </p:nvSpPr>
          <p:spPr>
            <a:xfrm>
              <a:off x="0" y="0"/>
              <a:ext cx="2708910" cy="2051304"/>
            </a:xfrm>
            <a:prstGeom prst="roundRect">
              <a:avLst>
                <a:gd name="adj" fmla="val 2675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KPI 3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KPI 3 value" descr="pptx-deck-generated"/>
            <p:cNvSpPr txBox="1"/>
            <p:nvPr/>
          </p:nvSpPr>
          <p:spPr>
            <a:xfrm>
              <a:off x="18288" y="91440"/>
              <a:ext cx="2672334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80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%</a:t>
              </a:r>
            </a:p>
          </p:txBody>
        </p:sp>
        <p:sp>
          <p:nvSpPr>
            <p:cNvPr id="17" name="KPI 3 label" descr="pptx-deck-generated"/>
            <p:cNvSpPr txBox="1"/>
            <p:nvPr/>
          </p:nvSpPr>
          <p:spPr>
            <a:xfrm>
              <a:off x="109728" y="1097280"/>
              <a:ext cx="2489454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FAQ自己解決目標</a:t>
              </a:r>
            </a:p>
          </p:txBody>
        </p:sp>
        <p:sp>
          <p:nvSpPr>
            <p:cNvPr id="18" name="KPI 3 note" descr="pptx-deck-generated"/>
            <p:cNvSpPr txBox="1"/>
            <p:nvPr/>
          </p:nvSpPr>
          <p:spPr>
            <a:xfrm>
              <a:off x="109728" y="1633728"/>
              <a:ext cx="2489454" cy="380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試行後に見直し</a:t>
              </a:r>
            </a:p>
          </p:txBody>
        </p:sp>
      </p:grpSp>
      <p:grpSp>
        <p:nvGrpSpPr>
          <p:cNvPr id="19" name="KPI 4" descr="pptx-deck-generated"/>
          <p:cNvGrpSpPr/>
          <p:nvPr/>
        </p:nvGrpSpPr>
        <p:grpSpPr>
          <a:xfrm>
            <a:off x="9022842" y="2883408"/>
            <a:ext cx="2708910" cy="2051304"/>
            <a:chOff x="0" y="0"/>
            <a:chExt cx="2708910" cy="2051304"/>
          </a:xfrm>
        </p:grpSpPr>
        <p:sp>
          <p:nvSpPr>
            <p:cNvPr id="20" name="KPI 4 tile" descr="pptx-deck-generated"/>
            <p:cNvSpPr/>
            <p:nvPr/>
          </p:nvSpPr>
          <p:spPr>
            <a:xfrm>
              <a:off x="0" y="0"/>
              <a:ext cx="2708910" cy="2051304"/>
            </a:xfrm>
            <a:prstGeom prst="roundRect">
              <a:avLst>
                <a:gd name="adj" fmla="val 2675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KPI 4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KPI 4 value" descr="pptx-deck-generated"/>
            <p:cNvSpPr txBox="1"/>
            <p:nvPr/>
          </p:nvSpPr>
          <p:spPr>
            <a:xfrm>
              <a:off x="18288" y="91440"/>
              <a:ext cx="2672334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100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%</a:t>
              </a:r>
            </a:p>
          </p:txBody>
        </p:sp>
        <p:sp>
          <p:nvSpPr>
            <p:cNvPr id="23" name="KPI 4 label" descr="pptx-deck-generated"/>
            <p:cNvSpPr txBox="1"/>
            <p:nvPr/>
          </p:nvSpPr>
          <p:spPr>
            <a:xfrm>
              <a:off x="109727" y="1097280"/>
              <a:ext cx="2489454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対応記録率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受付先と応答基準を統一する</a:t>
            </a:r>
          </a:p>
        </p:txBody>
      </p:sp>
      <p:grpSp>
        <p:nvGrpSpPr>
          <p:cNvPr id="3" name="KPI 1" descr="pptx-deck-generated"/>
          <p:cNvGrpSpPr/>
          <p:nvPr/>
        </p:nvGrpSpPr>
        <p:grpSpPr>
          <a:xfrm>
            <a:off x="457200" y="2749296"/>
            <a:ext cx="11274552" cy="1633728"/>
            <a:chOff x="0" y="0"/>
            <a:chExt cx="11274552" cy="1633728"/>
          </a:xfrm>
        </p:grpSpPr>
        <p:sp>
          <p:nvSpPr>
            <p:cNvPr id="4" name="KPI band" descr="pptx-deck-generated"/>
            <p:cNvSpPr/>
            <p:nvPr/>
          </p:nvSpPr>
          <p:spPr>
            <a:xfrm>
              <a:off x="0" y="0"/>
              <a:ext cx="11274552" cy="1633728"/>
            </a:xfrm>
            <a:prstGeom prst="roundRect">
              <a:avLst>
                <a:gd name="adj" fmla="val 335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KPI 1 value" descr="pptx-deck-generated"/>
            <p:cNvSpPr txBox="1"/>
            <p:nvPr/>
          </p:nvSpPr>
          <p:spPr>
            <a:xfrm>
              <a:off x="73152" y="73152"/>
              <a:ext cx="3514343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1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窓口</a:t>
              </a:r>
            </a:p>
          </p:txBody>
        </p:sp>
        <p:sp>
          <p:nvSpPr>
            <p:cNvPr id="6" name="KPI 1 label" descr="pptx-deck-generated"/>
            <p:cNvSpPr txBox="1"/>
            <p:nvPr/>
          </p:nvSpPr>
          <p:spPr>
            <a:xfrm>
              <a:off x="73152" y="1097280"/>
              <a:ext cx="3514343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</a:t>
              </a:r>
            </a:p>
          </p:txBody>
        </p:sp>
      </p:grpSp>
      <p:grpSp>
        <p:nvGrpSpPr>
          <p:cNvPr id="7" name="KPI 2" descr="pptx-deck-generated"/>
          <p:cNvGrpSpPr/>
          <p:nvPr/>
        </p:nvGrpSpPr>
        <p:grpSpPr>
          <a:xfrm>
            <a:off x="4190999" y="2822448"/>
            <a:ext cx="3660648" cy="1487424"/>
            <a:chOff x="0" y="0"/>
            <a:chExt cx="3660648" cy="1487424"/>
          </a:xfrm>
        </p:grpSpPr>
        <p:sp>
          <p:nvSpPr>
            <p:cNvPr id="8" name="KPI 2 divider" descr="pptx-deck-generated"/>
            <p:cNvSpPr/>
            <p:nvPr/>
          </p:nvSpPr>
          <p:spPr>
            <a:xfrm>
              <a:off x="0" y="36576"/>
              <a:ext cx="9144" cy="1414272"/>
            </a:xfrm>
            <a:prstGeom prst="rect">
              <a:avLst/>
            </a:prstGeom>
            <a:solidFill>
              <a:schemeClr val="lt1">
                <a:lumMod val="85000"/>
              </a:schemeClr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KPI 2 value" descr="pptx-deck-generated"/>
            <p:cNvSpPr txBox="1"/>
            <p:nvPr/>
          </p:nvSpPr>
          <p:spPr>
            <a:xfrm>
              <a:off x="146305" y="0"/>
              <a:ext cx="3514343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3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日</a:t>
              </a:r>
            </a:p>
          </p:txBody>
        </p:sp>
        <p:sp>
          <p:nvSpPr>
            <p:cNvPr id="10" name="KPI 2 label" descr="pptx-deck-generated"/>
            <p:cNvSpPr txBox="1"/>
            <p:nvPr/>
          </p:nvSpPr>
          <p:spPr>
            <a:xfrm>
              <a:off x="146305" y="1024128"/>
              <a:ext cx="3514343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初回回答目標</a:t>
              </a:r>
            </a:p>
          </p:txBody>
        </p:sp>
      </p:grpSp>
      <p:grpSp>
        <p:nvGrpSpPr>
          <p:cNvPr id="11" name="KPI 3" descr="pptx-deck-generated"/>
          <p:cNvGrpSpPr/>
          <p:nvPr/>
        </p:nvGrpSpPr>
        <p:grpSpPr>
          <a:xfrm>
            <a:off x="7997951" y="2822448"/>
            <a:ext cx="3660648" cy="1487424"/>
            <a:chOff x="0" y="0"/>
            <a:chExt cx="3660648" cy="1487424"/>
          </a:xfrm>
        </p:grpSpPr>
        <p:sp>
          <p:nvSpPr>
            <p:cNvPr id="12" name="KPI 3 divider" descr="pptx-deck-generated"/>
            <p:cNvSpPr/>
            <p:nvPr/>
          </p:nvSpPr>
          <p:spPr>
            <a:xfrm>
              <a:off x="0" y="36576"/>
              <a:ext cx="9144" cy="1414272"/>
            </a:xfrm>
            <a:prstGeom prst="rect">
              <a:avLst/>
            </a:prstGeom>
            <a:solidFill>
              <a:schemeClr val="lt1">
                <a:lumMod val="85000"/>
              </a:schemeClr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KPI 3 value" descr="pptx-deck-generated"/>
            <p:cNvSpPr txBox="1"/>
            <p:nvPr/>
          </p:nvSpPr>
          <p:spPr>
            <a:xfrm>
              <a:off x="146305" y="0"/>
              <a:ext cx="3514343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80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%</a:t>
              </a:r>
            </a:p>
          </p:txBody>
        </p:sp>
        <p:sp>
          <p:nvSpPr>
            <p:cNvPr id="14" name="KPI 3 label" descr="pptx-deck-generated"/>
            <p:cNvSpPr txBox="1"/>
            <p:nvPr/>
          </p:nvSpPr>
          <p:spPr>
            <a:xfrm>
              <a:off x="146305" y="1024128"/>
              <a:ext cx="3514343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FAQ活用目標</a:t>
              </a:r>
            </a:p>
          </p:txBody>
        </p:sp>
      </p:grpSp>
      <p:sp>
        <p:nvSpPr>
          <p:cNvPr id="15" name="Component takeaway" descr="pptx-deck-generated"/>
          <p:cNvSpPr/>
          <p:nvPr/>
        </p:nvSpPr>
        <p:spPr>
          <a:xfrm>
            <a:off x="457200" y="4611624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akeaway accent" descr="pptx-deck-generated"/>
          <p:cNvSpPr/>
          <p:nvPr/>
        </p:nvSpPr>
        <p:spPr>
          <a:xfrm>
            <a:off x="457200" y="4611624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7" name="Takeaway text" descr="pptx-deck-generated"/>
          <p:cNvSpPr txBox="1"/>
          <p:nvPr/>
        </p:nvSpPr>
        <p:spPr>
          <a:xfrm>
            <a:off x="603504" y="4611624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目標値は試行期間後に合意する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分類から解決記録までをつなぐ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2895600"/>
            <a:ext cx="2686050" cy="2026920"/>
            <a:chOff x="0" y="0"/>
            <a:chExt cx="2686050" cy="2026920"/>
          </a:xfrm>
        </p:grpSpPr>
        <p:sp>
          <p:nvSpPr>
            <p:cNvPr id="4" name="Process 1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受付</a:t>
              </a:r>
            </a:p>
          </p:txBody>
        </p:sp>
        <p:sp>
          <p:nvSpPr>
            <p:cNvPr id="5" name="Process 1 detail" descr="pptx-deck-generated"/>
            <p:cNvSpPr txBox="1"/>
            <p:nvPr/>
          </p:nvSpPr>
          <p:spPr>
            <a:xfrm>
              <a:off x="36576" y="868680"/>
              <a:ext cx="2539746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内容と希望日を記録する。必要情報が不足していれば確認する。</a:t>
              </a:r>
            </a:p>
          </p:txBody>
        </p:sp>
      </p:grpSp>
      <p:grpSp>
        <p:nvGrpSpPr>
          <p:cNvPr id="6" name="Process 2" descr="pptx-deck-generated"/>
          <p:cNvGrpSpPr/>
          <p:nvPr/>
        </p:nvGrpSpPr>
        <p:grpSpPr>
          <a:xfrm>
            <a:off x="3344418" y="2895600"/>
            <a:ext cx="2686050" cy="2026920"/>
            <a:chOff x="0" y="0"/>
            <a:chExt cx="2686050" cy="2026920"/>
          </a:xfrm>
        </p:grpSpPr>
        <p:sp>
          <p:nvSpPr>
            <p:cNvPr id="7" name="Process 2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分類</a:t>
              </a:r>
            </a:p>
          </p:txBody>
        </p:sp>
        <p:sp>
          <p:nvSpPr>
            <p:cNvPr id="8" name="Process 2 detail" descr="pptx-deck-generated"/>
            <p:cNvSpPr txBox="1"/>
            <p:nvPr/>
          </p:nvSpPr>
          <p:spPr>
            <a:xfrm>
              <a:off x="36576" y="868680"/>
              <a:ext cx="2539746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カテゴリと優先度を設定する。緊急性に応じて優先順位を決める。</a:t>
              </a:r>
            </a:p>
          </p:txBody>
        </p:sp>
      </p:grpSp>
      <p:grpSp>
        <p:nvGrpSpPr>
          <p:cNvPr id="9" name="Process 3" descr="pptx-deck-generated"/>
          <p:cNvGrpSpPr/>
          <p:nvPr/>
        </p:nvGrpSpPr>
        <p:grpSpPr>
          <a:xfrm>
            <a:off x="6231636" y="2895600"/>
            <a:ext cx="2686050" cy="2026920"/>
            <a:chOff x="0" y="0"/>
            <a:chExt cx="2686050" cy="2026920"/>
          </a:xfrm>
        </p:grpSpPr>
        <p:sp>
          <p:nvSpPr>
            <p:cNvPr id="10" name="Process 3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対応</a:t>
              </a:r>
            </a:p>
          </p:txBody>
        </p:sp>
        <p:sp>
          <p:nvSpPr>
            <p:cNvPr id="11" name="Process 3 detail" descr="pptx-deck-generated"/>
            <p:cNvSpPr txBox="1"/>
            <p:nvPr/>
          </p:nvSpPr>
          <p:spPr>
            <a:xfrm>
              <a:off x="36576" y="868680"/>
              <a:ext cx="2539746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担当チームが状況を調べて回答する。必要に応じて専門担当と連携する。</a:t>
              </a:r>
            </a:p>
          </p:txBody>
        </p:sp>
      </p:grpSp>
      <p:grpSp>
        <p:nvGrpSpPr>
          <p:cNvPr id="12" name="Process 4" descr="pptx-deck-generated"/>
          <p:cNvGrpSpPr/>
          <p:nvPr/>
        </p:nvGrpSpPr>
        <p:grpSpPr>
          <a:xfrm>
            <a:off x="9118854" y="2895600"/>
            <a:ext cx="2686050" cy="2026920"/>
            <a:chOff x="0" y="0"/>
            <a:chExt cx="2686050" cy="2026920"/>
          </a:xfrm>
        </p:grpSpPr>
        <p:sp>
          <p:nvSpPr>
            <p:cNvPr id="13" name="Process 4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記録</a:t>
              </a:r>
            </a:p>
          </p:txBody>
        </p:sp>
        <p:sp>
          <p:nvSpPr>
            <p:cNvPr id="14" name="Process 4 detail" descr="pptx-deck-generated"/>
            <p:cNvSpPr txBox="1"/>
            <p:nvPr/>
          </p:nvSpPr>
          <p:spPr>
            <a:xfrm>
              <a:off x="36576" y="868680"/>
              <a:ext cx="2539746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解決内容をFAQへ反映する。再利用できる知見を残す。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受付・対応・改善を循環させる</a:t>
            </a:r>
          </a:p>
        </p:txBody>
      </p:sp>
      <p:cxnSp>
        <p:nvCxnSpPr>
          <p:cNvPr id="3" name="Process connector 1" descr="pptx-deck-generated"/>
          <p:cNvCxnSpPr/>
          <p:nvPr/>
        </p:nvCxnSpPr>
        <p:spPr>
          <a:xfrm>
            <a:off x="2674620" y="3287268"/>
            <a:ext cx="3008376" cy="0"/>
          </a:xfrm>
          <a:prstGeom prst="line">
            <a:avLst/>
          </a:prstGeom>
          <a:ln w="19050">
            <a:solidFill>
              <a:schemeClr val="lt1">
                <a:lumMod val="85000"/>
              </a:schemeClr>
            </a:solidFill>
          </a:ln>
        </p:spPr>
      </p:cxnSp>
      <p:grpSp>
        <p:nvGrpSpPr>
          <p:cNvPr id="4" name="Process 1" descr="pptx-deck-generated"/>
          <p:cNvGrpSpPr/>
          <p:nvPr/>
        </p:nvGrpSpPr>
        <p:grpSpPr>
          <a:xfrm>
            <a:off x="457200" y="2875788"/>
            <a:ext cx="3611879" cy="2066544"/>
            <a:chOff x="0" y="0"/>
            <a:chExt cx="3611879" cy="2066544"/>
          </a:xfrm>
        </p:grpSpPr>
        <p:sp>
          <p:nvSpPr>
            <p:cNvPr id="5" name="Process 1 node" descr="pptx-deck-generated"/>
            <p:cNvSpPr/>
            <p:nvPr/>
          </p:nvSpPr>
          <p:spPr>
            <a:xfrm>
              <a:off x="1394460" y="0"/>
              <a:ext cx="822960" cy="822960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6" name="Process 1 label" descr="pptx-deck-generated"/>
            <p:cNvSpPr txBox="1"/>
            <p:nvPr/>
          </p:nvSpPr>
          <p:spPr>
            <a:xfrm>
              <a:off x="0" y="932688"/>
              <a:ext cx="36118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</a:t>
              </a:r>
            </a:p>
          </p:txBody>
        </p:sp>
        <p:sp>
          <p:nvSpPr>
            <p:cNvPr id="7" name="Process 1 detail" descr="pptx-deck-generated"/>
            <p:cNvSpPr txBox="1"/>
            <p:nvPr/>
          </p:nvSpPr>
          <p:spPr>
            <a:xfrm>
              <a:off x="18288" y="1395984"/>
              <a:ext cx="3575303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共通フォームで受け付ける。必要情報を揃えて次工程へ渡す。</a:t>
              </a:r>
            </a:p>
          </p:txBody>
        </p:sp>
      </p:grpSp>
      <p:cxnSp>
        <p:nvCxnSpPr>
          <p:cNvPr id="8" name="Process connector 2" descr="pptx-deck-generated"/>
          <p:cNvCxnSpPr/>
          <p:nvPr/>
        </p:nvCxnSpPr>
        <p:spPr>
          <a:xfrm>
            <a:off x="6505956" y="3287268"/>
            <a:ext cx="3008376" cy="0"/>
          </a:xfrm>
          <a:prstGeom prst="line">
            <a:avLst/>
          </a:prstGeom>
          <a:ln w="19050">
            <a:solidFill>
              <a:schemeClr val="lt1">
                <a:lumMod val="85000"/>
              </a:schemeClr>
            </a:solidFill>
          </a:ln>
        </p:spPr>
      </p:cxnSp>
      <p:grpSp>
        <p:nvGrpSpPr>
          <p:cNvPr id="9" name="Process 2" descr="pptx-deck-generated"/>
          <p:cNvGrpSpPr/>
          <p:nvPr/>
        </p:nvGrpSpPr>
        <p:grpSpPr>
          <a:xfrm>
            <a:off x="4288536" y="2875788"/>
            <a:ext cx="3611879" cy="2066544"/>
            <a:chOff x="0" y="0"/>
            <a:chExt cx="3611879" cy="2066544"/>
          </a:xfrm>
        </p:grpSpPr>
        <p:sp>
          <p:nvSpPr>
            <p:cNvPr id="10" name="Process 2 node" descr="pptx-deck-generated"/>
            <p:cNvSpPr/>
            <p:nvPr/>
          </p:nvSpPr>
          <p:spPr>
            <a:xfrm>
              <a:off x="1394460" y="0"/>
              <a:ext cx="822960" cy="822960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1" name="Process 2 label" descr="pptx-deck-generated"/>
            <p:cNvSpPr txBox="1"/>
            <p:nvPr/>
          </p:nvSpPr>
          <p:spPr>
            <a:xfrm>
              <a:off x="0" y="932688"/>
              <a:ext cx="36118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回答</a:t>
              </a:r>
            </a:p>
          </p:txBody>
        </p:sp>
        <p:sp>
          <p:nvSpPr>
            <p:cNvPr id="12" name="Process 2 detail" descr="pptx-deck-generated"/>
            <p:cNvSpPr txBox="1"/>
            <p:nvPr/>
          </p:nvSpPr>
          <p:spPr>
            <a:xfrm>
              <a:off x="18287" y="1395984"/>
              <a:ext cx="3575303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担当チームが回答する。対応状況は受付台帳で共有する。</a:t>
              </a:r>
            </a:p>
          </p:txBody>
        </p:sp>
      </p:grpSp>
      <p:grpSp>
        <p:nvGrpSpPr>
          <p:cNvPr id="13" name="Process 3" descr="pptx-deck-generated"/>
          <p:cNvGrpSpPr/>
          <p:nvPr/>
        </p:nvGrpSpPr>
        <p:grpSpPr>
          <a:xfrm>
            <a:off x="8119871" y="2875788"/>
            <a:ext cx="3611879" cy="2066544"/>
            <a:chOff x="0" y="0"/>
            <a:chExt cx="3611879" cy="2066544"/>
          </a:xfrm>
        </p:grpSpPr>
        <p:sp>
          <p:nvSpPr>
            <p:cNvPr id="14" name="Process 3 node" descr="pptx-deck-generated"/>
            <p:cNvSpPr/>
            <p:nvPr/>
          </p:nvSpPr>
          <p:spPr>
            <a:xfrm>
              <a:off x="1394461" y="0"/>
              <a:ext cx="822960" cy="822960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0" y="932688"/>
              <a:ext cx="36118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蓄積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8288" y="1395984"/>
              <a:ext cx="3575303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解決内容を記録する。FAQを更新して次の対応に活かす。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分類・共有で対応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2889504"/>
            <a:ext cx="3575304" cy="1353312"/>
            <a:chOff x="0" y="0"/>
            <a:chExt cx="3575304" cy="1353312"/>
          </a:xfrm>
        </p:grpSpPr>
        <p:sp>
          <p:nvSpPr>
            <p:cNvPr id="4" name="Process 1 box" descr="pptx-deck-generated"/>
            <p:cNvSpPr/>
            <p:nvPr/>
          </p:nvSpPr>
          <p:spPr>
            <a:xfrm>
              <a:off x="0" y="0"/>
              <a:ext cx="3575304" cy="1353312"/>
            </a:xfrm>
            <a:prstGeom prst="roundRect">
              <a:avLst>
                <a:gd name="adj" fmla="val 4054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Process 1 label" descr="pptx-deck-generated"/>
            <p:cNvSpPr txBox="1"/>
            <p:nvPr/>
          </p:nvSpPr>
          <p:spPr>
            <a:xfrm>
              <a:off x="109728" y="73152"/>
              <a:ext cx="3355848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6" name="Process 1 detail" descr="pptx-deck-generated"/>
            <p:cNvSpPr txBox="1"/>
            <p:nvPr/>
          </p:nvSpPr>
          <p:spPr>
            <a:xfrm>
              <a:off x="109728" y="536448"/>
              <a:ext cx="3355848" cy="743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必要情報を揃えて受付台帳に登録する。</a:t>
              </a:r>
            </a:p>
          </p:txBody>
        </p:sp>
      </p:grpSp>
      <p:sp>
        <p:nvSpPr>
          <p:cNvPr id="7" name="Process arrow 1" descr="pptx-deck-generated"/>
          <p:cNvSpPr/>
          <p:nvPr/>
        </p:nvSpPr>
        <p:spPr>
          <a:xfrm rot="5400000">
            <a:off x="4069080" y="3456432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8" name="Process 2" descr="pptx-deck-generated"/>
          <p:cNvGrpSpPr/>
          <p:nvPr/>
        </p:nvGrpSpPr>
        <p:grpSpPr>
          <a:xfrm>
            <a:off x="4306824" y="2889504"/>
            <a:ext cx="3575304" cy="1353312"/>
            <a:chOff x="0" y="0"/>
            <a:chExt cx="3575304" cy="1353312"/>
          </a:xfrm>
        </p:grpSpPr>
        <p:sp>
          <p:nvSpPr>
            <p:cNvPr id="9" name="Process 2 box" descr="pptx-deck-generated"/>
            <p:cNvSpPr/>
            <p:nvPr/>
          </p:nvSpPr>
          <p:spPr>
            <a:xfrm>
              <a:off x="0" y="0"/>
              <a:ext cx="3575304" cy="1353312"/>
            </a:xfrm>
            <a:prstGeom prst="roundRect">
              <a:avLst>
                <a:gd name="adj" fmla="val 4054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rocess 2 label" descr="pptx-deck-generated"/>
            <p:cNvSpPr txBox="1"/>
            <p:nvPr/>
          </p:nvSpPr>
          <p:spPr>
            <a:xfrm>
              <a:off x="109728" y="73152"/>
              <a:ext cx="3355848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振り分ける</a:t>
              </a:r>
            </a:p>
          </p:txBody>
        </p:sp>
        <p:sp>
          <p:nvSpPr>
            <p:cNvPr id="11" name="Process 2 detail" descr="pptx-deck-generated"/>
            <p:cNvSpPr txBox="1"/>
            <p:nvPr/>
          </p:nvSpPr>
          <p:spPr>
            <a:xfrm>
              <a:off x="109728" y="536448"/>
              <a:ext cx="3355848" cy="743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担当と期限を決めて引き継ぐ。</a:t>
              </a:r>
            </a:p>
          </p:txBody>
        </p:sp>
      </p:grpSp>
      <p:sp>
        <p:nvSpPr>
          <p:cNvPr id="12" name="Process arrow 2" descr="pptx-deck-generated"/>
          <p:cNvSpPr/>
          <p:nvPr/>
        </p:nvSpPr>
        <p:spPr>
          <a:xfrm rot="5400000">
            <a:off x="7918704" y="3456432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13" name="Process 3" descr="pptx-deck-generated"/>
          <p:cNvGrpSpPr/>
          <p:nvPr/>
        </p:nvGrpSpPr>
        <p:grpSpPr>
          <a:xfrm>
            <a:off x="8156448" y="2889504"/>
            <a:ext cx="3575304" cy="1353312"/>
            <a:chOff x="0" y="0"/>
            <a:chExt cx="3575304" cy="1353312"/>
          </a:xfrm>
        </p:grpSpPr>
        <p:sp>
          <p:nvSpPr>
            <p:cNvPr id="14" name="Process 3 box" descr="pptx-deck-generated"/>
            <p:cNvSpPr/>
            <p:nvPr/>
          </p:nvSpPr>
          <p:spPr>
            <a:xfrm>
              <a:off x="0" y="0"/>
              <a:ext cx="3575304" cy="1353312"/>
            </a:xfrm>
            <a:prstGeom prst="roundRect">
              <a:avLst>
                <a:gd name="adj" fmla="val 4054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109727" y="73152"/>
              <a:ext cx="3355848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解決する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09727" y="536448"/>
              <a:ext cx="3355848" cy="743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結果を記録し、再利用できる知識にする。</a:t>
              </a:r>
            </a:p>
          </p:txBody>
        </p:sp>
      </p:grpSp>
      <p:sp>
        <p:nvSpPr>
          <p:cNvPr id="17" name="Component takeaway" descr="pptx-deck-generated"/>
          <p:cNvSpPr/>
          <p:nvPr/>
        </p:nvSpPr>
        <p:spPr>
          <a:xfrm>
            <a:off x="457200" y="4471416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akeaway accent" descr="pptx-deck-generated"/>
          <p:cNvSpPr/>
          <p:nvPr/>
        </p:nvSpPr>
        <p:spPr>
          <a:xfrm>
            <a:off x="457200" y="4471416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text" descr="pptx-deck-generated"/>
          <p:cNvSpPr txBox="1"/>
          <p:nvPr/>
        </p:nvSpPr>
        <p:spPr>
          <a:xfrm>
            <a:off x="603504" y="4471416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進捗は共通の受付台帳で確認する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窓口統合で受付漏れを防ぐ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2724404"/>
            <a:ext cx="5308092" cy="2369312"/>
            <a:chOff x="0" y="0"/>
            <a:chExt cx="5308092" cy="2369312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08092" cy="2369312"/>
            </a:xfrm>
            <a:prstGeom prst="roundRect">
              <a:avLst>
                <a:gd name="adj" fmla="val 2316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dk1">
                <a:lumMod val="65000"/>
                <a:lumOff val="35000"/>
              </a:schemeClr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現状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530352"/>
              <a:ext cx="4997196" cy="1784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連絡先が複数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担当が見つけにくい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履歴が個人に分散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進捗を横断して把握しにくい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対応の重複に気付きにくい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423659" y="2724404"/>
            <a:ext cx="5308092" cy="2369312"/>
            <a:chOff x="0" y="0"/>
            <a:chExt cx="5308092" cy="2369312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08092" cy="2369312"/>
            </a:xfrm>
            <a:prstGeom prst="roundRect">
              <a:avLst>
                <a:gd name="adj" fmla="val 2316"/>
              </a:avLst>
            </a:prstGeom>
            <a:solidFill>
              <a:schemeClr val="lt2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2"/>
                  </a:solidFill>
                  <a:latin typeface="Yu Gothic"/>
                  <a:ea typeface="Yu Gothic"/>
                </a:rPr>
                <a:t>統合後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530352"/>
              <a:ext cx="4997196" cy="1784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受付先を一本化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担当と期限を明確化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履歴を共有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進捗を共通台帳で確認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改善に必要な傾向を集計</a:t>
              </a:r>
            </a:p>
          </p:txBody>
        </p:sp>
      </p:grpSp>
      <p:sp>
        <p:nvSpPr>
          <p:cNvPr id="11" name="Comparison transition" descr="pptx-deck-generated"/>
          <p:cNvSpPr/>
          <p:nvPr/>
        </p:nvSpPr>
        <p:spPr>
          <a:xfrm>
            <a:off x="5911596" y="3719515"/>
            <a:ext cx="365760" cy="256032"/>
          </a:xfrm>
          <a:prstGeom prst="rightArrow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一次回答と専門対応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2724404"/>
            <a:ext cx="5399532" cy="2369312"/>
            <a:chOff x="0" y="0"/>
            <a:chExt cx="5399532" cy="2369312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99532" cy="2369312"/>
            </a:xfrm>
            <a:prstGeom prst="roundRect">
              <a:avLst>
                <a:gd name="adj" fmla="val 2316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9953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一次窓口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530352"/>
              <a:ext cx="5088636" cy="1784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受付と分類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FAQ案内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進捗連絡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不足情報の確認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定型案内をFAQへ誘導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332220" y="2724404"/>
            <a:ext cx="5399532" cy="2369312"/>
            <a:chOff x="0" y="0"/>
            <a:chExt cx="5399532" cy="2369312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99532" cy="2369312"/>
            </a:xfrm>
            <a:prstGeom prst="roundRect">
              <a:avLst>
                <a:gd name="adj" fmla="val 2316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9953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専門チーム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530352"/>
              <a:ext cx="5088636" cy="1784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技術調査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個別判断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恒久対応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FAQへの知見反映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再発防止の改善を提案</a:t>
              </a:r>
            </a:p>
          </p:txBody>
        </p:sp>
      </p:grpSp>
      <p:sp>
        <p:nvSpPr>
          <p:cNvPr id="11" name="Comparison VS" descr="pptx-deck-generated"/>
          <p:cNvSpPr/>
          <p:nvPr/>
        </p:nvSpPr>
        <p:spPr>
          <a:xfrm>
            <a:off x="5765292" y="3719515"/>
            <a:ext cx="658368" cy="658368"/>
          </a:xfrm>
          <a:prstGeom prst="ellips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2" name="Comparison VS label" descr="pptx-deck-generated"/>
          <p:cNvSpPr txBox="1"/>
          <p:nvPr/>
        </p:nvSpPr>
        <p:spPr>
          <a:xfrm>
            <a:off x="5765292" y="3719515"/>
            <a:ext cx="658368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緊急度で優先順位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645920"/>
            <a:ext cx="11274552" cy="45110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dk1"/>
                </a:solidFill>
                <a:latin typeface="Yu Gothic"/>
                <a:ea typeface="Yu Gothic"/>
              </a:rPr>
              <a:t>影響の大きさと緊急度を組み合わせて対応順を決める</a:t>
            </a:r>
          </a:p>
        </p:txBody>
      </p:sp>
      <p:grpSp>
        <p:nvGrpSpPr>
          <p:cNvPr id="4" name="Matrix 1" descr="pptx-deck-generated"/>
          <p:cNvGrpSpPr/>
          <p:nvPr/>
        </p:nvGrpSpPr>
        <p:grpSpPr>
          <a:xfrm>
            <a:off x="1303019" y="2412492"/>
            <a:ext cx="5116068" cy="1411223"/>
            <a:chOff x="0" y="0"/>
            <a:chExt cx="5116068" cy="1411223"/>
          </a:xfrm>
        </p:grpSpPr>
        <p:sp>
          <p:nvSpPr>
            <p:cNvPr id="5" name="Matrix quadrant 1" descr="pptx-deck-generated"/>
            <p:cNvSpPr/>
            <p:nvPr/>
          </p:nvSpPr>
          <p:spPr>
            <a:xfrm>
              <a:off x="0" y="0"/>
              <a:ext cx="5116068" cy="1411223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Matrix quadrant 1 title" descr="pptx-deck-generated"/>
            <p:cNvSpPr txBox="1"/>
            <p:nvPr/>
          </p:nvSpPr>
          <p:spPr>
            <a:xfrm>
              <a:off x="86869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計画対応</a:t>
              </a:r>
            </a:p>
          </p:txBody>
        </p:sp>
        <p:sp>
          <p:nvSpPr>
            <p:cNvPr id="7" name="Matrix quadrant 1 items" descr="pptx-deck-generated"/>
            <p:cNvSpPr txBox="1"/>
            <p:nvPr/>
          </p:nvSpPr>
          <p:spPr>
            <a:xfrm>
              <a:off x="86869" y="397764"/>
              <a:ext cx="4942331" cy="9631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改善要望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操作方法の相談</a:t>
              </a:r>
            </a:p>
          </p:txBody>
        </p:sp>
      </p:grpSp>
      <p:grpSp>
        <p:nvGrpSpPr>
          <p:cNvPr id="8" name="Matrix 2" descr="pptx-deck-generated"/>
          <p:cNvGrpSpPr/>
          <p:nvPr/>
        </p:nvGrpSpPr>
        <p:grpSpPr>
          <a:xfrm>
            <a:off x="6464808" y="2412492"/>
            <a:ext cx="5116068" cy="1411223"/>
            <a:chOff x="0" y="0"/>
            <a:chExt cx="5116068" cy="1411223"/>
          </a:xfrm>
        </p:grpSpPr>
        <p:sp>
          <p:nvSpPr>
            <p:cNvPr id="9" name="Matrix quadrant 2" descr="pptx-deck-generated"/>
            <p:cNvSpPr/>
            <p:nvPr/>
          </p:nvSpPr>
          <p:spPr>
            <a:xfrm>
              <a:off x="0" y="0"/>
              <a:ext cx="5116068" cy="1411223"/>
            </a:xfrm>
            <a:prstGeom prst="rect">
              <a:avLst/>
            </a:prstGeom>
            <a:solidFill>
              <a:schemeClr val="lt2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Matrix quadrant 2 title" descr="pptx-deck-generated"/>
            <p:cNvSpPr txBox="1"/>
            <p:nvPr/>
          </p:nvSpPr>
          <p:spPr>
            <a:xfrm>
              <a:off x="86868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2"/>
                  </a:solidFill>
                  <a:latin typeface="Yu Gothic"/>
                  <a:ea typeface="Yu Gothic"/>
                </a:rPr>
                <a:t>即時確認</a:t>
              </a:r>
            </a:p>
          </p:txBody>
        </p:sp>
        <p:sp>
          <p:nvSpPr>
            <p:cNvPr id="11" name="Matrix quadrant 2 items" descr="pptx-deck-generated"/>
            <p:cNvSpPr txBox="1"/>
            <p:nvPr/>
          </p:nvSpPr>
          <p:spPr>
            <a:xfrm>
              <a:off x="86868" y="397764"/>
              <a:ext cx="4942331" cy="9631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業務停止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広範囲の障害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期限直前の処理不能</a:t>
              </a:r>
            </a:p>
          </p:txBody>
        </p:sp>
      </p:grpSp>
      <p:grpSp>
        <p:nvGrpSpPr>
          <p:cNvPr id="12" name="Matrix 3" descr="pptx-deck-generated"/>
          <p:cNvGrpSpPr/>
          <p:nvPr/>
        </p:nvGrpSpPr>
        <p:grpSpPr>
          <a:xfrm>
            <a:off x="1303019" y="3869436"/>
            <a:ext cx="5116068" cy="1411223"/>
            <a:chOff x="0" y="0"/>
            <a:chExt cx="5116068" cy="1411223"/>
          </a:xfrm>
        </p:grpSpPr>
        <p:sp>
          <p:nvSpPr>
            <p:cNvPr id="13" name="Matrix quadrant 3" descr="pptx-deck-generated"/>
            <p:cNvSpPr/>
            <p:nvPr/>
          </p:nvSpPr>
          <p:spPr>
            <a:xfrm>
              <a:off x="0" y="0"/>
              <a:ext cx="5116068" cy="1411223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Matrix quadrant 3 title" descr="pptx-deck-generated"/>
            <p:cNvSpPr txBox="1"/>
            <p:nvPr/>
          </p:nvSpPr>
          <p:spPr>
            <a:xfrm>
              <a:off x="86869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定期確認</a:t>
              </a:r>
            </a:p>
          </p:txBody>
        </p:sp>
        <p:sp>
          <p:nvSpPr>
            <p:cNvPr id="15" name="Matrix quadrant 3 items" descr="pptx-deck-generated"/>
            <p:cNvSpPr txBox="1"/>
            <p:nvPr/>
          </p:nvSpPr>
          <p:spPr>
            <a:xfrm>
              <a:off x="86869" y="397764"/>
              <a:ext cx="4942331" cy="9631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軽微な質問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個人設定の相談</a:t>
              </a:r>
            </a:p>
          </p:txBody>
        </p:sp>
      </p:grpSp>
      <p:grpSp>
        <p:nvGrpSpPr>
          <p:cNvPr id="16" name="Matrix 4" descr="pptx-deck-generated"/>
          <p:cNvGrpSpPr/>
          <p:nvPr/>
        </p:nvGrpSpPr>
        <p:grpSpPr>
          <a:xfrm>
            <a:off x="6464808" y="3869436"/>
            <a:ext cx="5116068" cy="1411223"/>
            <a:chOff x="0" y="0"/>
            <a:chExt cx="5116068" cy="1411223"/>
          </a:xfrm>
        </p:grpSpPr>
        <p:sp>
          <p:nvSpPr>
            <p:cNvPr id="17" name="Matrix quadrant 4" descr="pptx-deck-generated"/>
            <p:cNvSpPr/>
            <p:nvPr/>
          </p:nvSpPr>
          <p:spPr>
            <a:xfrm>
              <a:off x="0" y="0"/>
              <a:ext cx="5116068" cy="1411223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Matrix quadrant 4 title" descr="pptx-deck-generated"/>
            <p:cNvSpPr txBox="1"/>
            <p:nvPr/>
          </p:nvSpPr>
          <p:spPr>
            <a:xfrm>
              <a:off x="86868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優先対応</a:t>
              </a:r>
            </a:p>
          </p:txBody>
        </p:sp>
        <p:sp>
          <p:nvSpPr>
            <p:cNvPr id="19" name="Matrix quadrant 4 items" descr="pptx-deck-generated"/>
            <p:cNvSpPr txBox="1"/>
            <p:nvPr/>
          </p:nvSpPr>
          <p:spPr>
            <a:xfrm>
              <a:off x="86868" y="397764"/>
              <a:ext cx="4942331" cy="9631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複数部門へ影響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重要業務の遅延</a:t>
              </a:r>
            </a:p>
          </p:txBody>
        </p:sp>
      </p:grpSp>
      <p:cxnSp>
        <p:nvCxnSpPr>
          <p:cNvPr id="20" name="Matrix vertical grid" descr="pptx-deck-generated"/>
          <p:cNvCxnSpPr/>
          <p:nvPr/>
        </p:nvCxnSpPr>
        <p:spPr>
          <a:xfrm>
            <a:off x="6441948" y="2389632"/>
            <a:ext cx="0" cy="2913887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21" name="Matrix horizontal grid" descr="pptx-deck-generated"/>
          <p:cNvCxnSpPr/>
          <p:nvPr/>
        </p:nvCxnSpPr>
        <p:spPr>
          <a:xfrm>
            <a:off x="1280160" y="3846576"/>
            <a:ext cx="10323576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22" name="Matrix x low" descr="pptx-deck-generated"/>
          <p:cNvSpPr txBox="1"/>
          <p:nvPr/>
        </p:nvSpPr>
        <p:spPr>
          <a:xfrm>
            <a:off x="1280160" y="5340095"/>
            <a:ext cx="5161788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低</a:t>
            </a:r>
          </a:p>
        </p:txBody>
      </p:sp>
      <p:sp>
        <p:nvSpPr>
          <p:cNvPr id="23" name="Matrix x high" descr="pptx-deck-generated"/>
          <p:cNvSpPr txBox="1"/>
          <p:nvPr/>
        </p:nvSpPr>
        <p:spPr>
          <a:xfrm>
            <a:off x="6441948" y="5340095"/>
            <a:ext cx="5161788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高</a:t>
            </a:r>
          </a:p>
        </p:txBody>
      </p:sp>
      <p:sp>
        <p:nvSpPr>
          <p:cNvPr id="24" name="Matrix x label" descr="pptx-deck-generated"/>
          <p:cNvSpPr txBox="1"/>
          <p:nvPr/>
        </p:nvSpPr>
        <p:spPr>
          <a:xfrm>
            <a:off x="1280160" y="5696711"/>
            <a:ext cx="10323576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緊急度</a:t>
            </a:r>
          </a:p>
        </p:txBody>
      </p:sp>
      <p:sp>
        <p:nvSpPr>
          <p:cNvPr id="25" name="Matrix y label" descr="pptx-deck-generated"/>
          <p:cNvSpPr txBox="1"/>
          <p:nvPr/>
        </p:nvSpPr>
        <p:spPr>
          <a:xfrm>
            <a:off x="457200" y="2389632"/>
            <a:ext cx="329184" cy="2913887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 vert="vert27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影響度</a:t>
            </a:r>
          </a:p>
        </p:txBody>
      </p:sp>
      <p:sp>
        <p:nvSpPr>
          <p:cNvPr id="26" name="Matrix y high" descr="pptx-deck-generated"/>
          <p:cNvSpPr txBox="1"/>
          <p:nvPr/>
        </p:nvSpPr>
        <p:spPr>
          <a:xfrm>
            <a:off x="786384" y="2435352"/>
            <a:ext cx="4572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大</a:t>
            </a:r>
          </a:p>
        </p:txBody>
      </p:sp>
      <p:sp>
        <p:nvSpPr>
          <p:cNvPr id="27" name="Matrix y low" descr="pptx-deck-generated"/>
          <p:cNvSpPr txBox="1"/>
          <p:nvPr/>
        </p:nvSpPr>
        <p:spPr>
          <a:xfrm>
            <a:off x="786384" y="4928615"/>
            <a:ext cx="4572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FAQから専門担当へ</a:t>
            </a:r>
          </a:p>
        </p:txBody>
      </p:sp>
      <p:grpSp>
        <p:nvGrpSpPr>
          <p:cNvPr id="3" name="Pyramid 1" descr="pptx-deck-generated"/>
          <p:cNvGrpSpPr/>
          <p:nvPr/>
        </p:nvGrpSpPr>
        <p:grpSpPr>
          <a:xfrm>
            <a:off x="1821420" y="1645920"/>
            <a:ext cx="9837179" cy="1484376"/>
            <a:chOff x="0" y="0"/>
            <a:chExt cx="9837179" cy="1484376"/>
          </a:xfrm>
        </p:grpSpPr>
        <p:sp>
          <p:nvSpPr>
            <p:cNvPr id="4" name="Level 1" descr="pptx-deck-generated"/>
            <p:cNvSpPr/>
            <p:nvPr/>
          </p:nvSpPr>
          <p:spPr>
            <a:xfrm>
              <a:off x="0" y="0"/>
              <a:ext cx="3472562" cy="1484376"/>
            </a:xfrm>
            <a:prstGeom prst="triangle">
              <a:avLst/>
            </a:prstGeom>
            <a:solidFill>
              <a:schemeClr val="accent1">
                <a:lumMod val="100000"/>
                <a:lumOff val="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専門対応</a:t>
              </a:r>
            </a:p>
          </p:txBody>
        </p:sp>
        <p:sp>
          <p:nvSpPr>
            <p:cNvPr id="5" name="Level 1 detail" descr="pptx-deck-generated"/>
            <p:cNvSpPr txBox="1"/>
            <p:nvPr/>
          </p:nvSpPr>
          <p:spPr>
            <a:xfrm>
              <a:off x="522083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個別調査</a:t>
              </a:r>
            </a:p>
          </p:txBody>
        </p:sp>
      </p:grpSp>
      <p:cxnSp>
        <p:nvCxnSpPr>
          <p:cNvPr id="6" name="Level 1 leader" descr="pptx-deck-generated"/>
          <p:cNvCxnSpPr/>
          <p:nvPr/>
        </p:nvCxnSpPr>
        <p:spPr>
          <a:xfrm>
            <a:off x="5293982" y="2388108"/>
            <a:ext cx="1693405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7" name="Pyramid 2" descr="pptx-deck-generated"/>
          <p:cNvGrpSpPr/>
          <p:nvPr/>
        </p:nvGrpSpPr>
        <p:grpSpPr>
          <a:xfrm>
            <a:off x="1139310" y="3166872"/>
            <a:ext cx="10519289" cy="1484376"/>
            <a:chOff x="0" y="0"/>
            <a:chExt cx="10519289" cy="1484376"/>
          </a:xfrm>
        </p:grpSpPr>
        <p:sp>
          <p:nvSpPr>
            <p:cNvPr id="8" name="Level 2" descr="pptx-deck-generated"/>
            <p:cNvSpPr/>
            <p:nvPr/>
          </p:nvSpPr>
          <p:spPr>
            <a:xfrm>
              <a:off x="0" y="0"/>
              <a:ext cx="4836782" cy="1484376"/>
            </a:xfrm>
            <a:prstGeom prst="trapezoid">
              <a:avLst/>
            </a:prstGeom>
            <a:solidFill>
              <a:schemeClr val="accent1">
                <a:lumMod val="88000"/>
                <a:lumOff val="12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担当チーム</a:t>
              </a:r>
            </a:p>
          </p:txBody>
        </p:sp>
        <p:sp>
          <p:nvSpPr>
            <p:cNvPr id="9" name="Level 2 detail" descr="pptx-deck-generated"/>
            <p:cNvSpPr txBox="1"/>
            <p:nvPr/>
          </p:nvSpPr>
          <p:spPr>
            <a:xfrm>
              <a:off x="590294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手順に沿って解決</a:t>
              </a:r>
            </a:p>
          </p:txBody>
        </p:sp>
      </p:grpSp>
      <p:cxnSp>
        <p:nvCxnSpPr>
          <p:cNvPr id="10" name="Level 2 leader" descr="pptx-deck-generated"/>
          <p:cNvCxnSpPr/>
          <p:nvPr/>
        </p:nvCxnSpPr>
        <p:spPr>
          <a:xfrm>
            <a:off x="5976093" y="3909060"/>
            <a:ext cx="101129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1" name="Pyramid 3" descr="pptx-deck-generated"/>
          <p:cNvGrpSpPr/>
          <p:nvPr/>
        </p:nvGrpSpPr>
        <p:grpSpPr>
          <a:xfrm>
            <a:off x="457200" y="4687824"/>
            <a:ext cx="11201399" cy="1484376"/>
            <a:chOff x="0" y="0"/>
            <a:chExt cx="11201399" cy="1484376"/>
          </a:xfrm>
        </p:grpSpPr>
        <p:sp>
          <p:nvSpPr>
            <p:cNvPr id="12" name="Level 3" descr="pptx-deck-generated"/>
            <p:cNvSpPr/>
            <p:nvPr/>
          </p:nvSpPr>
          <p:spPr>
            <a:xfrm>
              <a:off x="0" y="0"/>
              <a:ext cx="6201003" cy="1484376"/>
            </a:xfrm>
            <a:prstGeom prst="trapezoid">
              <a:avLst/>
            </a:prstGeom>
            <a:solidFill>
              <a:schemeClr val="accent1">
                <a:lumMod val="76000"/>
                <a:lumOff val="24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FAQ</a:t>
              </a:r>
            </a:p>
          </p:txBody>
        </p:sp>
        <p:sp>
          <p:nvSpPr>
            <p:cNvPr id="13" name="Level 3 detail" descr="pptx-deck-generated"/>
            <p:cNvSpPr txBox="1"/>
            <p:nvPr/>
          </p:nvSpPr>
          <p:spPr>
            <a:xfrm>
              <a:off x="658505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よくある質問を自己解決</a:t>
              </a:r>
            </a:p>
          </p:txBody>
        </p:sp>
      </p:grpSp>
      <p:cxnSp>
        <p:nvCxnSpPr>
          <p:cNvPr id="14" name="Level 3 leader" descr="pptx-deck-generated"/>
          <p:cNvCxnSpPr/>
          <p:nvPr/>
        </p:nvCxnSpPr>
        <p:spPr>
          <a:xfrm>
            <a:off x="6658203" y="5430012"/>
            <a:ext cx="32918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必要情報から担当窓口へつなぐ</a:t>
            </a:r>
          </a:p>
        </p:txBody>
      </p:sp>
      <p:grpSp>
        <p:nvGrpSpPr>
          <p:cNvPr id="3" name="Pyramid 1" descr="pptx-deck-generated"/>
          <p:cNvGrpSpPr/>
          <p:nvPr/>
        </p:nvGrpSpPr>
        <p:grpSpPr>
          <a:xfrm>
            <a:off x="457200" y="1645920"/>
            <a:ext cx="11201399" cy="1484376"/>
            <a:chOff x="0" y="0"/>
            <a:chExt cx="11201399" cy="1484376"/>
          </a:xfrm>
        </p:grpSpPr>
        <p:sp>
          <p:nvSpPr>
            <p:cNvPr id="4" name="Level 1" descr="pptx-deck-generated"/>
            <p:cNvSpPr/>
            <p:nvPr/>
          </p:nvSpPr>
          <p:spPr>
            <a:xfrm rot="10800000">
              <a:off x="0" y="0"/>
              <a:ext cx="6201003" cy="1484376"/>
            </a:xfrm>
            <a:prstGeom prst="trapezoid">
              <a:avLst/>
            </a:prstGeom>
            <a:solidFill>
              <a:schemeClr val="accent1">
                <a:lumMod val="76000"/>
                <a:lumOff val="24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vel 1 label" descr="pptx-deck-generated"/>
            <p:cNvSpPr txBox="1"/>
            <p:nvPr/>
          </p:nvSpPr>
          <p:spPr>
            <a:xfrm>
              <a:off x="620100" y="0"/>
              <a:ext cx="4960802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問い合わせ</a:t>
              </a:r>
            </a:p>
          </p:txBody>
        </p:sp>
        <p:sp>
          <p:nvSpPr>
            <p:cNvPr id="6" name="Level 1 detail" descr="pptx-deck-generated"/>
            <p:cNvSpPr txBox="1"/>
            <p:nvPr/>
          </p:nvSpPr>
          <p:spPr>
            <a:xfrm>
              <a:off x="658505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幅広く受け付ける</a:t>
              </a:r>
            </a:p>
          </p:txBody>
        </p:sp>
      </p:grpSp>
      <p:cxnSp>
        <p:nvCxnSpPr>
          <p:cNvPr id="7" name="Level 1 leader" descr="pptx-deck-generated"/>
          <p:cNvCxnSpPr/>
          <p:nvPr/>
        </p:nvCxnSpPr>
        <p:spPr>
          <a:xfrm>
            <a:off x="6658203" y="2388108"/>
            <a:ext cx="32918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8" name="Pyramid 2" descr="pptx-deck-generated"/>
          <p:cNvGrpSpPr/>
          <p:nvPr/>
        </p:nvGrpSpPr>
        <p:grpSpPr>
          <a:xfrm>
            <a:off x="1139310" y="3166872"/>
            <a:ext cx="10519289" cy="1484376"/>
            <a:chOff x="0" y="0"/>
            <a:chExt cx="10519289" cy="1484376"/>
          </a:xfrm>
        </p:grpSpPr>
        <p:sp>
          <p:nvSpPr>
            <p:cNvPr id="9" name="Level 2" descr="pptx-deck-generated"/>
            <p:cNvSpPr/>
            <p:nvPr/>
          </p:nvSpPr>
          <p:spPr>
            <a:xfrm rot="10800000">
              <a:off x="0" y="0"/>
              <a:ext cx="4836782" cy="1484376"/>
            </a:xfrm>
            <a:prstGeom prst="trapezoid">
              <a:avLst/>
            </a:prstGeom>
            <a:solidFill>
              <a:schemeClr val="accent1">
                <a:lumMod val="88000"/>
                <a:lumOff val="12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Level 2 label" descr="pptx-deck-generated"/>
            <p:cNvSpPr txBox="1"/>
            <p:nvPr/>
          </p:nvSpPr>
          <p:spPr>
            <a:xfrm>
              <a:off x="483678" y="0"/>
              <a:ext cx="3869426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分類</a:t>
              </a:r>
            </a:p>
          </p:txBody>
        </p:sp>
        <p:sp>
          <p:nvSpPr>
            <p:cNvPr id="11" name="Level 2 detail" descr="pptx-deck-generated"/>
            <p:cNvSpPr txBox="1"/>
            <p:nvPr/>
          </p:nvSpPr>
          <p:spPr>
            <a:xfrm>
              <a:off x="590294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カテゴリと緊急度を確認</a:t>
              </a:r>
            </a:p>
          </p:txBody>
        </p:sp>
      </p:grpSp>
      <p:cxnSp>
        <p:nvCxnSpPr>
          <p:cNvPr id="12" name="Level 2 leader" descr="pptx-deck-generated"/>
          <p:cNvCxnSpPr/>
          <p:nvPr/>
        </p:nvCxnSpPr>
        <p:spPr>
          <a:xfrm>
            <a:off x="5976093" y="3909060"/>
            <a:ext cx="101129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3" name="Pyramid 3" descr="pptx-deck-generated"/>
          <p:cNvGrpSpPr/>
          <p:nvPr/>
        </p:nvGrpSpPr>
        <p:grpSpPr>
          <a:xfrm>
            <a:off x="1821420" y="4687824"/>
            <a:ext cx="9837179" cy="1484376"/>
            <a:chOff x="0" y="0"/>
            <a:chExt cx="9837179" cy="1484376"/>
          </a:xfrm>
        </p:grpSpPr>
        <p:sp>
          <p:nvSpPr>
            <p:cNvPr id="14" name="Level 3" descr="pptx-deck-generated"/>
            <p:cNvSpPr/>
            <p:nvPr/>
          </p:nvSpPr>
          <p:spPr>
            <a:xfrm rot="10800000">
              <a:off x="0" y="0"/>
              <a:ext cx="3472562" cy="1484376"/>
            </a:xfrm>
            <a:prstGeom prst="trapezoid">
              <a:avLst/>
            </a:prstGeom>
            <a:solidFill>
              <a:schemeClr val="accent1">
                <a:lumMod val="100000"/>
                <a:lumOff val="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Level 3 label" descr="pptx-deck-generated"/>
            <p:cNvSpPr txBox="1"/>
            <p:nvPr/>
          </p:nvSpPr>
          <p:spPr>
            <a:xfrm>
              <a:off x="347256" y="0"/>
              <a:ext cx="2778049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担当へ連携</a:t>
              </a:r>
            </a:p>
          </p:txBody>
        </p:sp>
        <p:sp>
          <p:nvSpPr>
            <p:cNvPr id="16" name="Level 3 detail" descr="pptx-deck-generated"/>
            <p:cNvSpPr txBox="1"/>
            <p:nvPr/>
          </p:nvSpPr>
          <p:spPr>
            <a:xfrm>
              <a:off x="522083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適切なチームへ割り当て</a:t>
              </a:r>
            </a:p>
          </p:txBody>
        </p:sp>
      </p:grpSp>
      <p:cxnSp>
        <p:nvCxnSpPr>
          <p:cNvPr id="17" name="Level 3 leader" descr="pptx-deck-generated"/>
          <p:cNvCxnSpPr/>
          <p:nvPr/>
        </p:nvCxnSpPr>
        <p:spPr>
          <a:xfrm>
            <a:off x="5293982" y="5430012"/>
            <a:ext cx="1693405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対応結果をFAQへ活用する</a:t>
            </a:r>
          </a:p>
        </p:txBody>
      </p:sp>
      <p:cxnSp>
        <p:nvCxnSpPr>
          <p:cNvPr id="3" name="Cycle connector 1" descr="pptx-deck-generated"/>
          <p:cNvCxnSpPr/>
          <p:nvPr/>
        </p:nvCxnSpPr>
        <p:spPr>
          <a:xfrm>
            <a:off x="6761988" y="2980944"/>
            <a:ext cx="228275" cy="228275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cxnSp>
        <p:nvCxnSpPr>
          <p:cNvPr id="4" name="Cycle connector 2" descr="pptx-deck-generated"/>
          <p:cNvCxnSpPr/>
          <p:nvPr/>
        </p:nvCxnSpPr>
        <p:spPr>
          <a:xfrm flipH="1">
            <a:off x="6794316" y="4576572"/>
            <a:ext cx="228276" cy="228275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cxnSp>
        <p:nvCxnSpPr>
          <p:cNvPr id="5" name="Cycle connector 3" descr="pptx-deck-generated"/>
          <p:cNvCxnSpPr/>
          <p:nvPr/>
        </p:nvCxnSpPr>
        <p:spPr>
          <a:xfrm flipH="1" flipV="1">
            <a:off x="5198688" y="4608900"/>
            <a:ext cx="228276" cy="228276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cxnSp>
        <p:nvCxnSpPr>
          <p:cNvPr id="6" name="Cycle connector 4" descr="pptx-deck-generated"/>
          <p:cNvCxnSpPr/>
          <p:nvPr/>
        </p:nvCxnSpPr>
        <p:spPr>
          <a:xfrm flipV="1">
            <a:off x="5166360" y="3013272"/>
            <a:ext cx="228275" cy="228276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grpSp>
        <p:nvGrpSpPr>
          <p:cNvPr id="7" name="Cycle 1" descr="pptx-deck-generated"/>
          <p:cNvGrpSpPr/>
          <p:nvPr/>
        </p:nvGrpSpPr>
        <p:grpSpPr>
          <a:xfrm>
            <a:off x="5180076" y="1645920"/>
            <a:ext cx="1828800" cy="1335024"/>
            <a:chOff x="0" y="0"/>
            <a:chExt cx="1828800" cy="1335024"/>
          </a:xfrm>
        </p:grpSpPr>
        <p:sp>
          <p:nvSpPr>
            <p:cNvPr id="8" name="Cycle node 1" descr="pptx-deck-generated"/>
            <p:cNvSpPr/>
            <p:nvPr/>
          </p:nvSpPr>
          <p:spPr>
            <a:xfrm>
              <a:off x="0" y="0"/>
              <a:ext cx="1828800" cy="1335024"/>
            </a:xfrm>
            <a:prstGeom prst="roundRect">
              <a:avLst>
                <a:gd name="adj" fmla="val 4110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ycle node 1 label" descr="pptx-deck-generated"/>
            <p:cNvSpPr txBox="1"/>
            <p:nvPr/>
          </p:nvSpPr>
          <p:spPr>
            <a:xfrm>
              <a:off x="109728" y="109728"/>
              <a:ext cx="1609344" cy="4175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10" name="Cycle node 1 detail" descr="pptx-deck-generated"/>
            <p:cNvSpPr txBox="1"/>
            <p:nvPr/>
          </p:nvSpPr>
          <p:spPr>
            <a:xfrm>
              <a:off x="0" y="527304"/>
              <a:ext cx="1828800" cy="6979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受付内容を台帳に記録する。</a:t>
              </a:r>
            </a:p>
          </p:txBody>
        </p:sp>
      </p:grpSp>
      <p:grpSp>
        <p:nvGrpSpPr>
          <p:cNvPr id="11" name="Cycle 2" descr="pptx-deck-generated"/>
          <p:cNvGrpSpPr/>
          <p:nvPr/>
        </p:nvGrpSpPr>
        <p:grpSpPr>
          <a:xfrm>
            <a:off x="6775704" y="3241548"/>
            <a:ext cx="1828800" cy="1335024"/>
            <a:chOff x="0" y="0"/>
            <a:chExt cx="1828800" cy="1335024"/>
          </a:xfrm>
        </p:grpSpPr>
        <p:sp>
          <p:nvSpPr>
            <p:cNvPr id="12" name="Cycle node 2" descr="pptx-deck-generated"/>
            <p:cNvSpPr/>
            <p:nvPr/>
          </p:nvSpPr>
          <p:spPr>
            <a:xfrm>
              <a:off x="0" y="0"/>
              <a:ext cx="1828800" cy="1335024"/>
            </a:xfrm>
            <a:prstGeom prst="roundRect">
              <a:avLst>
                <a:gd name="adj" fmla="val 4110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Cycle node 2 label" descr="pptx-deck-generated"/>
            <p:cNvSpPr txBox="1"/>
            <p:nvPr/>
          </p:nvSpPr>
          <p:spPr>
            <a:xfrm>
              <a:off x="109728" y="109728"/>
              <a:ext cx="1609344" cy="4175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分類する</a:t>
              </a:r>
            </a:p>
          </p:txBody>
        </p:sp>
        <p:sp>
          <p:nvSpPr>
            <p:cNvPr id="14" name="Cycle node 2 detail" descr="pptx-deck-generated"/>
            <p:cNvSpPr txBox="1"/>
            <p:nvPr/>
          </p:nvSpPr>
          <p:spPr>
            <a:xfrm>
              <a:off x="0" y="527304"/>
              <a:ext cx="1828800" cy="6979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優先度に応じて担当へつなぐ。</a:t>
              </a:r>
            </a:p>
          </p:txBody>
        </p:sp>
      </p:grpSp>
      <p:grpSp>
        <p:nvGrpSpPr>
          <p:cNvPr id="15" name="Cycle 3" descr="pptx-deck-generated"/>
          <p:cNvGrpSpPr/>
          <p:nvPr/>
        </p:nvGrpSpPr>
        <p:grpSpPr>
          <a:xfrm>
            <a:off x="5180076" y="4837176"/>
            <a:ext cx="1828800" cy="1335024"/>
            <a:chOff x="0" y="0"/>
            <a:chExt cx="1828800" cy="1335024"/>
          </a:xfrm>
        </p:grpSpPr>
        <p:sp>
          <p:nvSpPr>
            <p:cNvPr id="16" name="Cycle node 3" descr="pptx-deck-generated"/>
            <p:cNvSpPr/>
            <p:nvPr/>
          </p:nvSpPr>
          <p:spPr>
            <a:xfrm>
              <a:off x="0" y="0"/>
              <a:ext cx="1828800" cy="1335024"/>
            </a:xfrm>
            <a:prstGeom prst="roundRect">
              <a:avLst>
                <a:gd name="adj" fmla="val 4110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Cycle node 3 label" descr="pptx-deck-generated"/>
            <p:cNvSpPr txBox="1"/>
            <p:nvPr/>
          </p:nvSpPr>
          <p:spPr>
            <a:xfrm>
              <a:off x="109728" y="109728"/>
              <a:ext cx="1609344" cy="4175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解決する</a:t>
              </a:r>
            </a:p>
          </p:txBody>
        </p:sp>
        <p:sp>
          <p:nvSpPr>
            <p:cNvPr id="18" name="Cycle node 3 detail" descr="pptx-deck-generated"/>
            <p:cNvSpPr txBox="1"/>
            <p:nvPr/>
          </p:nvSpPr>
          <p:spPr>
            <a:xfrm>
              <a:off x="0" y="527304"/>
              <a:ext cx="1828800" cy="6979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調査結果を台帳へ記録する。</a:t>
              </a:r>
            </a:p>
          </p:txBody>
        </p:sp>
      </p:grpSp>
      <p:grpSp>
        <p:nvGrpSpPr>
          <p:cNvPr id="19" name="Cycle 4" descr="pptx-deck-generated"/>
          <p:cNvGrpSpPr/>
          <p:nvPr/>
        </p:nvGrpSpPr>
        <p:grpSpPr>
          <a:xfrm>
            <a:off x="3584448" y="3241548"/>
            <a:ext cx="1828800" cy="1335024"/>
            <a:chOff x="0" y="0"/>
            <a:chExt cx="1828800" cy="1335024"/>
          </a:xfrm>
        </p:grpSpPr>
        <p:sp>
          <p:nvSpPr>
            <p:cNvPr id="20" name="Cycle node 4" descr="pptx-deck-generated"/>
            <p:cNvSpPr/>
            <p:nvPr/>
          </p:nvSpPr>
          <p:spPr>
            <a:xfrm>
              <a:off x="0" y="0"/>
              <a:ext cx="1828800" cy="1335024"/>
            </a:xfrm>
            <a:prstGeom prst="roundRect">
              <a:avLst>
                <a:gd name="adj" fmla="val 4110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ycle node 4 label" descr="pptx-deck-generated"/>
            <p:cNvSpPr txBox="1"/>
            <p:nvPr/>
          </p:nvSpPr>
          <p:spPr>
            <a:xfrm>
              <a:off x="109728" y="109728"/>
              <a:ext cx="1609344" cy="4175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FAQを更新</a:t>
              </a:r>
            </a:p>
          </p:txBody>
        </p:sp>
        <p:sp>
          <p:nvSpPr>
            <p:cNvPr id="22" name="Cycle node 4 detail" descr="pptx-deck-generated"/>
            <p:cNvSpPr txBox="1"/>
            <p:nvPr/>
          </p:nvSpPr>
          <p:spPr>
            <a:xfrm>
              <a:off x="0" y="527304"/>
              <a:ext cx="1828800" cy="6979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解決策をFAQへ反映する。</a:t>
              </a:r>
            </a:p>
          </p:txBody>
        </p:sp>
      </p:grpSp>
      <p:sp>
        <p:nvSpPr>
          <p:cNvPr id="23" name="Cycle center" descr="pptx-deck-generated"/>
          <p:cNvSpPr/>
          <p:nvPr/>
        </p:nvSpPr>
        <p:spPr>
          <a:xfrm>
            <a:off x="5568696" y="3383280"/>
            <a:ext cx="1051560" cy="1051560"/>
          </a:xfrm>
          <a:prstGeom prst="ellipse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継続改善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役割・手順・ツール</a:t>
            </a:r>
          </a:p>
        </p:txBody>
      </p:sp>
      <p:grpSp>
        <p:nvGrpSpPr>
          <p:cNvPr id="3" name="Layers 1" descr="pptx-deck-generated"/>
          <p:cNvGrpSpPr/>
          <p:nvPr/>
        </p:nvGrpSpPr>
        <p:grpSpPr>
          <a:xfrm>
            <a:off x="457200" y="2839212"/>
            <a:ext cx="11274551" cy="640080"/>
            <a:chOff x="0" y="0"/>
            <a:chExt cx="11274551" cy="640080"/>
          </a:xfrm>
        </p:grpSpPr>
        <p:sp>
          <p:nvSpPr>
            <p:cNvPr id="4" name="Layer 1 label" descr="pptx-deck-generated"/>
            <p:cNvSpPr/>
            <p:nvPr/>
          </p:nvSpPr>
          <p:spPr>
            <a:xfrm>
              <a:off x="0" y="0"/>
              <a:ext cx="2818638" cy="64008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窓口</a:t>
              </a:r>
            </a:p>
          </p:txBody>
        </p:sp>
        <p:sp>
          <p:nvSpPr>
            <p:cNvPr id="5" name="Layer 1 item 1" descr="pptx-deck-generated"/>
            <p:cNvSpPr/>
            <p:nvPr/>
          </p:nvSpPr>
          <p:spPr>
            <a:xfrm>
              <a:off x="300151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受付フォーム</a:t>
              </a:r>
            </a:p>
          </p:txBody>
        </p:sp>
        <p:sp>
          <p:nvSpPr>
            <p:cNvPr id="6" name="Layer 1 item 2" descr="pptx-deck-generated"/>
            <p:cNvSpPr/>
            <p:nvPr/>
          </p:nvSpPr>
          <p:spPr>
            <a:xfrm>
              <a:off x="509720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共通メール</a:t>
              </a:r>
            </a:p>
          </p:txBody>
        </p:sp>
        <p:sp>
          <p:nvSpPr>
            <p:cNvPr id="7" name="Layer 1 item 3" descr="pptx-deck-generated"/>
            <p:cNvSpPr/>
            <p:nvPr/>
          </p:nvSpPr>
          <p:spPr>
            <a:xfrm>
              <a:off x="719289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受付台帳</a:t>
              </a:r>
            </a:p>
          </p:txBody>
        </p:sp>
        <p:sp>
          <p:nvSpPr>
            <p:cNvPr id="8" name="Layer 1 item 4" descr="pptx-deck-generated"/>
            <p:cNvSpPr/>
            <p:nvPr/>
          </p:nvSpPr>
          <p:spPr>
            <a:xfrm>
              <a:off x="928858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進捗通知</a:t>
              </a:r>
            </a:p>
          </p:txBody>
        </p:sp>
      </p:grpSp>
      <p:grpSp>
        <p:nvGrpSpPr>
          <p:cNvPr id="9" name="Layers 2" descr="pptx-deck-generated"/>
          <p:cNvGrpSpPr/>
          <p:nvPr/>
        </p:nvGrpSpPr>
        <p:grpSpPr>
          <a:xfrm>
            <a:off x="457200" y="3589020"/>
            <a:ext cx="11274551" cy="640080"/>
            <a:chOff x="0" y="0"/>
            <a:chExt cx="11274551" cy="640080"/>
          </a:xfrm>
        </p:grpSpPr>
        <p:sp>
          <p:nvSpPr>
            <p:cNvPr id="10" name="Layer 2 label" descr="pptx-deck-generated"/>
            <p:cNvSpPr/>
            <p:nvPr/>
          </p:nvSpPr>
          <p:spPr>
            <a:xfrm>
              <a:off x="0" y="0"/>
              <a:ext cx="2818638" cy="64008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運用</a:t>
              </a:r>
            </a:p>
          </p:txBody>
        </p:sp>
        <p:sp>
          <p:nvSpPr>
            <p:cNvPr id="11" name="Layer 2 item 1" descr="pptx-deck-generated"/>
            <p:cNvSpPr/>
            <p:nvPr/>
          </p:nvSpPr>
          <p:spPr>
            <a:xfrm>
              <a:off x="300151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分類基準</a:t>
              </a:r>
            </a:p>
          </p:txBody>
        </p:sp>
        <p:sp>
          <p:nvSpPr>
            <p:cNvPr id="12" name="Layer 2 item 2" descr="pptx-deck-generated"/>
            <p:cNvSpPr/>
            <p:nvPr/>
          </p:nvSpPr>
          <p:spPr>
            <a:xfrm>
              <a:off x="509720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担当表</a:t>
              </a:r>
            </a:p>
          </p:txBody>
        </p:sp>
        <p:sp>
          <p:nvSpPr>
            <p:cNvPr id="13" name="Layer 2 item 3" descr="pptx-deck-generated"/>
            <p:cNvSpPr/>
            <p:nvPr/>
          </p:nvSpPr>
          <p:spPr>
            <a:xfrm>
              <a:off x="719289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対応手順</a:t>
              </a:r>
            </a:p>
          </p:txBody>
        </p:sp>
        <p:sp>
          <p:nvSpPr>
            <p:cNvPr id="14" name="Layer 2 item 4" descr="pptx-deck-generated"/>
            <p:cNvSpPr/>
            <p:nvPr/>
          </p:nvSpPr>
          <p:spPr>
            <a:xfrm>
              <a:off x="928858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優先度設定</a:t>
              </a:r>
            </a:p>
          </p:txBody>
        </p:sp>
      </p:grpSp>
      <p:grpSp>
        <p:nvGrpSpPr>
          <p:cNvPr id="15" name="Layers 3" descr="pptx-deck-generated"/>
          <p:cNvGrpSpPr/>
          <p:nvPr/>
        </p:nvGrpSpPr>
        <p:grpSpPr>
          <a:xfrm>
            <a:off x="457200" y="4338828"/>
            <a:ext cx="11274551" cy="640080"/>
            <a:chOff x="0" y="0"/>
            <a:chExt cx="11274551" cy="640080"/>
          </a:xfrm>
        </p:grpSpPr>
        <p:sp>
          <p:nvSpPr>
            <p:cNvPr id="16" name="Layer 3 label" descr="pptx-deck-generated"/>
            <p:cNvSpPr/>
            <p:nvPr/>
          </p:nvSpPr>
          <p:spPr>
            <a:xfrm>
              <a:off x="0" y="0"/>
              <a:ext cx="2818638" cy="64008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ナレッジ</a:t>
              </a:r>
            </a:p>
          </p:txBody>
        </p:sp>
        <p:sp>
          <p:nvSpPr>
            <p:cNvPr id="17" name="Layer 3 item 1" descr="pptx-deck-generated"/>
            <p:cNvSpPr/>
            <p:nvPr/>
          </p:nvSpPr>
          <p:spPr>
            <a:xfrm>
              <a:off x="300151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</a:t>
              </a:r>
            </a:p>
          </p:txBody>
        </p:sp>
        <p:sp>
          <p:nvSpPr>
            <p:cNvPr id="18" name="Layer 3 item 2" descr="pptx-deck-generated"/>
            <p:cNvSpPr/>
            <p:nvPr/>
          </p:nvSpPr>
          <p:spPr>
            <a:xfrm>
              <a:off x="509720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対応履歴</a:t>
              </a:r>
            </a:p>
          </p:txBody>
        </p:sp>
        <p:sp>
          <p:nvSpPr>
            <p:cNvPr id="19" name="Layer 3 item 3" descr="pptx-deck-generated"/>
            <p:cNvSpPr/>
            <p:nvPr/>
          </p:nvSpPr>
          <p:spPr>
            <a:xfrm>
              <a:off x="719289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更新ルール</a:t>
              </a:r>
            </a:p>
          </p:txBody>
        </p:sp>
        <p:sp>
          <p:nvSpPr>
            <p:cNvPr id="20" name="Layer 3 item 4" descr="pptx-deck-generated"/>
            <p:cNvSpPr/>
            <p:nvPr/>
          </p:nvSpPr>
          <p:spPr>
            <a:xfrm>
              <a:off x="928858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参照権限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試行から全社展開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645920"/>
            <a:ext cx="11274552" cy="45110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dk1"/>
                </a:solidFill>
                <a:latin typeface="Yu Gothic"/>
                <a:ea typeface="Yu Gothic"/>
              </a:rPr>
              <a:t>準備・試行・改善を順に進め、運用を定着させる</a:t>
            </a:r>
          </a:p>
        </p:txBody>
      </p:sp>
      <p:sp>
        <p:nvSpPr>
          <p:cNvPr id="4" name="Roadmap period 1" descr="pptx-deck-generated"/>
          <p:cNvSpPr/>
          <p:nvPr/>
        </p:nvSpPr>
        <p:spPr>
          <a:xfrm>
            <a:off x="2468880" y="220675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10月</a:t>
            </a:r>
          </a:p>
        </p:txBody>
      </p:sp>
      <p:sp>
        <p:nvSpPr>
          <p:cNvPr id="5" name="Roadmap period 2" descr="pptx-deck-generated"/>
          <p:cNvSpPr/>
          <p:nvPr/>
        </p:nvSpPr>
        <p:spPr>
          <a:xfrm>
            <a:off x="4784598" y="220675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11月</a:t>
            </a:r>
          </a:p>
        </p:txBody>
      </p:sp>
      <p:sp>
        <p:nvSpPr>
          <p:cNvPr id="6" name="Roadmap period 3" descr="pptx-deck-generated"/>
          <p:cNvSpPr/>
          <p:nvPr/>
        </p:nvSpPr>
        <p:spPr>
          <a:xfrm>
            <a:off x="7100316" y="220675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12月</a:t>
            </a:r>
          </a:p>
        </p:txBody>
      </p:sp>
      <p:sp>
        <p:nvSpPr>
          <p:cNvPr id="7" name="Roadmap period 4" descr="pptx-deck-generated"/>
          <p:cNvSpPr/>
          <p:nvPr/>
        </p:nvSpPr>
        <p:spPr>
          <a:xfrm>
            <a:off x="9416034" y="220675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1月</a:t>
            </a:r>
          </a:p>
        </p:txBody>
      </p:sp>
      <p:sp>
        <p:nvSpPr>
          <p:cNvPr id="8" name="Roadmap milestone 1" descr="pptx-deck-generated"/>
          <p:cNvSpPr/>
          <p:nvPr/>
        </p:nvSpPr>
        <p:spPr>
          <a:xfrm>
            <a:off x="5860161" y="2673096"/>
            <a:ext cx="164592" cy="164592"/>
          </a:xfrm>
          <a:prstGeom prst="diamond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9" name="Roadmap milestone 1 label" descr="pptx-deck-generated"/>
          <p:cNvSpPr txBox="1"/>
          <p:nvPr/>
        </p:nvSpPr>
        <p:spPr>
          <a:xfrm>
            <a:off x="5210937" y="2855976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chemeClr val="dk1"/>
                </a:solidFill>
                <a:latin typeface="Yu Gothic"/>
                <a:ea typeface="Yu Gothic"/>
              </a:rPr>
              <a:t>試行開始</a:t>
            </a:r>
          </a:p>
        </p:txBody>
      </p:sp>
      <p:sp>
        <p:nvSpPr>
          <p:cNvPr id="10" name="Roadmap milestone 2" descr="pptx-deck-generated"/>
          <p:cNvSpPr/>
          <p:nvPr/>
        </p:nvSpPr>
        <p:spPr>
          <a:xfrm>
            <a:off x="10491597" y="2673096"/>
            <a:ext cx="164592" cy="164592"/>
          </a:xfrm>
          <a:prstGeom prst="diamond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1" name="Roadmap milestone 2 label" descr="pptx-deck-generated"/>
          <p:cNvSpPr txBox="1"/>
          <p:nvPr/>
        </p:nvSpPr>
        <p:spPr>
          <a:xfrm>
            <a:off x="9842372" y="2855976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chemeClr val="dk1"/>
                </a:solidFill>
                <a:latin typeface="Yu Gothic"/>
                <a:ea typeface="Yu Gothic"/>
              </a:rPr>
              <a:t>展開判断</a:t>
            </a:r>
          </a:p>
        </p:txBody>
      </p:sp>
      <p:sp>
        <p:nvSpPr>
          <p:cNvPr id="12" name="Roadmap row 2" descr="pptx-deck-generated"/>
          <p:cNvSpPr/>
          <p:nvPr/>
        </p:nvSpPr>
        <p:spPr>
          <a:xfrm>
            <a:off x="457200" y="3819144"/>
            <a:ext cx="11274552" cy="588263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3" name="Roadmap row 4" descr="pptx-deck-generated"/>
          <p:cNvSpPr/>
          <p:nvPr/>
        </p:nvSpPr>
        <p:spPr>
          <a:xfrm>
            <a:off x="457200" y="4995672"/>
            <a:ext cx="11274552" cy="588263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cxnSp>
        <p:nvCxnSpPr>
          <p:cNvPr id="14" name="Roadmap grid 1" descr="pptx-deck-generated"/>
          <p:cNvCxnSpPr/>
          <p:nvPr/>
        </p:nvCxnSpPr>
        <p:spPr>
          <a:xfrm>
            <a:off x="2468880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5" name="Roadmap grid 2" descr="pptx-deck-generated"/>
          <p:cNvCxnSpPr/>
          <p:nvPr/>
        </p:nvCxnSpPr>
        <p:spPr>
          <a:xfrm>
            <a:off x="4784598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6" name="Roadmap grid 3" descr="pptx-deck-generated"/>
          <p:cNvCxnSpPr/>
          <p:nvPr/>
        </p:nvCxnSpPr>
        <p:spPr>
          <a:xfrm>
            <a:off x="7100316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7" name="Roadmap grid 4" descr="pptx-deck-generated"/>
          <p:cNvCxnSpPr/>
          <p:nvPr/>
        </p:nvCxnSpPr>
        <p:spPr>
          <a:xfrm>
            <a:off x="9416034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8" name="Roadmap grid 5" descr="pptx-deck-generated"/>
          <p:cNvCxnSpPr/>
          <p:nvPr/>
        </p:nvCxnSpPr>
        <p:spPr>
          <a:xfrm>
            <a:off x="11731751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19" name="Roadmap track 1" descr="pptx-deck-generated"/>
          <p:cNvSpPr txBox="1"/>
          <p:nvPr/>
        </p:nvSpPr>
        <p:spPr>
          <a:xfrm>
            <a:off x="493776" y="3258312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運用設計</a:t>
            </a:r>
          </a:p>
        </p:txBody>
      </p:sp>
      <p:grpSp>
        <p:nvGrpSpPr>
          <p:cNvPr id="20" name="Roadmap 1" descr="pptx-deck-generated"/>
          <p:cNvGrpSpPr/>
          <p:nvPr/>
        </p:nvGrpSpPr>
        <p:grpSpPr>
          <a:xfrm>
            <a:off x="2505456" y="3332988"/>
            <a:ext cx="4558283" cy="384048"/>
            <a:chOff x="0" y="0"/>
            <a:chExt cx="4558283" cy="384048"/>
          </a:xfrm>
        </p:grpSpPr>
        <p:sp>
          <p:nvSpPr>
            <p:cNvPr id="21" name="Roadmap track 1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手順策定</a:t>
              </a:r>
            </a:p>
          </p:txBody>
        </p:sp>
      </p:grpSp>
      <p:sp>
        <p:nvSpPr>
          <p:cNvPr id="22" name="Roadmap track 2" descr="pptx-deck-generated"/>
          <p:cNvSpPr txBox="1"/>
          <p:nvPr/>
        </p:nvSpPr>
        <p:spPr>
          <a:xfrm>
            <a:off x="493776" y="3846576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FAQ整備</a:t>
            </a:r>
          </a:p>
        </p:txBody>
      </p:sp>
      <p:grpSp>
        <p:nvGrpSpPr>
          <p:cNvPr id="23" name="Roadmap 11" descr="pptx-deck-generated"/>
          <p:cNvGrpSpPr/>
          <p:nvPr/>
        </p:nvGrpSpPr>
        <p:grpSpPr>
          <a:xfrm>
            <a:off x="2505456" y="3921252"/>
            <a:ext cx="6874001" cy="384048"/>
            <a:chOff x="0" y="0"/>
            <a:chExt cx="6874001" cy="384048"/>
          </a:xfrm>
        </p:grpSpPr>
        <p:sp>
          <p:nvSpPr>
            <p:cNvPr id="24" name="Roadmap track 2 bar 1" descr="pptx-deck-generated"/>
            <p:cNvSpPr/>
            <p:nvPr/>
          </p:nvSpPr>
          <p:spPr>
            <a:xfrm>
              <a:off x="0" y="0"/>
              <a:ext cx="6874001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初版・更新</a:t>
              </a:r>
            </a:p>
          </p:txBody>
        </p:sp>
      </p:grpSp>
      <p:sp>
        <p:nvSpPr>
          <p:cNvPr id="25" name="Roadmap track 3" descr="pptx-deck-generated"/>
          <p:cNvSpPr txBox="1"/>
          <p:nvPr/>
        </p:nvSpPr>
        <p:spPr>
          <a:xfrm>
            <a:off x="493776" y="4434840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試行・展開</a:t>
            </a:r>
          </a:p>
        </p:txBody>
      </p:sp>
      <p:grpSp>
        <p:nvGrpSpPr>
          <p:cNvPr id="26" name="Roadmap 21" descr="pptx-deck-generated"/>
          <p:cNvGrpSpPr/>
          <p:nvPr/>
        </p:nvGrpSpPr>
        <p:grpSpPr>
          <a:xfrm>
            <a:off x="4821174" y="4509516"/>
            <a:ext cx="2242565" cy="384048"/>
            <a:chOff x="0" y="0"/>
            <a:chExt cx="2242565" cy="384048"/>
          </a:xfrm>
        </p:grpSpPr>
        <p:sp>
          <p:nvSpPr>
            <p:cNvPr id="27" name="Roadmap track 3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試行</a:t>
              </a:r>
            </a:p>
          </p:txBody>
        </p:sp>
      </p:grpSp>
      <p:grpSp>
        <p:nvGrpSpPr>
          <p:cNvPr id="28" name="Roadmap 22" descr="pptx-deck-generated"/>
          <p:cNvGrpSpPr/>
          <p:nvPr/>
        </p:nvGrpSpPr>
        <p:grpSpPr>
          <a:xfrm>
            <a:off x="7136892" y="4509516"/>
            <a:ext cx="4558283" cy="384048"/>
            <a:chOff x="0" y="0"/>
            <a:chExt cx="4558283" cy="384048"/>
          </a:xfrm>
        </p:grpSpPr>
        <p:sp>
          <p:nvSpPr>
            <p:cNvPr id="29" name="Roadmap track 3 bar 2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展開</a:t>
              </a:r>
            </a:p>
          </p:txBody>
        </p:sp>
      </p:grpSp>
      <p:sp>
        <p:nvSpPr>
          <p:cNvPr id="30" name="Roadmap track 4" descr="pptx-deck-generated"/>
          <p:cNvSpPr txBox="1"/>
          <p:nvPr/>
        </p:nvSpPr>
        <p:spPr>
          <a:xfrm>
            <a:off x="493776" y="5023104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周知・説明</a:t>
            </a:r>
          </a:p>
        </p:txBody>
      </p:sp>
      <p:grpSp>
        <p:nvGrpSpPr>
          <p:cNvPr id="31" name="Roadmap 31" descr="pptx-deck-generated"/>
          <p:cNvGrpSpPr/>
          <p:nvPr/>
        </p:nvGrpSpPr>
        <p:grpSpPr>
          <a:xfrm>
            <a:off x="4821174" y="5097779"/>
            <a:ext cx="4558283" cy="384048"/>
            <a:chOff x="0" y="0"/>
            <a:chExt cx="4558283" cy="384048"/>
          </a:xfrm>
        </p:grpSpPr>
        <p:sp>
          <p:nvSpPr>
            <p:cNvPr id="32" name="Roadmap track 4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利用案内</a:t>
              </a:r>
            </a:p>
          </p:txBody>
        </p:sp>
      </p:grpSp>
      <p:sp>
        <p:nvSpPr>
          <p:cNvPr id="33" name="Roadmap track 5" descr="pptx-deck-generated"/>
          <p:cNvSpPr txBox="1"/>
          <p:nvPr/>
        </p:nvSpPr>
        <p:spPr>
          <a:xfrm>
            <a:off x="493776" y="5611368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効果確認</a:t>
            </a:r>
          </a:p>
        </p:txBody>
      </p:sp>
      <p:grpSp>
        <p:nvGrpSpPr>
          <p:cNvPr id="34" name="Roadmap 41" descr="pptx-deck-generated"/>
          <p:cNvGrpSpPr/>
          <p:nvPr/>
        </p:nvGrpSpPr>
        <p:grpSpPr>
          <a:xfrm>
            <a:off x="7136892" y="5686044"/>
            <a:ext cx="4558283" cy="384048"/>
            <a:chOff x="0" y="0"/>
            <a:chExt cx="4558283" cy="384048"/>
          </a:xfrm>
        </p:grpSpPr>
        <p:sp>
          <p:nvSpPr>
            <p:cNvPr id="35" name="Roadmap track 5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振り返り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誰でも同じ入口から相談できる</a:t>
            </a:r>
          </a:p>
        </p:txBody>
      </p:sp>
      <p:sp>
        <p:nvSpPr>
          <p:cNvPr id="3" name="Message banner accent" descr="pptx-deck-generated"/>
          <p:cNvSpPr/>
          <p:nvPr/>
        </p:nvSpPr>
        <p:spPr>
          <a:xfrm>
            <a:off x="457200" y="3076956"/>
            <a:ext cx="54864" cy="585215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4" name="Message banner" descr="pptx-deck-generated"/>
          <p:cNvSpPr txBox="1"/>
          <p:nvPr/>
        </p:nvSpPr>
        <p:spPr>
          <a:xfrm>
            <a:off x="640080" y="3076956"/>
            <a:ext cx="11091672" cy="585215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chemeClr val="accent1"/>
                </a:solidFill>
                <a:latin typeface="Yu Gothic"/>
                <a:ea typeface="Yu Gothic"/>
              </a:rPr>
              <a:t>まず受付先を一本化する</a:t>
            </a:r>
          </a:p>
        </p:txBody>
      </p:sp>
      <p:grpSp>
        <p:nvGrpSpPr>
          <p:cNvPr id="5" name="Message 1" descr="pptx-deck-generated"/>
          <p:cNvGrpSpPr/>
          <p:nvPr/>
        </p:nvGrpSpPr>
        <p:grpSpPr>
          <a:xfrm>
            <a:off x="457200" y="3918204"/>
            <a:ext cx="3660647" cy="822960"/>
            <a:chOff x="0" y="0"/>
            <a:chExt cx="3660647" cy="822960"/>
          </a:xfrm>
        </p:grpSpPr>
        <p:sp>
          <p:nvSpPr>
            <p:cNvPr id="6" name="Message support 1 panel" descr="pptx-deck-generated"/>
            <p:cNvSpPr/>
            <p:nvPr/>
          </p:nvSpPr>
          <p:spPr>
            <a:xfrm>
              <a:off x="0" y="0"/>
              <a:ext cx="3660647" cy="82296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Message support 1 body" descr="pptx-deck-generated"/>
            <p:cNvSpPr txBox="1"/>
            <p:nvPr/>
          </p:nvSpPr>
          <p:spPr>
            <a:xfrm>
              <a:off x="109728" y="73152"/>
              <a:ext cx="3441191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共通フォーム</a:t>
              </a:r>
            </a:p>
          </p:txBody>
        </p:sp>
      </p:grpSp>
      <p:grpSp>
        <p:nvGrpSpPr>
          <p:cNvPr id="8" name="Message 2" descr="pptx-deck-generated"/>
          <p:cNvGrpSpPr/>
          <p:nvPr/>
        </p:nvGrpSpPr>
        <p:grpSpPr>
          <a:xfrm>
            <a:off x="4264152" y="3918204"/>
            <a:ext cx="3660647" cy="822960"/>
            <a:chOff x="0" y="0"/>
            <a:chExt cx="3660647" cy="822960"/>
          </a:xfrm>
        </p:grpSpPr>
        <p:sp>
          <p:nvSpPr>
            <p:cNvPr id="9" name="Message support 2 panel" descr="pptx-deck-generated"/>
            <p:cNvSpPr/>
            <p:nvPr/>
          </p:nvSpPr>
          <p:spPr>
            <a:xfrm>
              <a:off x="0" y="0"/>
              <a:ext cx="3660647" cy="82296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Message support 2 body" descr="pptx-deck-generated"/>
            <p:cNvSpPr txBox="1"/>
            <p:nvPr/>
          </p:nvSpPr>
          <p:spPr>
            <a:xfrm>
              <a:off x="109728" y="73152"/>
              <a:ext cx="3441191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共通の分類基準</a:t>
              </a:r>
            </a:p>
          </p:txBody>
        </p:sp>
      </p:grpSp>
      <p:grpSp>
        <p:nvGrpSpPr>
          <p:cNvPr id="11" name="Message 3" descr="pptx-deck-generated"/>
          <p:cNvGrpSpPr/>
          <p:nvPr/>
        </p:nvGrpSpPr>
        <p:grpSpPr>
          <a:xfrm>
            <a:off x="8071104" y="3918204"/>
            <a:ext cx="3660647" cy="822960"/>
            <a:chOff x="0" y="0"/>
            <a:chExt cx="3660647" cy="822960"/>
          </a:xfrm>
        </p:grpSpPr>
        <p:sp>
          <p:nvSpPr>
            <p:cNvPr id="12" name="Message support 3 panel" descr="pptx-deck-generated"/>
            <p:cNvSpPr/>
            <p:nvPr/>
          </p:nvSpPr>
          <p:spPr>
            <a:xfrm>
              <a:off x="0" y="0"/>
              <a:ext cx="3660647" cy="82296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Message support 3 body" descr="pptx-deck-generated"/>
            <p:cNvSpPr txBox="1"/>
            <p:nvPr/>
          </p:nvSpPr>
          <p:spPr>
            <a:xfrm>
              <a:off x="109727" y="73152"/>
              <a:ext cx="3441191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担当と進捗の見える化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対応履歴を組織の知識にする</a:t>
            </a:r>
          </a:p>
        </p:txBody>
      </p:sp>
      <p:sp>
        <p:nvSpPr>
          <p:cNvPr id="3" name="Message quote mark" descr="pptx-deck-generated"/>
          <p:cNvSpPr txBox="1"/>
          <p:nvPr/>
        </p:nvSpPr>
        <p:spPr>
          <a:xfrm>
            <a:off x="457200" y="3084068"/>
            <a:ext cx="50292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chemeClr val="accent2"/>
                </a:solidFill>
                <a:latin typeface="Yu Gothic"/>
                <a:ea typeface="Yu Gothic"/>
              </a:rPr>
              <a:t>“</a:t>
            </a:r>
          </a:p>
        </p:txBody>
      </p:sp>
      <p:sp>
        <p:nvSpPr>
          <p:cNvPr id="4" name="Message quote" descr="pptx-deck-generated"/>
          <p:cNvSpPr txBox="1"/>
          <p:nvPr/>
        </p:nvSpPr>
        <p:spPr>
          <a:xfrm>
            <a:off x="932688" y="3084068"/>
            <a:ext cx="10634472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chemeClr val="dk1"/>
                </a:solidFill>
                <a:latin typeface="Yu Gothic"/>
                <a:ea typeface="Yu Gothic"/>
              </a:rPr>
              <a:t>一度の回答を、次の人の近道に。</a:t>
            </a:r>
          </a:p>
        </p:txBody>
      </p:sp>
      <p:sp>
        <p:nvSpPr>
          <p:cNvPr id="5" name="Message quote support" descr="pptx-deck-generated"/>
          <p:cNvSpPr txBox="1"/>
          <p:nvPr/>
        </p:nvSpPr>
        <p:spPr>
          <a:xfrm>
            <a:off x="822960" y="4016756"/>
            <a:ext cx="10543032" cy="717296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 marL="201168" indent="-109728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3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解決内容を記録</a:t>
            </a:r>
          </a:p>
          <a:p>
            <a:pPr algn="ctr" marL="201168" indent="-109728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3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FAQを継続更新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試行前に役割を決める</a:t>
            </a:r>
          </a:p>
        </p:txBody>
      </p:sp>
      <p:sp>
        <p:nvSpPr>
          <p:cNvPr id="3" name="Checklist heading 項目" descr="pptx-deck-generated"/>
          <p:cNvSpPr txBox="1"/>
          <p:nvPr/>
        </p:nvSpPr>
        <p:spPr>
          <a:xfrm>
            <a:off x="932688" y="1988820"/>
            <a:ext cx="5975512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項目</a:t>
            </a:r>
          </a:p>
        </p:txBody>
      </p:sp>
      <p:sp>
        <p:nvSpPr>
          <p:cNvPr id="4" name="Checklist heading 担当" descr="pptx-deck-generated"/>
          <p:cNvSpPr txBox="1"/>
          <p:nvPr/>
        </p:nvSpPr>
        <p:spPr>
          <a:xfrm>
            <a:off x="8574877" y="1988820"/>
            <a:ext cx="1691182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担当</a:t>
            </a:r>
          </a:p>
        </p:txBody>
      </p:sp>
      <p:sp>
        <p:nvSpPr>
          <p:cNvPr id="5" name="Checklist heading 期限" descr="pptx-deck-generated"/>
          <p:cNvSpPr txBox="1"/>
          <p:nvPr/>
        </p:nvSpPr>
        <p:spPr>
          <a:xfrm>
            <a:off x="10378805" y="1988820"/>
            <a:ext cx="12402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期限</a:t>
            </a:r>
          </a:p>
        </p:txBody>
      </p:sp>
      <p:cxnSp>
        <p:nvCxnSpPr>
          <p:cNvPr id="6" name="Checklist heading divider" descr="pptx-deck-generated"/>
          <p:cNvCxnSpPr/>
          <p:nvPr/>
        </p:nvCxnSpPr>
        <p:spPr>
          <a:xfrm>
            <a:off x="457200" y="2336292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7" name="Checklist 1" descr="pptx-deck-generated"/>
          <p:cNvGrpSpPr/>
          <p:nvPr/>
        </p:nvGrpSpPr>
        <p:grpSpPr>
          <a:xfrm>
            <a:off x="484632" y="2354580"/>
            <a:ext cx="11134373" cy="548640"/>
            <a:chOff x="0" y="0"/>
            <a:chExt cx="11134373" cy="548640"/>
          </a:xfrm>
        </p:grpSpPr>
        <p:sp>
          <p:nvSpPr>
            <p:cNvPr id="8" name="Checklist status 1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36576" rIns="3657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>
                  <a:solidFill>
                    <a:schemeClr val="lt1"/>
                  </a:solidFill>
                  <a:latin typeface="Yu Gothic"/>
                  <a:ea typeface="Yu Gothic"/>
                </a:rPr>
                <a:t>✓</a:t>
              </a:r>
            </a:p>
          </p:txBody>
        </p:sp>
        <p:sp>
          <p:nvSpPr>
            <p:cNvPr id="9" name="Checklist item 1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対象部門と問い合わせ範囲を決める</a:t>
              </a:r>
            </a:p>
          </p:txBody>
        </p:sp>
        <p:sp>
          <p:nvSpPr>
            <p:cNvPr id="10" name="Checklist owner 1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11" name="Checklist due 1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grpSp>
        <p:nvGrpSpPr>
          <p:cNvPr id="12" name="Checklist 2" descr="pptx-deck-generated"/>
          <p:cNvGrpSpPr/>
          <p:nvPr/>
        </p:nvGrpSpPr>
        <p:grpSpPr>
          <a:xfrm>
            <a:off x="484632" y="2939796"/>
            <a:ext cx="11134373" cy="548640"/>
            <a:chOff x="0" y="0"/>
            <a:chExt cx="11134373" cy="548640"/>
          </a:xfrm>
        </p:grpSpPr>
        <p:sp>
          <p:nvSpPr>
            <p:cNvPr id="13" name="Checklist status 2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noFill/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hecklist item 2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受付フォームの項目を確定する</a:t>
              </a:r>
            </a:p>
          </p:txBody>
        </p:sp>
        <p:sp>
          <p:nvSpPr>
            <p:cNvPr id="15" name="Checklist owner 2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業務企画</a:t>
              </a:r>
            </a:p>
          </p:txBody>
        </p:sp>
        <p:sp>
          <p:nvSpPr>
            <p:cNvPr id="16" name="Checklist due 2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10月中</a:t>
              </a:r>
            </a:p>
          </p:txBody>
        </p:sp>
      </p:grpSp>
      <p:cxnSp>
        <p:nvCxnSpPr>
          <p:cNvPr id="17" name="Checklist divider 2" descr="pptx-deck-generated"/>
          <p:cNvCxnSpPr/>
          <p:nvPr/>
        </p:nvCxnSpPr>
        <p:spPr>
          <a:xfrm>
            <a:off x="457200" y="2921508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8" name="Checklist 3" descr="pptx-deck-generated"/>
          <p:cNvGrpSpPr/>
          <p:nvPr/>
        </p:nvGrpSpPr>
        <p:grpSpPr>
          <a:xfrm>
            <a:off x="484632" y="3525012"/>
            <a:ext cx="11134373" cy="548640"/>
            <a:chOff x="0" y="0"/>
            <a:chExt cx="11134373" cy="548640"/>
          </a:xfrm>
        </p:grpSpPr>
        <p:sp>
          <p:nvSpPr>
            <p:cNvPr id="19" name="Checklist status 3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solidFill>
              <a:schemeClr val="accent2"/>
            </a:solidFill>
          </p:spPr>
          <p:txBody>
            <a:bodyPr rtlCol="0" anchor="ctr" wrap="square" lIns="36576" rIns="3657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>
                  <a:solidFill>
                    <a:schemeClr val="dk1"/>
                  </a:solidFill>
                  <a:latin typeface="Yu Gothic"/>
                  <a:ea typeface="Yu Gothic"/>
                </a:rPr>
                <a:t>!</a:t>
              </a:r>
            </a:p>
          </p:txBody>
        </p:sp>
        <p:sp>
          <p:nvSpPr>
            <p:cNvPr id="20" name="Checklist item 3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一次窓口の当番表を作成する</a:t>
              </a:r>
            </a:p>
          </p:txBody>
        </p:sp>
        <p:sp>
          <p:nvSpPr>
            <p:cNvPr id="21" name="Checklist owner 3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情シス</a:t>
              </a:r>
            </a:p>
          </p:txBody>
        </p:sp>
        <p:sp>
          <p:nvSpPr>
            <p:cNvPr id="22" name="Checklist due 3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試行前</a:t>
              </a:r>
            </a:p>
          </p:txBody>
        </p:sp>
      </p:grpSp>
      <p:cxnSp>
        <p:nvCxnSpPr>
          <p:cNvPr id="23" name="Checklist divider 3" descr="pptx-deck-generated"/>
          <p:cNvCxnSpPr/>
          <p:nvPr/>
        </p:nvCxnSpPr>
        <p:spPr>
          <a:xfrm>
            <a:off x="457200" y="3506724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24" name="Checklist 4" descr="pptx-deck-generated"/>
          <p:cNvGrpSpPr/>
          <p:nvPr/>
        </p:nvGrpSpPr>
        <p:grpSpPr>
          <a:xfrm>
            <a:off x="484632" y="4110227"/>
            <a:ext cx="11134373" cy="548640"/>
            <a:chOff x="0" y="0"/>
            <a:chExt cx="11134373" cy="548640"/>
          </a:xfrm>
        </p:grpSpPr>
        <p:sp>
          <p:nvSpPr>
            <p:cNvPr id="25" name="Checklist status 4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noFill/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hecklist item 4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FAQの更新責任者を決める</a:t>
              </a:r>
            </a:p>
          </p:txBody>
        </p:sp>
        <p:sp>
          <p:nvSpPr>
            <p:cNvPr id="27" name="Checklist owner 4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28" name="Checklist due 4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cxnSp>
        <p:nvCxnSpPr>
          <p:cNvPr id="29" name="Checklist divider 4" descr="pptx-deck-generated"/>
          <p:cNvCxnSpPr/>
          <p:nvPr/>
        </p:nvCxnSpPr>
        <p:spPr>
          <a:xfrm>
            <a:off x="457200" y="4091939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0" name="Checklist 5" descr="pptx-deck-generated"/>
          <p:cNvGrpSpPr/>
          <p:nvPr/>
        </p:nvGrpSpPr>
        <p:grpSpPr>
          <a:xfrm>
            <a:off x="484632" y="4695444"/>
            <a:ext cx="11134373" cy="548640"/>
            <a:chOff x="0" y="0"/>
            <a:chExt cx="11134373" cy="548640"/>
          </a:xfrm>
        </p:grpSpPr>
        <p:sp>
          <p:nvSpPr>
            <p:cNvPr id="31" name="Checklist status 5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noFill/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Checklist item 5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問い合わせ件数と対応状況の確認方法を決める</a:t>
              </a:r>
            </a:p>
          </p:txBody>
        </p:sp>
        <p:sp>
          <p:nvSpPr>
            <p:cNvPr id="33" name="Checklist owner 5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運用担当</a:t>
              </a:r>
            </a:p>
          </p:txBody>
        </p:sp>
        <p:sp>
          <p:nvSpPr>
            <p:cNvPr id="34" name="Checklist due 5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試行開始前</a:t>
              </a:r>
            </a:p>
          </p:txBody>
        </p:sp>
      </p:grpSp>
      <p:cxnSp>
        <p:nvCxnSpPr>
          <p:cNvPr id="35" name="Checklist divider 5" descr="pptx-deck-generated"/>
          <p:cNvCxnSpPr/>
          <p:nvPr/>
        </p:nvCxnSpPr>
        <p:spPr>
          <a:xfrm>
            <a:off x="457200" y="4677156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6" name="Checklist 6" descr="pptx-deck-generated"/>
          <p:cNvGrpSpPr/>
          <p:nvPr/>
        </p:nvGrpSpPr>
        <p:grpSpPr>
          <a:xfrm>
            <a:off x="484632" y="5280660"/>
            <a:ext cx="11134373" cy="548640"/>
            <a:chOff x="0" y="0"/>
            <a:chExt cx="11134373" cy="548640"/>
          </a:xfrm>
        </p:grpSpPr>
        <p:sp>
          <p:nvSpPr>
            <p:cNvPr id="37" name="Checklist status 6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36576" rIns="3657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>
                  <a:solidFill>
                    <a:schemeClr val="lt1"/>
                  </a:solidFill>
                  <a:latin typeface="Yu Gothic"/>
                  <a:ea typeface="Yu Gothic"/>
                </a:rPr>
                <a:t>✓</a:t>
              </a:r>
            </a:p>
          </p:txBody>
        </p:sp>
        <p:sp>
          <p:nvSpPr>
            <p:cNvPr id="38" name="Checklist item 6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試行結果を確認する日程を設定する</a:t>
              </a:r>
            </a:p>
          </p:txBody>
        </p:sp>
        <p:sp>
          <p:nvSpPr>
            <p:cNvPr id="39" name="Checklist owner 6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40" name="Checklist due 6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cxnSp>
        <p:nvCxnSpPr>
          <p:cNvPr id="41" name="Checklist divider 6" descr="pptx-deck-generated"/>
          <p:cNvCxnSpPr/>
          <p:nvPr/>
        </p:nvCxnSpPr>
        <p:spPr>
          <a:xfrm>
            <a:off x="457200" y="5262372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FAQの効果を検証する</a:t>
            </a:r>
          </a:p>
        </p:txBody>
      </p:sp>
      <p:graphicFrame>
        <p:nvGraphicFramePr>
          <p:cNvPr id="3" name="Library chart" descr="pptx-deck-generated"/>
          <p:cNvGraphicFramePr>
            <a:graphicFrameLocks noGrp="1"/>
          </p:cNvGraphicFramePr>
          <p:nvPr/>
        </p:nvGraphicFramePr>
        <p:xfrm>
          <a:off x="457200" y="1645920"/>
          <a:ext cx="6990222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Chart key points panel" descr="pptx-deck-generated"/>
          <p:cNvSpPr/>
          <p:nvPr/>
        </p:nvSpPr>
        <p:spPr>
          <a:xfrm>
            <a:off x="7557150" y="2967228"/>
            <a:ext cx="4174601" cy="1883664"/>
          </a:xfrm>
          <a:prstGeom prst="roundRect">
            <a:avLst>
              <a:gd name="adj" fmla="val 2913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5" name="Chart 1" descr="pptx-deck-generated"/>
          <p:cNvGrpSpPr/>
          <p:nvPr/>
        </p:nvGrpSpPr>
        <p:grpSpPr>
          <a:xfrm>
            <a:off x="7676022" y="3040380"/>
            <a:ext cx="3946001" cy="554735"/>
            <a:chOff x="0" y="0"/>
            <a:chExt cx="3946001" cy="554735"/>
          </a:xfrm>
        </p:grpSpPr>
        <p:sp>
          <p:nvSpPr>
            <p:cNvPr id="6" name="Chart point 1 number" descr="pptx-deck-generated"/>
            <p:cNvSpPr/>
            <p:nvPr/>
          </p:nvSpPr>
          <p:spPr>
            <a:xfrm>
              <a:off x="0" y="85344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7" name="Chart point 1" descr="pptx-deck-generated"/>
            <p:cNvSpPr txBox="1"/>
            <p:nvPr/>
          </p:nvSpPr>
          <p:spPr>
            <a:xfrm>
              <a:off x="374904" y="0"/>
              <a:ext cx="3571097" cy="5547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FAQ利用の推移を確認</a:t>
              </a:r>
            </a:p>
          </p:txBody>
        </p:sp>
      </p:grpSp>
      <p:grpSp>
        <p:nvGrpSpPr>
          <p:cNvPr id="8" name="Chart 2" descr="pptx-deck-generated"/>
          <p:cNvGrpSpPr/>
          <p:nvPr/>
        </p:nvGrpSpPr>
        <p:grpSpPr>
          <a:xfrm>
            <a:off x="7676022" y="3631692"/>
            <a:ext cx="3946001" cy="554735"/>
            <a:chOff x="0" y="0"/>
            <a:chExt cx="3946001" cy="554735"/>
          </a:xfrm>
        </p:grpSpPr>
        <p:sp>
          <p:nvSpPr>
            <p:cNvPr id="9" name="Chart point 2 number" descr="pptx-deck-generated"/>
            <p:cNvSpPr/>
            <p:nvPr/>
          </p:nvSpPr>
          <p:spPr>
            <a:xfrm>
              <a:off x="0" y="85344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0" name="Chart point 2" descr="pptx-deck-generated"/>
            <p:cNvSpPr txBox="1"/>
            <p:nvPr/>
          </p:nvSpPr>
          <p:spPr>
            <a:xfrm>
              <a:off x="374904" y="0"/>
              <a:ext cx="3571097" cy="5547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未解決の理由を分類</a:t>
              </a:r>
            </a:p>
          </p:txBody>
        </p:sp>
      </p:grpSp>
      <p:grpSp>
        <p:nvGrpSpPr>
          <p:cNvPr id="11" name="Chart 3" descr="pptx-deck-generated"/>
          <p:cNvGrpSpPr/>
          <p:nvPr/>
        </p:nvGrpSpPr>
        <p:grpSpPr>
          <a:xfrm>
            <a:off x="7676022" y="4223004"/>
            <a:ext cx="3946001" cy="554735"/>
            <a:chOff x="0" y="0"/>
            <a:chExt cx="3946001" cy="554735"/>
          </a:xfrm>
        </p:grpSpPr>
        <p:sp>
          <p:nvSpPr>
            <p:cNvPr id="12" name="Chart point 3 number" descr="pptx-deck-generated"/>
            <p:cNvSpPr/>
            <p:nvPr/>
          </p:nvSpPr>
          <p:spPr>
            <a:xfrm>
              <a:off x="0" y="85344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3" name="Chart point 3" descr="pptx-deck-generated"/>
            <p:cNvSpPr txBox="1"/>
            <p:nvPr/>
          </p:nvSpPr>
          <p:spPr>
            <a:xfrm>
              <a:off x="374904" y="0"/>
              <a:ext cx="3571097" cy="5547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月次で内容を更新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受付・解決数を把握</a:t>
            </a:r>
          </a:p>
        </p:txBody>
      </p:sp>
      <p:graphicFrame>
        <p:nvGraphicFramePr>
          <p:cNvPr id="3" name="Library chart" descr="pptx-deck-generated"/>
          <p:cNvGraphicFramePr>
            <a:graphicFrameLocks noGrp="1"/>
          </p:cNvGraphicFramePr>
          <p:nvPr/>
        </p:nvGraphicFramePr>
        <p:xfrm>
          <a:off x="457200" y="1645920"/>
          <a:ext cx="11274552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0F5B4F"/>
      </a:dk2>
      <a:lt2>
        <a:srgbClr val="EEF4F2"/>
      </a:lt2>
      <a:accent1>
        <a:srgbClr val="0F5B4F"/>
      </a:accent1>
      <a:accent2>
        <a:srgbClr val="E07A1F"/>
      </a:accent2>
      <a:accent3>
        <a:srgbClr val="6C817B"/>
      </a:accent3>
      <a:accent4>
        <a:srgbClr val="9DAEA9"/>
      </a:accent4>
      <a:accent5>
        <a:srgbClr val="CAD4D1"/>
      </a:accent5>
      <a:accent6>
        <a:srgbClr val="718782"/>
      </a:accent6>
      <a:hlink>
        <a:srgbClr val="E07A1F"/>
      </a:hlink>
      <a:folHlink>
        <a:srgbClr val="8F5522"/>
      </a:folHlink>
    </a:clrScheme>
    <a:fontScheme name="Office">
      <a:maj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