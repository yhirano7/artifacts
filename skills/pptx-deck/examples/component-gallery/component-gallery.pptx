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自己解決率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10月</c:v>
                </c:pt>
                <c:pt idx="1">
                  <c:v>11月</c:v>
                </c:pt>
                <c:pt idx="2">
                  <c:v>12月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0.42</c:v>
                </c:pt>
                <c:pt idx="1">
                  <c:v>0.58</c:v>
                </c:pt>
                <c:pt idx="2">
                  <c:v>0.72</c:v>
                </c:pt>
              </c:numCache>
            </c:numRef>
          </c:val>
          <c:spPr>
            <a:solidFill>
              <a:schemeClr val="accent1"/>
            </a:solidFill>
          </c:spPr>
        </c:ser>
        <c:dLbls>
          <c:numFmt formatCode="0%" sourceLinked="0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受付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10月</c:v>
                </c:pt>
                <c:pt idx="1">
                  <c:v>11月</c:v>
                </c:pt>
                <c:pt idx="2">
                  <c:v>12月</c:v>
                </c:pt>
                <c:pt idx="3">
                  <c:v>1月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135</c:v>
                </c:pt>
                <c:pt idx="2">
                  <c:v>150</c:v>
                </c:pt>
                <c:pt idx="3">
                  <c:v>146</c:v>
                </c:pt>
              </c:numCache>
            </c:numRef>
          </c:val>
          <c:smooth val="0"/>
          <c:spPr>
            <a:solidFill>
              <a:schemeClr val="accent1"/>
            </a:solidFill>
          </c:spPr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解決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10月</c:v>
                </c:pt>
                <c:pt idx="1">
                  <c:v>11月</c:v>
                </c:pt>
                <c:pt idx="2">
                  <c:v>12月</c:v>
                </c:pt>
                <c:pt idx="3">
                  <c:v>1月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108</c:v>
                </c:pt>
                <c:pt idx="1">
                  <c:v>122</c:v>
                </c:pt>
                <c:pt idx="2">
                  <c:v>136</c:v>
                </c:pt>
                <c:pt idx="3">
                  <c:v>158</c:v>
                </c:pt>
              </c:numCache>
            </c:numRef>
          </c:val>
          <c:smooth val="0"/>
          <c:spPr>
            <a:solidFill>
              <a:schemeClr val="accent2"/>
            </a:solidFill>
          </c:spPr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窓口を一本化し、共通の分類と回答ナレッジで運用する。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標準化した受付情報をチーム間で共有する。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試行結果を反映してから全社へ展開する。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数値は初期目標の例であり、試行結果に基づいて見直す。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初期の運用目標をシンプルに示した例。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受付から記録までの標準フローを示す。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問い合わせをナレッジ改善へつなげる循環を示す。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部門をまたぐ問い合わせの流れを示す。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導入前後の運用差を比較する。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一次窓口と専門チームの役割分担を示す。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分類基準は部門間で合意して運用する。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自己解決を土台に、専門性が必要な案件へ人員を集中する。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共通の受付情報を使って担当を判断する。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日々の対応とナレッジ更新をつなぐ。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複数の運用要素を一体として整備する。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小規模な試行で受付項目を確かめてから対象を広げる。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提案の中心となるメッセージを強調する。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ナレッジ共有の目指す状態を短く表現する。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準備状況と担当・期限を一覧で確認する。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数値は運用イメージを示す架空の例で、実績値ではない。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問い合わせ件数は説明用の架空データ。受付と解決の差を継続確認する。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 anchor="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11274552" cy="4525963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 anchor="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21.xml"/></Relationships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社内問い合わせ窓口を一本化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t>コンポーネントギャラリー | Sample Org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/>
          <a:lstStyle/>
          <a:p>
            <a:r>
              <a:t>受付を一つにまとめる</a:t>
            </a:r>
          </a:p>
        </p:txBody>
      </p:sp>
      <p:sp>
        <p:nvSpPr>
          <p:cNvPr id="3" name="Component lead" descr="pptx-deck-generated"/>
          <p:cNvSpPr txBox="1"/>
          <p:nvPr/>
        </p:nvSpPr>
        <p:spPr>
          <a:xfrm>
            <a:off x="457200" y="1554480"/>
            <a:ext cx="11274552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82296" rIns="8229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dk1"/>
                </a:solidFill>
                <a:latin typeface="Yu Gothic"/>
                <a:ea typeface="Yu Gothic"/>
              </a:rPr>
              <a:t>窓口統合で変える三つのポイント</a:t>
            </a:r>
          </a:p>
        </p:txBody>
      </p:sp>
      <p:grpSp>
        <p:nvGrpSpPr>
          <p:cNvPr id="4" name="Cards 1" descr="pptx-deck-generated"/>
          <p:cNvGrpSpPr/>
          <p:nvPr/>
        </p:nvGrpSpPr>
        <p:grpSpPr>
          <a:xfrm>
            <a:off x="457200" y="2011680"/>
            <a:ext cx="3648456" cy="4160520"/>
            <a:chOff x="0" y="0"/>
            <a:chExt cx="3648456" cy="4160520"/>
          </a:xfrm>
        </p:grpSpPr>
        <p:sp>
          <p:nvSpPr>
            <p:cNvPr id="5" name="Card 1 body" descr="pptx-deck-generated"/>
            <p:cNvSpPr/>
            <p:nvPr/>
          </p:nvSpPr>
          <p:spPr>
            <a:xfrm>
              <a:off x="0" y="0"/>
              <a:ext cx="3648456" cy="4160520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Card 1 heading" descr="pptx-deck-generated"/>
            <p:cNvSpPr/>
            <p:nvPr/>
          </p:nvSpPr>
          <p:spPr>
            <a:xfrm>
              <a:off x="0" y="0"/>
              <a:ext cx="3648456" cy="566928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受付を集約</a:t>
              </a:r>
            </a:p>
          </p:txBody>
        </p:sp>
        <p:sp>
          <p:nvSpPr>
            <p:cNvPr id="7" name="Card 1 copy" descr="pptx-deck-generated"/>
            <p:cNvSpPr txBox="1"/>
            <p:nvPr/>
          </p:nvSpPr>
          <p:spPr>
            <a:xfrm>
              <a:off x="109728" y="640080"/>
              <a:ext cx="3429000" cy="344728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• 申請先を一つにして迷いを減らす</a:t>
              </a:r>
            </a:p>
          </p:txBody>
        </p:sp>
      </p:grpSp>
      <p:grpSp>
        <p:nvGrpSpPr>
          <p:cNvPr id="8" name="Cards 2" descr="pptx-deck-generated"/>
          <p:cNvGrpSpPr/>
          <p:nvPr/>
        </p:nvGrpSpPr>
        <p:grpSpPr>
          <a:xfrm>
            <a:off x="4270248" y="2011680"/>
            <a:ext cx="3648456" cy="4160520"/>
            <a:chOff x="0" y="0"/>
            <a:chExt cx="3648456" cy="4160520"/>
          </a:xfrm>
        </p:grpSpPr>
        <p:sp>
          <p:nvSpPr>
            <p:cNvPr id="9" name="Card 2 body" descr="pptx-deck-generated"/>
            <p:cNvSpPr/>
            <p:nvPr/>
          </p:nvSpPr>
          <p:spPr>
            <a:xfrm>
              <a:off x="0" y="0"/>
              <a:ext cx="3648456" cy="4160520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Card 2 heading" descr="pptx-deck-generated"/>
            <p:cNvSpPr/>
            <p:nvPr/>
          </p:nvSpPr>
          <p:spPr>
            <a:xfrm>
              <a:off x="0" y="0"/>
              <a:ext cx="3648456" cy="566928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分類を共通化</a:t>
              </a:r>
            </a:p>
          </p:txBody>
        </p:sp>
        <p:sp>
          <p:nvSpPr>
            <p:cNvPr id="11" name="Card 2 copy" descr="pptx-deck-generated"/>
            <p:cNvSpPr txBox="1"/>
            <p:nvPr/>
          </p:nvSpPr>
          <p:spPr>
            <a:xfrm>
              <a:off x="109728" y="640080"/>
              <a:ext cx="3429000" cy="344728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• カテゴリと優先度を統一する</a:t>
              </a:r>
            </a:p>
          </p:txBody>
        </p:sp>
      </p:grpSp>
      <p:grpSp>
        <p:nvGrpSpPr>
          <p:cNvPr id="12" name="Cards 3" descr="pptx-deck-generated"/>
          <p:cNvGrpSpPr/>
          <p:nvPr/>
        </p:nvGrpSpPr>
        <p:grpSpPr>
          <a:xfrm>
            <a:off x="8083296" y="2011680"/>
            <a:ext cx="3648456" cy="4160520"/>
            <a:chOff x="0" y="0"/>
            <a:chExt cx="3648456" cy="4160520"/>
          </a:xfrm>
        </p:grpSpPr>
        <p:sp>
          <p:nvSpPr>
            <p:cNvPr id="13" name="Card 3 body" descr="pptx-deck-generated"/>
            <p:cNvSpPr/>
            <p:nvPr/>
          </p:nvSpPr>
          <p:spPr>
            <a:xfrm>
              <a:off x="0" y="0"/>
              <a:ext cx="3648456" cy="4160520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Card 3 heading" descr="pptx-deck-generated"/>
            <p:cNvSpPr/>
            <p:nvPr/>
          </p:nvSpPr>
          <p:spPr>
            <a:xfrm>
              <a:off x="0" y="0"/>
              <a:ext cx="3648456" cy="566928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回答を再利用</a:t>
              </a:r>
            </a:p>
          </p:txBody>
        </p:sp>
        <p:sp>
          <p:nvSpPr>
            <p:cNvPr id="15" name="Card 3 copy" descr="pptx-deck-generated"/>
            <p:cNvSpPr txBox="1"/>
            <p:nvPr/>
          </p:nvSpPr>
          <p:spPr>
            <a:xfrm>
              <a:off x="109727" y="640080"/>
              <a:ext cx="3429000" cy="344728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• FAQを育て、重複対応を減らす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/>
          <a:lstStyle/>
          <a:p>
            <a:r>
              <a:t>受付から回答までを標準化する</a:t>
            </a:r>
          </a:p>
        </p:txBody>
      </p:sp>
      <p:sp>
        <p:nvSpPr>
          <p:cNvPr id="3" name="Component takeaway" descr="pptx-deck-generated"/>
          <p:cNvSpPr/>
          <p:nvPr/>
        </p:nvSpPr>
        <p:spPr>
          <a:xfrm>
            <a:off x="457200" y="5660136"/>
            <a:ext cx="11274552" cy="512064"/>
          </a:xfrm>
          <a:prstGeom prst="roundRect">
            <a:avLst/>
          </a:prstGeom>
          <a:solidFill>
            <a:schemeClr val="accent1">
              <a:lumMod val="15000"/>
              <a:lumOff val="85000"/>
            </a:schemeClr>
          </a:solidFill>
          <a:ln w="9525">
            <a:solidFill>
              <a:schemeClr val="lt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akeaway accent" descr="pptx-deck-generated"/>
          <p:cNvSpPr/>
          <p:nvPr/>
        </p:nvSpPr>
        <p:spPr>
          <a:xfrm>
            <a:off x="457200" y="5660136"/>
            <a:ext cx="82296" cy="512064"/>
          </a:xfrm>
          <a:prstGeom prst="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akeaway text" descr="pptx-deck-generated"/>
          <p:cNvSpPr txBox="1"/>
          <p:nvPr/>
        </p:nvSpPr>
        <p:spPr>
          <a:xfrm>
            <a:off x="603504" y="5687568"/>
            <a:ext cx="11073384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82296" rIns="8229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chemeClr val="dk1"/>
                </a:solidFill>
                <a:latin typeface="Yu Gothic"/>
                <a:ea typeface="Yu Gothic"/>
              </a:rPr>
              <a:t>問い合わせ状況と解決内容を一元管理する</a:t>
            </a:r>
          </a:p>
        </p:txBody>
      </p:sp>
      <p:grpSp>
        <p:nvGrpSpPr>
          <p:cNvPr id="6" name="Cards 1" descr="pptx-deck-generated"/>
          <p:cNvGrpSpPr/>
          <p:nvPr/>
        </p:nvGrpSpPr>
        <p:grpSpPr>
          <a:xfrm>
            <a:off x="457200" y="1554480"/>
            <a:ext cx="3648456" cy="3995927"/>
            <a:chOff x="0" y="0"/>
            <a:chExt cx="3648456" cy="3995927"/>
          </a:xfrm>
        </p:grpSpPr>
        <p:sp>
          <p:nvSpPr>
            <p:cNvPr id="7" name="Card 1 panel" descr="pptx-deck-generated"/>
            <p:cNvSpPr/>
            <p:nvPr/>
          </p:nvSpPr>
          <p:spPr>
            <a:xfrm>
              <a:off x="0" y="0"/>
              <a:ext cx="3648456" cy="3995927"/>
            </a:xfrm>
            <a:prstGeom prst="roundRect">
              <a:avLst/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Card 1 accent" descr="pptx-deck-generated"/>
            <p:cNvSpPr/>
            <p:nvPr/>
          </p:nvSpPr>
          <p:spPr>
            <a:xfrm>
              <a:off x="0" y="0"/>
              <a:ext cx="3648456" cy="73152"/>
            </a:xfrm>
            <a:prstGeom prst="rect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Card 1 heading" descr="pptx-deck-generated"/>
            <p:cNvSpPr txBox="1"/>
            <p:nvPr/>
          </p:nvSpPr>
          <p:spPr>
            <a:xfrm>
              <a:off x="128016" y="137159"/>
              <a:ext cx="3392424" cy="43891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accent1"/>
                  </a:solidFill>
                  <a:latin typeface="Yu Gothic"/>
                  <a:ea typeface="Yu Gothic"/>
                </a:rPr>
                <a:t>受け付ける</a:t>
              </a:r>
            </a:p>
          </p:txBody>
        </p:sp>
        <p:sp>
          <p:nvSpPr>
            <p:cNvPr id="10" name="Card 1 copy" descr="pptx-deck-generated"/>
            <p:cNvSpPr txBox="1"/>
            <p:nvPr/>
          </p:nvSpPr>
          <p:spPr>
            <a:xfrm>
              <a:off x="128016" y="640080"/>
              <a:ext cx="3392424" cy="324611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• フォームで必要情報を収集</a:t>
              </a:r>
            </a:p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• 受付通知を自動送信</a:t>
              </a:r>
            </a:p>
          </p:txBody>
        </p:sp>
      </p:grpSp>
      <p:grpSp>
        <p:nvGrpSpPr>
          <p:cNvPr id="11" name="Cards 2" descr="pptx-deck-generated"/>
          <p:cNvGrpSpPr/>
          <p:nvPr/>
        </p:nvGrpSpPr>
        <p:grpSpPr>
          <a:xfrm>
            <a:off x="4270248" y="1554480"/>
            <a:ext cx="3648456" cy="3995927"/>
            <a:chOff x="0" y="0"/>
            <a:chExt cx="3648456" cy="3995927"/>
          </a:xfrm>
        </p:grpSpPr>
        <p:sp>
          <p:nvSpPr>
            <p:cNvPr id="12" name="Card 2 panel" descr="pptx-deck-generated"/>
            <p:cNvSpPr/>
            <p:nvPr/>
          </p:nvSpPr>
          <p:spPr>
            <a:xfrm>
              <a:off x="0" y="0"/>
              <a:ext cx="3648456" cy="3995927"/>
            </a:xfrm>
            <a:prstGeom prst="roundRect">
              <a:avLst/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Card 2 accent" descr="pptx-deck-generated"/>
            <p:cNvSpPr/>
            <p:nvPr/>
          </p:nvSpPr>
          <p:spPr>
            <a:xfrm>
              <a:off x="0" y="0"/>
              <a:ext cx="3648456" cy="73152"/>
            </a:xfrm>
            <a:prstGeom prst="rect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Card 2 heading" descr="pptx-deck-generated"/>
            <p:cNvSpPr txBox="1"/>
            <p:nvPr/>
          </p:nvSpPr>
          <p:spPr>
            <a:xfrm>
              <a:off x="128016" y="137159"/>
              <a:ext cx="3392424" cy="43891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accent1"/>
                  </a:solidFill>
                  <a:latin typeface="Yu Gothic"/>
                  <a:ea typeface="Yu Gothic"/>
                </a:rPr>
                <a:t>振り分ける</a:t>
              </a:r>
            </a:p>
          </p:txBody>
        </p:sp>
        <p:sp>
          <p:nvSpPr>
            <p:cNvPr id="15" name="Card 2 copy" descr="pptx-deck-generated"/>
            <p:cNvSpPr txBox="1"/>
            <p:nvPr/>
          </p:nvSpPr>
          <p:spPr>
            <a:xfrm>
              <a:off x="128016" y="640080"/>
              <a:ext cx="3392424" cy="324611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• 共通カテゴリで分類</a:t>
              </a:r>
            </a:p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• 担当チームへ割り当て</a:t>
              </a:r>
            </a:p>
          </p:txBody>
        </p:sp>
      </p:grpSp>
      <p:grpSp>
        <p:nvGrpSpPr>
          <p:cNvPr id="16" name="Cards 3" descr="pptx-deck-generated"/>
          <p:cNvGrpSpPr/>
          <p:nvPr/>
        </p:nvGrpSpPr>
        <p:grpSpPr>
          <a:xfrm>
            <a:off x="8083296" y="1554480"/>
            <a:ext cx="3648456" cy="3995927"/>
            <a:chOff x="0" y="0"/>
            <a:chExt cx="3648456" cy="3995927"/>
          </a:xfrm>
        </p:grpSpPr>
        <p:sp>
          <p:nvSpPr>
            <p:cNvPr id="17" name="Card 3 panel" descr="pptx-deck-generated"/>
            <p:cNvSpPr/>
            <p:nvPr/>
          </p:nvSpPr>
          <p:spPr>
            <a:xfrm>
              <a:off x="0" y="0"/>
              <a:ext cx="3648456" cy="3995927"/>
            </a:xfrm>
            <a:prstGeom prst="roundRect">
              <a:avLst/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Card 3 accent" descr="pptx-deck-generated"/>
            <p:cNvSpPr/>
            <p:nvPr/>
          </p:nvSpPr>
          <p:spPr>
            <a:xfrm>
              <a:off x="0" y="0"/>
              <a:ext cx="3648456" cy="73152"/>
            </a:xfrm>
            <a:prstGeom prst="rect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Card 3 heading" descr="pptx-deck-generated"/>
            <p:cNvSpPr txBox="1"/>
            <p:nvPr/>
          </p:nvSpPr>
          <p:spPr>
            <a:xfrm>
              <a:off x="128016" y="137159"/>
              <a:ext cx="3392424" cy="43891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accent1"/>
                  </a:solidFill>
                  <a:latin typeface="Yu Gothic"/>
                  <a:ea typeface="Yu Gothic"/>
                </a:rPr>
                <a:t>回答する</a:t>
              </a:r>
            </a:p>
          </p:txBody>
        </p:sp>
        <p:sp>
          <p:nvSpPr>
            <p:cNvPr id="20" name="Card 3 copy" descr="pptx-deck-generated"/>
            <p:cNvSpPr txBox="1"/>
            <p:nvPr/>
          </p:nvSpPr>
          <p:spPr>
            <a:xfrm>
              <a:off x="128016" y="640080"/>
              <a:ext cx="3392424" cy="324611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• FAQを確認</a:t>
              </a:r>
            </a:p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• 解決内容を記録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/>
          <a:lstStyle/>
          <a:p>
            <a:r>
              <a:t>段階的に定着させる</a:t>
            </a:r>
          </a:p>
        </p:txBody>
      </p:sp>
      <p:grpSp>
        <p:nvGrpSpPr>
          <p:cNvPr id="3" name="Cards 1" descr="pptx-deck-generated"/>
          <p:cNvGrpSpPr/>
          <p:nvPr/>
        </p:nvGrpSpPr>
        <p:grpSpPr>
          <a:xfrm>
            <a:off x="457200" y="1554480"/>
            <a:ext cx="3648456" cy="4617720"/>
            <a:chOff x="0" y="0"/>
            <a:chExt cx="3648456" cy="4617720"/>
          </a:xfrm>
        </p:grpSpPr>
        <p:sp>
          <p:nvSpPr>
            <p:cNvPr id="4" name="Card 1 panel" descr="pptx-deck-generated"/>
            <p:cNvSpPr/>
            <p:nvPr/>
          </p:nvSpPr>
          <p:spPr>
            <a:xfrm>
              <a:off x="0" y="0"/>
              <a:ext cx="3648456" cy="4617720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Card 1 number" descr="pptx-deck-generated"/>
            <p:cNvSpPr/>
            <p:nvPr/>
          </p:nvSpPr>
          <p:spPr>
            <a:xfrm>
              <a:off x="128016" y="109727"/>
              <a:ext cx="384048" cy="384048"/>
            </a:xfrm>
            <a:prstGeom prst="ellipse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1">
                  <a:solidFill>
                    <a:schemeClr val="lt1"/>
                  </a:solidFill>
                  <a:latin typeface="Yu Gothic"/>
                  <a:ea typeface="Yu Gothic"/>
                </a:rPr>
                <a:t>1</a:t>
              </a:r>
            </a:p>
          </p:txBody>
        </p:sp>
        <p:sp>
          <p:nvSpPr>
            <p:cNvPr id="6" name="Card 1 heading" descr="pptx-deck-generated"/>
            <p:cNvSpPr txBox="1"/>
            <p:nvPr/>
          </p:nvSpPr>
          <p:spPr>
            <a:xfrm>
              <a:off x="585216" y="91440"/>
              <a:ext cx="2935224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試行</a:t>
              </a:r>
            </a:p>
          </p:txBody>
        </p:sp>
        <p:sp>
          <p:nvSpPr>
            <p:cNvPr id="7" name="Card 1 copy" descr="pptx-deck-generated"/>
            <p:cNvSpPr txBox="1"/>
            <p:nvPr/>
          </p:nvSpPr>
          <p:spPr>
            <a:xfrm>
              <a:off x="146304" y="640080"/>
              <a:ext cx="3355848" cy="386791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• 対象部門を絞り、受付項目を検証</a:t>
              </a:r>
            </a:p>
          </p:txBody>
        </p:sp>
      </p:grpSp>
      <p:grpSp>
        <p:nvGrpSpPr>
          <p:cNvPr id="8" name="Cards 2" descr="pptx-deck-generated"/>
          <p:cNvGrpSpPr/>
          <p:nvPr/>
        </p:nvGrpSpPr>
        <p:grpSpPr>
          <a:xfrm>
            <a:off x="4270248" y="1554480"/>
            <a:ext cx="3648456" cy="4617720"/>
            <a:chOff x="0" y="0"/>
            <a:chExt cx="3648456" cy="4617720"/>
          </a:xfrm>
        </p:grpSpPr>
        <p:sp>
          <p:nvSpPr>
            <p:cNvPr id="9" name="Card 2 panel" descr="pptx-deck-generated"/>
            <p:cNvSpPr/>
            <p:nvPr/>
          </p:nvSpPr>
          <p:spPr>
            <a:xfrm>
              <a:off x="0" y="0"/>
              <a:ext cx="3648456" cy="4617720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Card 2 number" descr="pptx-deck-generated"/>
            <p:cNvSpPr/>
            <p:nvPr/>
          </p:nvSpPr>
          <p:spPr>
            <a:xfrm>
              <a:off x="128016" y="109727"/>
              <a:ext cx="384048" cy="384048"/>
            </a:xfrm>
            <a:prstGeom prst="ellipse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1">
                  <a:solidFill>
                    <a:schemeClr val="lt1"/>
                  </a:solidFill>
                  <a:latin typeface="Yu Gothic"/>
                  <a:ea typeface="Yu Gothic"/>
                </a:rPr>
                <a:t>2</a:t>
              </a:r>
            </a:p>
          </p:txBody>
        </p:sp>
        <p:sp>
          <p:nvSpPr>
            <p:cNvPr id="11" name="Card 2 heading" descr="pptx-deck-generated"/>
            <p:cNvSpPr txBox="1"/>
            <p:nvPr/>
          </p:nvSpPr>
          <p:spPr>
            <a:xfrm>
              <a:off x="585216" y="91440"/>
              <a:ext cx="2935224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展開</a:t>
              </a:r>
            </a:p>
          </p:txBody>
        </p:sp>
        <p:sp>
          <p:nvSpPr>
            <p:cNvPr id="12" name="Card 2 copy" descr="pptx-deck-generated"/>
            <p:cNvSpPr txBox="1"/>
            <p:nvPr/>
          </p:nvSpPr>
          <p:spPr>
            <a:xfrm>
              <a:off x="146304" y="640080"/>
              <a:ext cx="3355848" cy="386791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• FAQと担当範囲を整えて対象拡大</a:t>
              </a:r>
            </a:p>
          </p:txBody>
        </p:sp>
      </p:grpSp>
      <p:grpSp>
        <p:nvGrpSpPr>
          <p:cNvPr id="13" name="Cards 3" descr="pptx-deck-generated"/>
          <p:cNvGrpSpPr/>
          <p:nvPr/>
        </p:nvGrpSpPr>
        <p:grpSpPr>
          <a:xfrm>
            <a:off x="8083296" y="1554480"/>
            <a:ext cx="3648456" cy="4617720"/>
            <a:chOff x="0" y="0"/>
            <a:chExt cx="3648456" cy="4617720"/>
          </a:xfrm>
        </p:grpSpPr>
        <p:sp>
          <p:nvSpPr>
            <p:cNvPr id="14" name="Card 3 panel" descr="pptx-deck-generated"/>
            <p:cNvSpPr/>
            <p:nvPr/>
          </p:nvSpPr>
          <p:spPr>
            <a:xfrm>
              <a:off x="0" y="0"/>
              <a:ext cx="3648456" cy="4617720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Card 3 number" descr="pptx-deck-generated"/>
            <p:cNvSpPr/>
            <p:nvPr/>
          </p:nvSpPr>
          <p:spPr>
            <a:xfrm>
              <a:off x="128016" y="109727"/>
              <a:ext cx="384048" cy="384048"/>
            </a:xfrm>
            <a:prstGeom prst="ellipse">
              <a:avLst/>
            </a:prstGeom>
            <a:solidFill>
              <a:schemeClr val="accent2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1">
                  <a:solidFill>
                    <a:schemeClr val="dk1"/>
                  </a:solidFill>
                  <a:latin typeface="Yu Gothic"/>
                  <a:ea typeface="Yu Gothic"/>
                </a:rPr>
                <a:t>3</a:t>
              </a:r>
            </a:p>
          </p:txBody>
        </p:sp>
        <p:sp>
          <p:nvSpPr>
            <p:cNvPr id="16" name="Card 3 heading" descr="pptx-deck-generated"/>
            <p:cNvSpPr txBox="1"/>
            <p:nvPr/>
          </p:nvSpPr>
          <p:spPr>
            <a:xfrm>
              <a:off x="585216" y="91440"/>
              <a:ext cx="2935224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定着</a:t>
              </a:r>
            </a:p>
          </p:txBody>
        </p:sp>
        <p:sp>
          <p:nvSpPr>
            <p:cNvPr id="17" name="Card 3 copy" descr="pptx-deck-generated"/>
            <p:cNvSpPr txBox="1"/>
            <p:nvPr/>
          </p:nvSpPr>
          <p:spPr>
            <a:xfrm>
              <a:off x="146304" y="640080"/>
              <a:ext cx="3355848" cy="386791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• 実績を見て手順とナレッジを更新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/>
          <a:lstStyle/>
          <a:p>
            <a:r>
              <a:t>受付集約で対応状況を見える化</a:t>
            </a:r>
          </a:p>
        </p:txBody>
      </p:sp>
      <p:grpSp>
        <p:nvGrpSpPr>
          <p:cNvPr id="3" name="KPI 1" descr="pptx-deck-generated"/>
          <p:cNvGrpSpPr/>
          <p:nvPr/>
        </p:nvGrpSpPr>
        <p:grpSpPr>
          <a:xfrm>
            <a:off x="457200" y="1554480"/>
            <a:ext cx="2708910" cy="4617720"/>
            <a:chOff x="0" y="0"/>
            <a:chExt cx="2708910" cy="4617720"/>
          </a:xfrm>
        </p:grpSpPr>
        <p:sp>
          <p:nvSpPr>
            <p:cNvPr id="4" name="KPI 1 tile" descr="pptx-deck-generated"/>
            <p:cNvSpPr/>
            <p:nvPr/>
          </p:nvSpPr>
          <p:spPr>
            <a:xfrm>
              <a:off x="0" y="0"/>
              <a:ext cx="2708910" cy="4617720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KPI 1 value" descr="pptx-deck-generated"/>
            <p:cNvSpPr txBox="1"/>
            <p:nvPr/>
          </p:nvSpPr>
          <p:spPr>
            <a:xfrm>
              <a:off x="109728" y="292608"/>
              <a:ext cx="2489454" cy="7772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3600" b="1">
                  <a:solidFill>
                    <a:schemeClr val="accent1"/>
                  </a:solidFill>
                  <a:latin typeface="Yu Gothic"/>
                  <a:ea typeface="Yu Gothic"/>
                </a:rPr>
                <a:t>1</a:t>
              </a:r>
            </a:p>
          </p:txBody>
        </p:sp>
        <p:sp>
          <p:nvSpPr>
            <p:cNvPr id="6" name="KPI 1 unit" descr="pptx-deck-generated"/>
            <p:cNvSpPr txBox="1"/>
            <p:nvPr/>
          </p:nvSpPr>
          <p:spPr>
            <a:xfrm>
              <a:off x="109728" y="1033272"/>
              <a:ext cx="248945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窓口</a:t>
              </a:r>
            </a:p>
          </p:txBody>
        </p:sp>
        <p:sp>
          <p:nvSpPr>
            <p:cNvPr id="7" name="KPI 1 label" descr="pptx-deck-generated"/>
            <p:cNvSpPr txBox="1"/>
            <p:nvPr/>
          </p:nvSpPr>
          <p:spPr>
            <a:xfrm>
              <a:off x="109728" y="1417320"/>
              <a:ext cx="2489454" cy="53035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受付先</a:t>
              </a:r>
            </a:p>
          </p:txBody>
        </p:sp>
      </p:grpSp>
      <p:grpSp>
        <p:nvGrpSpPr>
          <p:cNvPr id="8" name="KPI 2" descr="pptx-deck-generated"/>
          <p:cNvGrpSpPr/>
          <p:nvPr/>
        </p:nvGrpSpPr>
        <p:grpSpPr>
          <a:xfrm>
            <a:off x="3312414" y="1554480"/>
            <a:ext cx="2708910" cy="4617720"/>
            <a:chOff x="0" y="0"/>
            <a:chExt cx="2708910" cy="4617720"/>
          </a:xfrm>
        </p:grpSpPr>
        <p:sp>
          <p:nvSpPr>
            <p:cNvPr id="9" name="KPI 2 tile" descr="pptx-deck-generated"/>
            <p:cNvSpPr/>
            <p:nvPr/>
          </p:nvSpPr>
          <p:spPr>
            <a:xfrm>
              <a:off x="0" y="0"/>
              <a:ext cx="2708910" cy="4617720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KPI 2 value" descr="pptx-deck-generated"/>
            <p:cNvSpPr txBox="1"/>
            <p:nvPr/>
          </p:nvSpPr>
          <p:spPr>
            <a:xfrm>
              <a:off x="109728" y="292608"/>
              <a:ext cx="2489454" cy="7772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3600" b="1">
                  <a:solidFill>
                    <a:schemeClr val="accent1"/>
                  </a:solidFill>
                  <a:latin typeface="Yu Gothic"/>
                  <a:ea typeface="Yu Gothic"/>
                </a:rPr>
                <a:t>3</a:t>
              </a:r>
            </a:p>
          </p:txBody>
        </p:sp>
        <p:sp>
          <p:nvSpPr>
            <p:cNvPr id="11" name="KPI 2 unit" descr="pptx-deck-generated"/>
            <p:cNvSpPr txBox="1"/>
            <p:nvPr/>
          </p:nvSpPr>
          <p:spPr>
            <a:xfrm>
              <a:off x="109728" y="1033272"/>
              <a:ext cx="248945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営業日</a:t>
              </a:r>
            </a:p>
          </p:txBody>
        </p:sp>
        <p:sp>
          <p:nvSpPr>
            <p:cNvPr id="12" name="KPI 2 label" descr="pptx-deck-generated"/>
            <p:cNvSpPr txBox="1"/>
            <p:nvPr/>
          </p:nvSpPr>
          <p:spPr>
            <a:xfrm>
              <a:off x="109728" y="1417320"/>
              <a:ext cx="2489454" cy="53035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初回回答目標</a:t>
              </a:r>
            </a:p>
          </p:txBody>
        </p:sp>
      </p:grpSp>
      <p:grpSp>
        <p:nvGrpSpPr>
          <p:cNvPr id="13" name="KPI 3" descr="pptx-deck-generated"/>
          <p:cNvGrpSpPr/>
          <p:nvPr/>
        </p:nvGrpSpPr>
        <p:grpSpPr>
          <a:xfrm>
            <a:off x="6167628" y="1554480"/>
            <a:ext cx="2708910" cy="4617720"/>
            <a:chOff x="0" y="0"/>
            <a:chExt cx="2708910" cy="4617720"/>
          </a:xfrm>
        </p:grpSpPr>
        <p:sp>
          <p:nvSpPr>
            <p:cNvPr id="14" name="KPI 3 tile" descr="pptx-deck-generated"/>
            <p:cNvSpPr/>
            <p:nvPr/>
          </p:nvSpPr>
          <p:spPr>
            <a:xfrm>
              <a:off x="0" y="0"/>
              <a:ext cx="2708910" cy="4617720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KPI 3 value" descr="pptx-deck-generated"/>
            <p:cNvSpPr txBox="1"/>
            <p:nvPr/>
          </p:nvSpPr>
          <p:spPr>
            <a:xfrm>
              <a:off x="109728" y="292608"/>
              <a:ext cx="2489454" cy="7772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3600" b="1">
                  <a:solidFill>
                    <a:schemeClr val="accent1"/>
                  </a:solidFill>
                  <a:latin typeface="Yu Gothic"/>
                  <a:ea typeface="Yu Gothic"/>
                </a:rPr>
                <a:t>80</a:t>
              </a:r>
            </a:p>
          </p:txBody>
        </p:sp>
        <p:sp>
          <p:nvSpPr>
            <p:cNvPr id="16" name="KPI 3 unit" descr="pptx-deck-generated"/>
            <p:cNvSpPr txBox="1"/>
            <p:nvPr/>
          </p:nvSpPr>
          <p:spPr>
            <a:xfrm>
              <a:off x="109728" y="1033272"/>
              <a:ext cx="248945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%</a:t>
              </a:r>
            </a:p>
          </p:txBody>
        </p:sp>
        <p:sp>
          <p:nvSpPr>
            <p:cNvPr id="17" name="KPI 3 label" descr="pptx-deck-generated"/>
            <p:cNvSpPr txBox="1"/>
            <p:nvPr/>
          </p:nvSpPr>
          <p:spPr>
            <a:xfrm>
              <a:off x="109728" y="1417320"/>
              <a:ext cx="2489454" cy="53035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FAQ自己解決目標</a:t>
              </a:r>
            </a:p>
          </p:txBody>
        </p:sp>
        <p:sp>
          <p:nvSpPr>
            <p:cNvPr id="18" name="KPI 3 note" descr="pptx-deck-generated"/>
            <p:cNvSpPr txBox="1"/>
            <p:nvPr/>
          </p:nvSpPr>
          <p:spPr>
            <a:xfrm>
              <a:off x="109728" y="2011680"/>
              <a:ext cx="2489454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試行後に見直し</a:t>
              </a:r>
            </a:p>
          </p:txBody>
        </p:sp>
      </p:grpSp>
      <p:grpSp>
        <p:nvGrpSpPr>
          <p:cNvPr id="19" name="KPI 4" descr="pptx-deck-generated"/>
          <p:cNvGrpSpPr/>
          <p:nvPr/>
        </p:nvGrpSpPr>
        <p:grpSpPr>
          <a:xfrm>
            <a:off x="9022842" y="1554480"/>
            <a:ext cx="2708910" cy="4617720"/>
            <a:chOff x="0" y="0"/>
            <a:chExt cx="2708910" cy="4617720"/>
          </a:xfrm>
        </p:grpSpPr>
        <p:sp>
          <p:nvSpPr>
            <p:cNvPr id="20" name="KPI 4 tile" descr="pptx-deck-generated"/>
            <p:cNvSpPr/>
            <p:nvPr/>
          </p:nvSpPr>
          <p:spPr>
            <a:xfrm>
              <a:off x="0" y="0"/>
              <a:ext cx="2708910" cy="4617720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KPI 4 value" descr="pptx-deck-generated"/>
            <p:cNvSpPr txBox="1"/>
            <p:nvPr/>
          </p:nvSpPr>
          <p:spPr>
            <a:xfrm>
              <a:off x="109727" y="292608"/>
              <a:ext cx="2489454" cy="7772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3600" b="1">
                  <a:solidFill>
                    <a:schemeClr val="accent1"/>
                  </a:solidFill>
                  <a:latin typeface="Yu Gothic"/>
                  <a:ea typeface="Yu Gothic"/>
                </a:rPr>
                <a:t>100</a:t>
              </a:r>
            </a:p>
          </p:txBody>
        </p:sp>
        <p:sp>
          <p:nvSpPr>
            <p:cNvPr id="22" name="KPI 4 unit" descr="pptx-deck-generated"/>
            <p:cNvSpPr txBox="1"/>
            <p:nvPr/>
          </p:nvSpPr>
          <p:spPr>
            <a:xfrm>
              <a:off x="109727" y="1033272"/>
              <a:ext cx="248945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%</a:t>
              </a:r>
            </a:p>
          </p:txBody>
        </p:sp>
        <p:sp>
          <p:nvSpPr>
            <p:cNvPr id="23" name="KPI 4 label" descr="pptx-deck-generated"/>
            <p:cNvSpPr txBox="1"/>
            <p:nvPr/>
          </p:nvSpPr>
          <p:spPr>
            <a:xfrm>
              <a:off x="109727" y="1417320"/>
              <a:ext cx="2489454" cy="53035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対応記録率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/>
          <a:lstStyle/>
          <a:p>
            <a:r>
              <a:t>受付先と応答基準を統一する</a:t>
            </a:r>
          </a:p>
        </p:txBody>
      </p:sp>
      <p:sp>
        <p:nvSpPr>
          <p:cNvPr id="3" name="Component takeaway" descr="pptx-deck-generated"/>
          <p:cNvSpPr/>
          <p:nvPr/>
        </p:nvSpPr>
        <p:spPr>
          <a:xfrm>
            <a:off x="457200" y="5660136"/>
            <a:ext cx="11274552" cy="512064"/>
          </a:xfrm>
          <a:prstGeom prst="roundRect">
            <a:avLst/>
          </a:prstGeom>
          <a:solidFill>
            <a:schemeClr val="accent1">
              <a:lumMod val="15000"/>
              <a:lumOff val="85000"/>
            </a:schemeClr>
          </a:solidFill>
          <a:ln w="9525">
            <a:solidFill>
              <a:schemeClr val="lt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akeaway accent" descr="pptx-deck-generated"/>
          <p:cNvSpPr/>
          <p:nvPr/>
        </p:nvSpPr>
        <p:spPr>
          <a:xfrm>
            <a:off x="457200" y="5660136"/>
            <a:ext cx="82296" cy="512064"/>
          </a:xfrm>
          <a:prstGeom prst="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akeaway text" descr="pptx-deck-generated"/>
          <p:cNvSpPr txBox="1"/>
          <p:nvPr/>
        </p:nvSpPr>
        <p:spPr>
          <a:xfrm>
            <a:off x="603504" y="5687568"/>
            <a:ext cx="11073384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82296" rIns="8229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chemeClr val="dk1"/>
                </a:solidFill>
                <a:latin typeface="Yu Gothic"/>
                <a:ea typeface="Yu Gothic"/>
              </a:rPr>
              <a:t>目標値は試行期間後に合意する</a:t>
            </a:r>
          </a:p>
        </p:txBody>
      </p:sp>
      <p:grpSp>
        <p:nvGrpSpPr>
          <p:cNvPr id="6" name="KPI 1" descr="pptx-deck-generated"/>
          <p:cNvGrpSpPr/>
          <p:nvPr/>
        </p:nvGrpSpPr>
        <p:grpSpPr>
          <a:xfrm>
            <a:off x="457200" y="1554480"/>
            <a:ext cx="11274552" cy="3995927"/>
            <a:chOff x="0" y="0"/>
            <a:chExt cx="11274552" cy="3995927"/>
          </a:xfrm>
        </p:grpSpPr>
        <p:sp>
          <p:nvSpPr>
            <p:cNvPr id="7" name="KPI band" descr="pptx-deck-generated"/>
            <p:cNvSpPr/>
            <p:nvPr/>
          </p:nvSpPr>
          <p:spPr>
            <a:xfrm>
              <a:off x="0" y="0"/>
              <a:ext cx="11274552" cy="3995927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KPI 1 value" descr="pptx-deck-generated"/>
            <p:cNvSpPr txBox="1"/>
            <p:nvPr/>
          </p:nvSpPr>
          <p:spPr>
            <a:xfrm>
              <a:off x="73152" y="228600"/>
              <a:ext cx="3514343" cy="9601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3600" b="1">
                  <a:solidFill>
                    <a:schemeClr val="lt1"/>
                  </a:solidFill>
                  <a:latin typeface="Yu Gothic"/>
                  <a:ea typeface="Yu Gothic"/>
                </a:rPr>
                <a:t>1 窓口</a:t>
              </a:r>
            </a:p>
          </p:txBody>
        </p:sp>
        <p:sp>
          <p:nvSpPr>
            <p:cNvPr id="9" name="KPI 1 label" descr="pptx-deck-generated"/>
            <p:cNvSpPr txBox="1"/>
            <p:nvPr/>
          </p:nvSpPr>
          <p:spPr>
            <a:xfrm>
              <a:off x="73152" y="1325880"/>
              <a:ext cx="3514343" cy="5943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受付</a:t>
              </a:r>
            </a:p>
          </p:txBody>
        </p:sp>
      </p:grpSp>
      <p:grpSp>
        <p:nvGrpSpPr>
          <p:cNvPr id="10" name="KPI 2" descr="pptx-deck-generated"/>
          <p:cNvGrpSpPr/>
          <p:nvPr/>
        </p:nvGrpSpPr>
        <p:grpSpPr>
          <a:xfrm>
            <a:off x="4190999" y="1755648"/>
            <a:ext cx="3660648" cy="3593591"/>
            <a:chOff x="0" y="0"/>
            <a:chExt cx="3660648" cy="3593591"/>
          </a:xfrm>
        </p:grpSpPr>
        <p:sp>
          <p:nvSpPr>
            <p:cNvPr id="11" name="KPI 2 divider" descr="pptx-deck-generated"/>
            <p:cNvSpPr/>
            <p:nvPr/>
          </p:nvSpPr>
          <p:spPr>
            <a:xfrm>
              <a:off x="0" y="0"/>
              <a:ext cx="9144" cy="3593591"/>
            </a:xfrm>
            <a:prstGeom prst="rect">
              <a:avLst/>
            </a:prstGeom>
            <a:solidFill>
              <a:schemeClr val="l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KPI 2 value" descr="pptx-deck-generated"/>
            <p:cNvSpPr txBox="1"/>
            <p:nvPr/>
          </p:nvSpPr>
          <p:spPr>
            <a:xfrm>
              <a:off x="146305" y="27432"/>
              <a:ext cx="3514343" cy="9601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3600" b="1">
                  <a:solidFill>
                    <a:schemeClr val="lt1"/>
                  </a:solidFill>
                  <a:latin typeface="Yu Gothic"/>
                  <a:ea typeface="Yu Gothic"/>
                </a:rPr>
                <a:t>3 日</a:t>
              </a:r>
            </a:p>
          </p:txBody>
        </p:sp>
        <p:sp>
          <p:nvSpPr>
            <p:cNvPr id="13" name="KPI 2 label" descr="pptx-deck-generated"/>
            <p:cNvSpPr txBox="1"/>
            <p:nvPr/>
          </p:nvSpPr>
          <p:spPr>
            <a:xfrm>
              <a:off x="146305" y="1124712"/>
              <a:ext cx="3514343" cy="5943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初回回答目標</a:t>
              </a:r>
            </a:p>
          </p:txBody>
        </p:sp>
      </p:grpSp>
      <p:grpSp>
        <p:nvGrpSpPr>
          <p:cNvPr id="14" name="KPI 3" descr="pptx-deck-generated"/>
          <p:cNvGrpSpPr/>
          <p:nvPr/>
        </p:nvGrpSpPr>
        <p:grpSpPr>
          <a:xfrm>
            <a:off x="7997951" y="1755648"/>
            <a:ext cx="3660648" cy="3593591"/>
            <a:chOff x="0" y="0"/>
            <a:chExt cx="3660648" cy="3593591"/>
          </a:xfrm>
        </p:grpSpPr>
        <p:sp>
          <p:nvSpPr>
            <p:cNvPr id="15" name="KPI 3 divider" descr="pptx-deck-generated"/>
            <p:cNvSpPr/>
            <p:nvPr/>
          </p:nvSpPr>
          <p:spPr>
            <a:xfrm>
              <a:off x="0" y="0"/>
              <a:ext cx="9144" cy="3593591"/>
            </a:xfrm>
            <a:prstGeom prst="rect">
              <a:avLst/>
            </a:prstGeom>
            <a:solidFill>
              <a:schemeClr val="l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KPI 3 value" descr="pptx-deck-generated"/>
            <p:cNvSpPr txBox="1"/>
            <p:nvPr/>
          </p:nvSpPr>
          <p:spPr>
            <a:xfrm>
              <a:off x="146305" y="27432"/>
              <a:ext cx="3514343" cy="9601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3600" b="1">
                  <a:solidFill>
                    <a:schemeClr val="lt1"/>
                  </a:solidFill>
                  <a:latin typeface="Yu Gothic"/>
                  <a:ea typeface="Yu Gothic"/>
                </a:rPr>
                <a:t>80 %</a:t>
              </a:r>
            </a:p>
          </p:txBody>
        </p:sp>
        <p:sp>
          <p:nvSpPr>
            <p:cNvPr id="17" name="KPI 3 label" descr="pptx-deck-generated"/>
            <p:cNvSpPr txBox="1"/>
            <p:nvPr/>
          </p:nvSpPr>
          <p:spPr>
            <a:xfrm>
              <a:off x="146305" y="1124712"/>
              <a:ext cx="3514343" cy="5943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FAQ活用目標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/>
          <a:lstStyle/>
          <a:p>
            <a:r>
              <a:t>分類から解決記録までをつなぐ</a:t>
            </a:r>
          </a:p>
        </p:txBody>
      </p:sp>
      <p:grpSp>
        <p:nvGrpSpPr>
          <p:cNvPr id="3" name="Process 1" descr="pptx-deck-generated"/>
          <p:cNvGrpSpPr/>
          <p:nvPr/>
        </p:nvGrpSpPr>
        <p:grpSpPr>
          <a:xfrm>
            <a:off x="457200" y="1664207"/>
            <a:ext cx="2686050" cy="4480561"/>
            <a:chOff x="0" y="0"/>
            <a:chExt cx="2686050" cy="4480561"/>
          </a:xfrm>
        </p:grpSpPr>
        <p:sp>
          <p:nvSpPr>
            <p:cNvPr id="4" name="Process 1 chevron" descr="pptx-deck-generated"/>
            <p:cNvSpPr/>
            <p:nvPr/>
          </p:nvSpPr>
          <p:spPr>
            <a:xfrm>
              <a:off x="0" y="0"/>
              <a:ext cx="2686050" cy="987552"/>
            </a:xfrm>
            <a:prstGeom prst="chevron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lt1"/>
                  </a:solidFill>
                  <a:latin typeface="Yu Gothic"/>
                  <a:ea typeface="Yu Gothic"/>
                </a:rPr>
                <a:t>受付</a:t>
              </a:r>
            </a:p>
          </p:txBody>
        </p:sp>
        <p:sp>
          <p:nvSpPr>
            <p:cNvPr id="5" name="Process 1 detail" descr="pptx-deck-generated"/>
            <p:cNvSpPr txBox="1"/>
            <p:nvPr/>
          </p:nvSpPr>
          <p:spPr>
            <a:xfrm>
              <a:off x="36576" y="1078993"/>
              <a:ext cx="2539746" cy="34015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• 内容と希望日を記録</a:t>
              </a:r>
            </a:p>
          </p:txBody>
        </p:sp>
      </p:grpSp>
      <p:grpSp>
        <p:nvGrpSpPr>
          <p:cNvPr id="6" name="Process 2" descr="pptx-deck-generated"/>
          <p:cNvGrpSpPr/>
          <p:nvPr/>
        </p:nvGrpSpPr>
        <p:grpSpPr>
          <a:xfrm>
            <a:off x="3344418" y="1664207"/>
            <a:ext cx="2686050" cy="4480561"/>
            <a:chOff x="0" y="0"/>
            <a:chExt cx="2686050" cy="4480561"/>
          </a:xfrm>
        </p:grpSpPr>
        <p:sp>
          <p:nvSpPr>
            <p:cNvPr id="7" name="Process 2 chevron" descr="pptx-deck-generated"/>
            <p:cNvSpPr/>
            <p:nvPr/>
          </p:nvSpPr>
          <p:spPr>
            <a:xfrm>
              <a:off x="0" y="0"/>
              <a:ext cx="2686050" cy="987552"/>
            </a:xfrm>
            <a:prstGeom prst="chevron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lt1"/>
                  </a:solidFill>
                  <a:latin typeface="Yu Gothic"/>
                  <a:ea typeface="Yu Gothic"/>
                </a:rPr>
                <a:t>分類</a:t>
              </a:r>
            </a:p>
          </p:txBody>
        </p:sp>
        <p:sp>
          <p:nvSpPr>
            <p:cNvPr id="8" name="Process 2 detail" descr="pptx-deck-generated"/>
            <p:cNvSpPr txBox="1"/>
            <p:nvPr/>
          </p:nvSpPr>
          <p:spPr>
            <a:xfrm>
              <a:off x="36576" y="1078993"/>
              <a:ext cx="2539746" cy="34015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• カテゴリと優先度を設定</a:t>
              </a:r>
            </a:p>
          </p:txBody>
        </p:sp>
      </p:grpSp>
      <p:grpSp>
        <p:nvGrpSpPr>
          <p:cNvPr id="9" name="Process 3" descr="pptx-deck-generated"/>
          <p:cNvGrpSpPr/>
          <p:nvPr/>
        </p:nvGrpSpPr>
        <p:grpSpPr>
          <a:xfrm>
            <a:off x="6231636" y="1664207"/>
            <a:ext cx="2686050" cy="4480561"/>
            <a:chOff x="0" y="0"/>
            <a:chExt cx="2686050" cy="4480561"/>
          </a:xfrm>
        </p:grpSpPr>
        <p:sp>
          <p:nvSpPr>
            <p:cNvPr id="10" name="Process 3 chevron" descr="pptx-deck-generated"/>
            <p:cNvSpPr/>
            <p:nvPr/>
          </p:nvSpPr>
          <p:spPr>
            <a:xfrm>
              <a:off x="0" y="0"/>
              <a:ext cx="2686050" cy="987552"/>
            </a:xfrm>
            <a:prstGeom prst="chevron">
              <a:avLst/>
            </a:prstGeom>
            <a:solidFill>
              <a:schemeClr val="accent2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dk1"/>
                  </a:solidFill>
                  <a:latin typeface="Yu Gothic"/>
                  <a:ea typeface="Yu Gothic"/>
                </a:rPr>
                <a:t>対応</a:t>
              </a:r>
            </a:p>
          </p:txBody>
        </p:sp>
        <p:sp>
          <p:nvSpPr>
            <p:cNvPr id="11" name="Process 3 detail" descr="pptx-deck-generated"/>
            <p:cNvSpPr txBox="1"/>
            <p:nvPr/>
          </p:nvSpPr>
          <p:spPr>
            <a:xfrm>
              <a:off x="36576" y="1078993"/>
              <a:ext cx="2539746" cy="34015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• 担当チームが回答</a:t>
              </a:r>
            </a:p>
          </p:txBody>
        </p:sp>
      </p:grpSp>
      <p:grpSp>
        <p:nvGrpSpPr>
          <p:cNvPr id="12" name="Process 4" descr="pptx-deck-generated"/>
          <p:cNvGrpSpPr/>
          <p:nvPr/>
        </p:nvGrpSpPr>
        <p:grpSpPr>
          <a:xfrm>
            <a:off x="9118854" y="1664207"/>
            <a:ext cx="2686050" cy="4480561"/>
            <a:chOff x="0" y="0"/>
            <a:chExt cx="2686050" cy="4480561"/>
          </a:xfrm>
        </p:grpSpPr>
        <p:sp>
          <p:nvSpPr>
            <p:cNvPr id="13" name="Process 4 chevron" descr="pptx-deck-generated"/>
            <p:cNvSpPr/>
            <p:nvPr/>
          </p:nvSpPr>
          <p:spPr>
            <a:xfrm>
              <a:off x="0" y="0"/>
              <a:ext cx="2686050" cy="987552"/>
            </a:xfrm>
            <a:prstGeom prst="chevron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lt1"/>
                  </a:solidFill>
                  <a:latin typeface="Yu Gothic"/>
                  <a:ea typeface="Yu Gothic"/>
                </a:rPr>
                <a:t>記録</a:t>
              </a:r>
            </a:p>
          </p:txBody>
        </p:sp>
        <p:sp>
          <p:nvSpPr>
            <p:cNvPr id="14" name="Process 4 detail" descr="pptx-deck-generated"/>
            <p:cNvSpPr txBox="1"/>
            <p:nvPr/>
          </p:nvSpPr>
          <p:spPr>
            <a:xfrm>
              <a:off x="36576" y="1078993"/>
              <a:ext cx="2539746" cy="34015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• 解決内容をFAQへ反映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/>
          <a:lstStyle/>
          <a:p>
            <a:r>
              <a:t>受付・対応・改善を循環させる</a:t>
            </a:r>
          </a:p>
        </p:txBody>
      </p:sp>
      <p:sp>
        <p:nvSpPr>
          <p:cNvPr id="3" name="Process connector 1" descr="pptx-deck-generated"/>
          <p:cNvSpPr/>
          <p:nvPr/>
        </p:nvSpPr>
        <p:spPr>
          <a:xfrm>
            <a:off x="2491739" y="1979676"/>
            <a:ext cx="3154679" cy="45720"/>
          </a:xfrm>
          <a:prstGeom prst="rect">
            <a:avLst/>
          </a:prstGeom>
          <a:solidFill>
            <a:schemeClr val="lt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4" name="Process 1" descr="pptx-deck-generated"/>
          <p:cNvGrpSpPr/>
          <p:nvPr/>
        </p:nvGrpSpPr>
        <p:grpSpPr>
          <a:xfrm>
            <a:off x="457200" y="1664207"/>
            <a:ext cx="3611879" cy="4462273"/>
            <a:chOff x="0" y="0"/>
            <a:chExt cx="3611879" cy="4462273"/>
          </a:xfrm>
        </p:grpSpPr>
        <p:sp>
          <p:nvSpPr>
            <p:cNvPr id="5" name="Process 1 node" descr="pptx-deck-generated"/>
            <p:cNvSpPr/>
            <p:nvPr/>
          </p:nvSpPr>
          <p:spPr>
            <a:xfrm>
              <a:off x="1696211" y="0"/>
              <a:ext cx="676656" cy="676656"/>
            </a:xfrm>
            <a:prstGeom prst="ellipse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lt1"/>
                  </a:solidFill>
                  <a:latin typeface="Yu Gothic"/>
                  <a:ea typeface="Yu Gothic"/>
                </a:rPr>
                <a:t>1</a:t>
              </a:r>
            </a:p>
          </p:txBody>
        </p:sp>
        <p:sp>
          <p:nvSpPr>
            <p:cNvPr id="6" name="Process 1 label" descr="pptx-deck-generated"/>
            <p:cNvSpPr txBox="1"/>
            <p:nvPr/>
          </p:nvSpPr>
          <p:spPr>
            <a:xfrm>
              <a:off x="0" y="804673"/>
              <a:ext cx="3611879" cy="5029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dk1"/>
                  </a:solidFill>
                  <a:latin typeface="Yu Gothic"/>
                  <a:ea typeface="Yu Gothic"/>
                </a:rPr>
                <a:t>受付</a:t>
              </a:r>
            </a:p>
          </p:txBody>
        </p:sp>
        <p:sp>
          <p:nvSpPr>
            <p:cNvPr id="7" name="Process 1 detail" descr="pptx-deck-generated"/>
            <p:cNvSpPr txBox="1"/>
            <p:nvPr/>
          </p:nvSpPr>
          <p:spPr>
            <a:xfrm>
              <a:off x="18288" y="1353313"/>
              <a:ext cx="3575303" cy="31089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• 共通フォーム</a:t>
              </a:r>
            </a:p>
          </p:txBody>
        </p:sp>
      </p:grpSp>
      <p:sp>
        <p:nvSpPr>
          <p:cNvPr id="8" name="Process connector 2" descr="pptx-deck-generated"/>
          <p:cNvSpPr/>
          <p:nvPr/>
        </p:nvSpPr>
        <p:spPr>
          <a:xfrm>
            <a:off x="6323075" y="1979676"/>
            <a:ext cx="3154679" cy="45720"/>
          </a:xfrm>
          <a:prstGeom prst="rect">
            <a:avLst/>
          </a:prstGeom>
          <a:solidFill>
            <a:schemeClr val="lt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" name="Process 2" descr="pptx-deck-generated"/>
          <p:cNvGrpSpPr/>
          <p:nvPr/>
        </p:nvGrpSpPr>
        <p:grpSpPr>
          <a:xfrm>
            <a:off x="4288536" y="1664207"/>
            <a:ext cx="3611879" cy="4462273"/>
            <a:chOff x="0" y="0"/>
            <a:chExt cx="3611879" cy="4462273"/>
          </a:xfrm>
        </p:grpSpPr>
        <p:sp>
          <p:nvSpPr>
            <p:cNvPr id="10" name="Process 2 node" descr="pptx-deck-generated"/>
            <p:cNvSpPr/>
            <p:nvPr/>
          </p:nvSpPr>
          <p:spPr>
            <a:xfrm>
              <a:off x="1696211" y="0"/>
              <a:ext cx="676656" cy="676656"/>
            </a:xfrm>
            <a:prstGeom prst="ellipse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lt1"/>
                  </a:solidFill>
                  <a:latin typeface="Yu Gothic"/>
                  <a:ea typeface="Yu Gothic"/>
                </a:rPr>
                <a:t>2</a:t>
              </a:r>
            </a:p>
          </p:txBody>
        </p:sp>
        <p:sp>
          <p:nvSpPr>
            <p:cNvPr id="11" name="Process 2 label" descr="pptx-deck-generated"/>
            <p:cNvSpPr txBox="1"/>
            <p:nvPr/>
          </p:nvSpPr>
          <p:spPr>
            <a:xfrm>
              <a:off x="0" y="804673"/>
              <a:ext cx="3611879" cy="5029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dk1"/>
                  </a:solidFill>
                  <a:latin typeface="Yu Gothic"/>
                  <a:ea typeface="Yu Gothic"/>
                </a:rPr>
                <a:t>回答</a:t>
              </a:r>
            </a:p>
          </p:txBody>
        </p:sp>
        <p:sp>
          <p:nvSpPr>
            <p:cNvPr id="12" name="Process 2 detail" descr="pptx-deck-generated"/>
            <p:cNvSpPr txBox="1"/>
            <p:nvPr/>
          </p:nvSpPr>
          <p:spPr>
            <a:xfrm>
              <a:off x="18287" y="1353313"/>
              <a:ext cx="3575303" cy="31089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• 担当チーム</a:t>
              </a:r>
            </a:p>
          </p:txBody>
        </p:sp>
      </p:grpSp>
      <p:grpSp>
        <p:nvGrpSpPr>
          <p:cNvPr id="13" name="Process 3" descr="pptx-deck-generated"/>
          <p:cNvGrpSpPr/>
          <p:nvPr/>
        </p:nvGrpSpPr>
        <p:grpSpPr>
          <a:xfrm>
            <a:off x="8119871" y="1664207"/>
            <a:ext cx="3611879" cy="4462273"/>
            <a:chOff x="0" y="0"/>
            <a:chExt cx="3611879" cy="4462273"/>
          </a:xfrm>
        </p:grpSpPr>
        <p:sp>
          <p:nvSpPr>
            <p:cNvPr id="14" name="Process 3 node" descr="pptx-deck-generated"/>
            <p:cNvSpPr/>
            <p:nvPr/>
          </p:nvSpPr>
          <p:spPr>
            <a:xfrm>
              <a:off x="1696212" y="0"/>
              <a:ext cx="676656" cy="676656"/>
            </a:xfrm>
            <a:prstGeom prst="ellipse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lt1"/>
                  </a:solidFill>
                  <a:latin typeface="Yu Gothic"/>
                  <a:ea typeface="Yu Gothic"/>
                </a:rPr>
                <a:t>3</a:t>
              </a:r>
            </a:p>
          </p:txBody>
        </p:sp>
        <p:sp>
          <p:nvSpPr>
            <p:cNvPr id="15" name="Process 3 label" descr="pptx-deck-generated"/>
            <p:cNvSpPr txBox="1"/>
            <p:nvPr/>
          </p:nvSpPr>
          <p:spPr>
            <a:xfrm>
              <a:off x="0" y="804673"/>
              <a:ext cx="3611879" cy="5029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dk1"/>
                  </a:solidFill>
                  <a:latin typeface="Yu Gothic"/>
                  <a:ea typeface="Yu Gothic"/>
                </a:rPr>
                <a:t>蓄積</a:t>
              </a:r>
            </a:p>
          </p:txBody>
        </p:sp>
        <p:sp>
          <p:nvSpPr>
            <p:cNvPr id="16" name="Process 3 detail" descr="pptx-deck-generated"/>
            <p:cNvSpPr txBox="1"/>
            <p:nvPr/>
          </p:nvSpPr>
          <p:spPr>
            <a:xfrm>
              <a:off x="18288" y="1353313"/>
              <a:ext cx="3575303" cy="31089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• FAQ更新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/>
          <a:lstStyle/>
          <a:p>
            <a:r>
              <a:t>分類・共有で対応</a:t>
            </a:r>
          </a:p>
        </p:txBody>
      </p:sp>
      <p:sp>
        <p:nvSpPr>
          <p:cNvPr id="3" name="Component takeaway" descr="pptx-deck-generated"/>
          <p:cNvSpPr/>
          <p:nvPr/>
        </p:nvSpPr>
        <p:spPr>
          <a:xfrm>
            <a:off x="457200" y="5660136"/>
            <a:ext cx="11274552" cy="512064"/>
          </a:xfrm>
          <a:prstGeom prst="roundRect">
            <a:avLst/>
          </a:prstGeom>
          <a:solidFill>
            <a:schemeClr val="accent1">
              <a:lumMod val="15000"/>
              <a:lumOff val="85000"/>
            </a:schemeClr>
          </a:solidFill>
          <a:ln w="9525">
            <a:solidFill>
              <a:schemeClr val="lt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akeaway accent" descr="pptx-deck-generated"/>
          <p:cNvSpPr/>
          <p:nvPr/>
        </p:nvSpPr>
        <p:spPr>
          <a:xfrm>
            <a:off x="457200" y="5660136"/>
            <a:ext cx="82296" cy="512064"/>
          </a:xfrm>
          <a:prstGeom prst="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akeaway text" descr="pptx-deck-generated"/>
          <p:cNvSpPr txBox="1"/>
          <p:nvPr/>
        </p:nvSpPr>
        <p:spPr>
          <a:xfrm>
            <a:off x="603504" y="5687568"/>
            <a:ext cx="11073384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82296" rIns="8229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chemeClr val="dk1"/>
                </a:solidFill>
                <a:latin typeface="Yu Gothic"/>
                <a:ea typeface="Yu Gothic"/>
              </a:rPr>
              <a:t>進捗は共通の受付台帳で確認する</a:t>
            </a:r>
          </a:p>
        </p:txBody>
      </p:sp>
      <p:grpSp>
        <p:nvGrpSpPr>
          <p:cNvPr id="6" name="Process 1" descr="pptx-deck-generated"/>
          <p:cNvGrpSpPr/>
          <p:nvPr/>
        </p:nvGrpSpPr>
        <p:grpSpPr>
          <a:xfrm>
            <a:off x="457200" y="1664207"/>
            <a:ext cx="3575304" cy="3867912"/>
            <a:chOff x="0" y="0"/>
            <a:chExt cx="3575304" cy="3867912"/>
          </a:xfrm>
        </p:grpSpPr>
        <p:sp>
          <p:nvSpPr>
            <p:cNvPr id="7" name="Process 1 box" descr="pptx-deck-generated"/>
            <p:cNvSpPr/>
            <p:nvPr/>
          </p:nvSpPr>
          <p:spPr>
            <a:xfrm>
              <a:off x="0" y="0"/>
              <a:ext cx="3575304" cy="1097280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dk1"/>
                  </a:solidFill>
                  <a:latin typeface="Yu Gothic"/>
                  <a:ea typeface="Yu Gothic"/>
                </a:rPr>
                <a:t>受け付ける</a:t>
              </a:r>
            </a:p>
          </p:txBody>
        </p:sp>
        <p:sp>
          <p:nvSpPr>
            <p:cNvPr id="8" name="Process 1 detail" descr="pptx-deck-generated"/>
            <p:cNvSpPr txBox="1"/>
            <p:nvPr/>
          </p:nvSpPr>
          <p:spPr>
            <a:xfrm>
              <a:off x="36576" y="1152145"/>
              <a:ext cx="3502152" cy="271576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• 必要情報を揃える</a:t>
              </a:r>
            </a:p>
          </p:txBody>
        </p:sp>
      </p:grpSp>
      <p:sp>
        <p:nvSpPr>
          <p:cNvPr id="9" name="Process arrow 1" descr="pptx-deck-generated"/>
          <p:cNvSpPr/>
          <p:nvPr/>
        </p:nvSpPr>
        <p:spPr>
          <a:xfrm>
            <a:off x="4059936" y="1965960"/>
            <a:ext cx="237744" cy="310896"/>
          </a:xfrm>
          <a:prstGeom prst="rightArrow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0" name="Process 2" descr="pptx-deck-generated"/>
          <p:cNvGrpSpPr/>
          <p:nvPr/>
        </p:nvGrpSpPr>
        <p:grpSpPr>
          <a:xfrm>
            <a:off x="4306824" y="1664207"/>
            <a:ext cx="3575304" cy="3867912"/>
            <a:chOff x="0" y="0"/>
            <a:chExt cx="3575304" cy="3867912"/>
          </a:xfrm>
        </p:grpSpPr>
        <p:sp>
          <p:nvSpPr>
            <p:cNvPr id="11" name="Process 2 box" descr="pptx-deck-generated"/>
            <p:cNvSpPr/>
            <p:nvPr/>
          </p:nvSpPr>
          <p:spPr>
            <a:xfrm>
              <a:off x="0" y="0"/>
              <a:ext cx="3575304" cy="1097280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dk1"/>
                  </a:solidFill>
                  <a:latin typeface="Yu Gothic"/>
                  <a:ea typeface="Yu Gothic"/>
                </a:rPr>
                <a:t>振り分ける</a:t>
              </a:r>
            </a:p>
          </p:txBody>
        </p:sp>
        <p:sp>
          <p:nvSpPr>
            <p:cNvPr id="12" name="Process 2 detail" descr="pptx-deck-generated"/>
            <p:cNvSpPr txBox="1"/>
            <p:nvPr/>
          </p:nvSpPr>
          <p:spPr>
            <a:xfrm>
              <a:off x="36576" y="1152145"/>
              <a:ext cx="3502152" cy="271576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• 担当と期限を決める</a:t>
              </a:r>
            </a:p>
          </p:txBody>
        </p:sp>
      </p:grpSp>
      <p:sp>
        <p:nvSpPr>
          <p:cNvPr id="13" name="Process arrow 2" descr="pptx-deck-generated"/>
          <p:cNvSpPr/>
          <p:nvPr/>
        </p:nvSpPr>
        <p:spPr>
          <a:xfrm>
            <a:off x="7909560" y="1965960"/>
            <a:ext cx="237744" cy="310896"/>
          </a:xfrm>
          <a:prstGeom prst="rightArrow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4" name="Process 3" descr="pptx-deck-generated"/>
          <p:cNvGrpSpPr/>
          <p:nvPr/>
        </p:nvGrpSpPr>
        <p:grpSpPr>
          <a:xfrm>
            <a:off x="8156448" y="1664207"/>
            <a:ext cx="3575304" cy="3867912"/>
            <a:chOff x="0" y="0"/>
            <a:chExt cx="3575304" cy="3867912"/>
          </a:xfrm>
        </p:grpSpPr>
        <p:sp>
          <p:nvSpPr>
            <p:cNvPr id="15" name="Process 3 box" descr="pptx-deck-generated"/>
            <p:cNvSpPr/>
            <p:nvPr/>
          </p:nvSpPr>
          <p:spPr>
            <a:xfrm>
              <a:off x="0" y="0"/>
              <a:ext cx="3575304" cy="1097280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dk1"/>
                  </a:solidFill>
                  <a:latin typeface="Yu Gothic"/>
                  <a:ea typeface="Yu Gothic"/>
                </a:rPr>
                <a:t>解決する</a:t>
              </a:r>
            </a:p>
          </p:txBody>
        </p:sp>
        <p:sp>
          <p:nvSpPr>
            <p:cNvPr id="16" name="Process 3 detail" descr="pptx-deck-generated"/>
            <p:cNvSpPr txBox="1"/>
            <p:nvPr/>
          </p:nvSpPr>
          <p:spPr>
            <a:xfrm>
              <a:off x="36575" y="1152145"/>
              <a:ext cx="3502152" cy="271576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• 結果をナレッジ化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/>
          <a:lstStyle/>
          <a:p>
            <a:r>
              <a:t>窓口統合で受付漏れを防ぐ</a:t>
            </a:r>
          </a:p>
        </p:txBody>
      </p:sp>
      <p:grpSp>
        <p:nvGrpSpPr>
          <p:cNvPr id="3" name="Comparison 1" descr="pptx-deck-generated"/>
          <p:cNvGrpSpPr/>
          <p:nvPr/>
        </p:nvGrpSpPr>
        <p:grpSpPr>
          <a:xfrm>
            <a:off x="457200" y="1627632"/>
            <a:ext cx="5308092" cy="4471416"/>
            <a:chOff x="0" y="0"/>
            <a:chExt cx="5308092" cy="4471416"/>
          </a:xfrm>
        </p:grpSpPr>
        <p:sp>
          <p:nvSpPr>
            <p:cNvPr id="4" name="Comparison 1 panel" descr="pptx-deck-generated"/>
            <p:cNvSpPr/>
            <p:nvPr/>
          </p:nvSpPr>
          <p:spPr>
            <a:xfrm>
              <a:off x="0" y="0"/>
              <a:ext cx="5308092" cy="4471416"/>
            </a:xfrm>
            <a:prstGeom prst="roundRect">
              <a:avLst/>
            </a:prstGeom>
            <a:solidFill>
              <a:schemeClr val="dk1">
                <a:lumMod val="65000"/>
                <a:lumOff val="35000"/>
                <a:lumMod val="15000"/>
                <a:lumOff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Comparison 1 heading" descr="pptx-deck-generated"/>
            <p:cNvSpPr/>
            <p:nvPr/>
          </p:nvSpPr>
          <p:spPr>
            <a:xfrm>
              <a:off x="0" y="0"/>
              <a:ext cx="5308092" cy="603504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現状</a:t>
              </a:r>
            </a:p>
          </p:txBody>
        </p:sp>
        <p:sp>
          <p:nvSpPr>
            <p:cNvPr id="6" name="Comparison 1 items" descr="pptx-deck-generated"/>
            <p:cNvSpPr txBox="1"/>
            <p:nvPr/>
          </p:nvSpPr>
          <p:spPr>
            <a:xfrm>
              <a:off x="155448" y="731520"/>
              <a:ext cx="4997196" cy="36850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• 連絡先が複数</a:t>
              </a:r>
            </a:p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• 担当が見つけにくい</a:t>
              </a:r>
            </a:p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• 履歴が個人に分散</a:t>
              </a:r>
            </a:p>
          </p:txBody>
        </p:sp>
      </p:grpSp>
      <p:grpSp>
        <p:nvGrpSpPr>
          <p:cNvPr id="7" name="Comparison 2" descr="pptx-deck-generated"/>
          <p:cNvGrpSpPr/>
          <p:nvPr/>
        </p:nvGrpSpPr>
        <p:grpSpPr>
          <a:xfrm>
            <a:off x="6423659" y="1627632"/>
            <a:ext cx="5308092" cy="4471416"/>
            <a:chOff x="0" y="0"/>
            <a:chExt cx="5308092" cy="4471416"/>
          </a:xfrm>
        </p:grpSpPr>
        <p:sp>
          <p:nvSpPr>
            <p:cNvPr id="8" name="Comparison 2 panel" descr="pptx-deck-generated"/>
            <p:cNvSpPr/>
            <p:nvPr/>
          </p:nvSpPr>
          <p:spPr>
            <a:xfrm>
              <a:off x="0" y="0"/>
              <a:ext cx="5308092" cy="4471416"/>
            </a:xfrm>
            <a:prstGeom prst="roundRect">
              <a:avLst/>
            </a:prstGeom>
            <a:solidFill>
              <a:schemeClr val="accent2">
                <a:lumMod val="15000"/>
                <a:lumOff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Comparison 2 heading" descr="pptx-deck-generated"/>
            <p:cNvSpPr/>
            <p:nvPr/>
          </p:nvSpPr>
          <p:spPr>
            <a:xfrm>
              <a:off x="0" y="0"/>
              <a:ext cx="5308092" cy="603504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統合後</a:t>
              </a:r>
            </a:p>
          </p:txBody>
        </p:sp>
        <p:sp>
          <p:nvSpPr>
            <p:cNvPr id="10" name="Comparison 2 items" descr="pptx-deck-generated"/>
            <p:cNvSpPr txBox="1"/>
            <p:nvPr/>
          </p:nvSpPr>
          <p:spPr>
            <a:xfrm>
              <a:off x="155448" y="731520"/>
              <a:ext cx="4997196" cy="36850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• 受付先を一本化</a:t>
              </a:r>
            </a:p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• 担当と期限を明確化</a:t>
              </a:r>
            </a:p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• 履歴を共有</a:t>
              </a:r>
            </a:p>
          </p:txBody>
        </p:sp>
      </p:grpSp>
      <p:sp>
        <p:nvSpPr>
          <p:cNvPr id="11" name="Comparison transition" descr="pptx-deck-generated"/>
          <p:cNvSpPr/>
          <p:nvPr/>
        </p:nvSpPr>
        <p:spPr>
          <a:xfrm>
            <a:off x="5911596" y="3493922"/>
            <a:ext cx="365760" cy="384048"/>
          </a:xfrm>
          <a:prstGeom prst="rightArrow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/>
          <a:lstStyle/>
          <a:p>
            <a:r>
              <a:t>一次回答と専門対応</a:t>
            </a:r>
          </a:p>
        </p:txBody>
      </p:sp>
      <p:grpSp>
        <p:nvGrpSpPr>
          <p:cNvPr id="3" name="Comparison 1" descr="pptx-deck-generated"/>
          <p:cNvGrpSpPr/>
          <p:nvPr/>
        </p:nvGrpSpPr>
        <p:grpSpPr>
          <a:xfrm>
            <a:off x="457200" y="1627632"/>
            <a:ext cx="5399532" cy="4471416"/>
            <a:chOff x="0" y="0"/>
            <a:chExt cx="5399532" cy="4471416"/>
          </a:xfrm>
        </p:grpSpPr>
        <p:sp>
          <p:nvSpPr>
            <p:cNvPr id="4" name="Comparison 1 panel" descr="pptx-deck-generated"/>
            <p:cNvSpPr/>
            <p:nvPr/>
          </p:nvSpPr>
          <p:spPr>
            <a:xfrm>
              <a:off x="0" y="0"/>
              <a:ext cx="5399532" cy="4471416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Comparison 1 heading" descr="pptx-deck-generated"/>
            <p:cNvSpPr/>
            <p:nvPr/>
          </p:nvSpPr>
          <p:spPr>
            <a:xfrm>
              <a:off x="0" y="0"/>
              <a:ext cx="5399532" cy="603504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一次窓口</a:t>
              </a:r>
            </a:p>
          </p:txBody>
        </p:sp>
        <p:sp>
          <p:nvSpPr>
            <p:cNvPr id="6" name="Comparison 1 items" descr="pptx-deck-generated"/>
            <p:cNvSpPr txBox="1"/>
            <p:nvPr/>
          </p:nvSpPr>
          <p:spPr>
            <a:xfrm>
              <a:off x="155448" y="731520"/>
              <a:ext cx="5088636" cy="36850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• 受付と分類</a:t>
              </a:r>
            </a:p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• FAQ案内</a:t>
              </a:r>
            </a:p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• 進捗連絡</a:t>
              </a:r>
            </a:p>
          </p:txBody>
        </p:sp>
      </p:grpSp>
      <p:grpSp>
        <p:nvGrpSpPr>
          <p:cNvPr id="7" name="Comparison 2" descr="pptx-deck-generated"/>
          <p:cNvGrpSpPr/>
          <p:nvPr/>
        </p:nvGrpSpPr>
        <p:grpSpPr>
          <a:xfrm>
            <a:off x="6332220" y="1627632"/>
            <a:ext cx="5399532" cy="4471416"/>
            <a:chOff x="0" y="0"/>
            <a:chExt cx="5399532" cy="4471416"/>
          </a:xfrm>
        </p:grpSpPr>
        <p:sp>
          <p:nvSpPr>
            <p:cNvPr id="8" name="Comparison 2 panel" descr="pptx-deck-generated"/>
            <p:cNvSpPr/>
            <p:nvPr/>
          </p:nvSpPr>
          <p:spPr>
            <a:xfrm>
              <a:off x="0" y="0"/>
              <a:ext cx="5399532" cy="4471416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Comparison 2 heading" descr="pptx-deck-generated"/>
            <p:cNvSpPr/>
            <p:nvPr/>
          </p:nvSpPr>
          <p:spPr>
            <a:xfrm>
              <a:off x="0" y="0"/>
              <a:ext cx="5399532" cy="603504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専門チーム</a:t>
              </a:r>
            </a:p>
          </p:txBody>
        </p:sp>
        <p:sp>
          <p:nvSpPr>
            <p:cNvPr id="10" name="Comparison 2 items" descr="pptx-deck-generated"/>
            <p:cNvSpPr txBox="1"/>
            <p:nvPr/>
          </p:nvSpPr>
          <p:spPr>
            <a:xfrm>
              <a:off x="155448" y="731520"/>
              <a:ext cx="5088636" cy="36850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• 技術調査</a:t>
              </a:r>
            </a:p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• 個別判断</a:t>
              </a:r>
            </a:p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• 恒久対応</a:t>
              </a:r>
            </a:p>
          </p:txBody>
        </p:sp>
      </p:grpSp>
      <p:sp>
        <p:nvSpPr>
          <p:cNvPr id="11" name="Comparison VS" descr="pptx-deck-generated"/>
          <p:cNvSpPr/>
          <p:nvPr/>
        </p:nvSpPr>
        <p:spPr>
          <a:xfrm>
            <a:off x="5820156" y="3493922"/>
            <a:ext cx="548640" cy="548640"/>
          </a:xfrm>
          <a:prstGeom prst="ellipse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chemeClr val="lt1"/>
                </a:solidFill>
                <a:latin typeface="Yu Gothic"/>
                <a:ea typeface="Yu Gothic"/>
              </a:rPr>
              <a:t>VS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/>
          <a:lstStyle/>
          <a:p>
            <a:r>
              <a:t>緊急度で優先順位</a:t>
            </a:r>
          </a:p>
        </p:txBody>
      </p:sp>
      <p:grpSp>
        <p:nvGrpSpPr>
          <p:cNvPr id="3" name="Matrix 1" descr="pptx-deck-generated"/>
          <p:cNvGrpSpPr/>
          <p:nvPr/>
        </p:nvGrpSpPr>
        <p:grpSpPr>
          <a:xfrm>
            <a:off x="1165860" y="1760219"/>
            <a:ext cx="5184648" cy="1906524"/>
            <a:chOff x="0" y="0"/>
            <a:chExt cx="5184648" cy="1906524"/>
          </a:xfrm>
        </p:grpSpPr>
        <p:sp>
          <p:nvSpPr>
            <p:cNvPr id="4" name="Matrix quadrant 1" descr="pptx-deck-generated"/>
            <p:cNvSpPr/>
            <p:nvPr/>
          </p:nvSpPr>
          <p:spPr>
            <a:xfrm>
              <a:off x="0" y="0"/>
              <a:ext cx="5184648" cy="1906524"/>
            </a:xfrm>
            <a:prstGeom prst="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Matrix quadrant 1 title" descr="pptx-deck-generated"/>
            <p:cNvSpPr txBox="1"/>
            <p:nvPr/>
          </p:nvSpPr>
          <p:spPr>
            <a:xfrm>
              <a:off x="68580" y="32005"/>
              <a:ext cx="5047488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accent1"/>
                  </a:solidFill>
                  <a:latin typeface="Yu Gothic"/>
                  <a:ea typeface="Yu Gothic"/>
                </a:rPr>
                <a:t>計画対応</a:t>
              </a:r>
            </a:p>
          </p:txBody>
        </p:sp>
        <p:sp>
          <p:nvSpPr>
            <p:cNvPr id="6" name="Matrix quadrant 1 items" descr="pptx-deck-generated"/>
            <p:cNvSpPr txBox="1"/>
            <p:nvPr/>
          </p:nvSpPr>
          <p:spPr>
            <a:xfrm>
              <a:off x="68580" y="397765"/>
              <a:ext cx="5047488" cy="14767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/>
                  </a:solidFill>
                  <a:latin typeface="Yu Gothic"/>
                  <a:ea typeface="Yu Gothic"/>
                </a:rPr>
                <a:t>• 改善要望</a:t>
              </a:r>
            </a:p>
          </p:txBody>
        </p:sp>
      </p:grpSp>
      <p:grpSp>
        <p:nvGrpSpPr>
          <p:cNvPr id="7" name="Matrix 2" descr="pptx-deck-generated"/>
          <p:cNvGrpSpPr/>
          <p:nvPr/>
        </p:nvGrpSpPr>
        <p:grpSpPr>
          <a:xfrm>
            <a:off x="6396228" y="1760219"/>
            <a:ext cx="5184648" cy="1906524"/>
            <a:chOff x="0" y="0"/>
            <a:chExt cx="5184648" cy="1906524"/>
          </a:xfrm>
        </p:grpSpPr>
        <p:sp>
          <p:nvSpPr>
            <p:cNvPr id="8" name="Matrix quadrant 2" descr="pptx-deck-generated"/>
            <p:cNvSpPr/>
            <p:nvPr/>
          </p:nvSpPr>
          <p:spPr>
            <a:xfrm>
              <a:off x="0" y="0"/>
              <a:ext cx="5184648" cy="1906524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Matrix quadrant 2 title" descr="pptx-deck-generated"/>
            <p:cNvSpPr txBox="1"/>
            <p:nvPr/>
          </p:nvSpPr>
          <p:spPr>
            <a:xfrm>
              <a:off x="68579" y="32005"/>
              <a:ext cx="5047488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accent1"/>
                  </a:solidFill>
                  <a:latin typeface="Yu Gothic"/>
                  <a:ea typeface="Yu Gothic"/>
                </a:rPr>
                <a:t>即時確認</a:t>
              </a:r>
            </a:p>
          </p:txBody>
        </p:sp>
        <p:sp>
          <p:nvSpPr>
            <p:cNvPr id="10" name="Matrix quadrant 2 items" descr="pptx-deck-generated"/>
            <p:cNvSpPr txBox="1"/>
            <p:nvPr/>
          </p:nvSpPr>
          <p:spPr>
            <a:xfrm>
              <a:off x="68579" y="397765"/>
              <a:ext cx="5047488" cy="14767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/>
                  </a:solidFill>
                  <a:latin typeface="Yu Gothic"/>
                  <a:ea typeface="Yu Gothic"/>
                </a:rPr>
                <a:t>• 業務停止</a:t>
              </a:r>
            </a:p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/>
                  </a:solidFill>
                  <a:latin typeface="Yu Gothic"/>
                  <a:ea typeface="Yu Gothic"/>
                </a:rPr>
                <a:t>• 広範囲の障害</a:t>
              </a:r>
            </a:p>
          </p:txBody>
        </p:sp>
      </p:grpSp>
      <p:grpSp>
        <p:nvGrpSpPr>
          <p:cNvPr id="11" name="Matrix 3" descr="pptx-deck-generated"/>
          <p:cNvGrpSpPr/>
          <p:nvPr/>
        </p:nvGrpSpPr>
        <p:grpSpPr>
          <a:xfrm>
            <a:off x="1165860" y="3712464"/>
            <a:ext cx="5184648" cy="1906524"/>
            <a:chOff x="0" y="0"/>
            <a:chExt cx="5184648" cy="1906524"/>
          </a:xfrm>
        </p:grpSpPr>
        <p:sp>
          <p:nvSpPr>
            <p:cNvPr id="12" name="Matrix quadrant 3" descr="pptx-deck-generated"/>
            <p:cNvSpPr/>
            <p:nvPr/>
          </p:nvSpPr>
          <p:spPr>
            <a:xfrm>
              <a:off x="0" y="0"/>
              <a:ext cx="5184648" cy="1906524"/>
            </a:xfrm>
            <a:prstGeom prst="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Matrix quadrant 3 title" descr="pptx-deck-generated"/>
            <p:cNvSpPr txBox="1"/>
            <p:nvPr/>
          </p:nvSpPr>
          <p:spPr>
            <a:xfrm>
              <a:off x="68580" y="32004"/>
              <a:ext cx="5047488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accent1"/>
                  </a:solidFill>
                  <a:latin typeface="Yu Gothic"/>
                  <a:ea typeface="Yu Gothic"/>
                </a:rPr>
                <a:t>定期確認</a:t>
              </a:r>
            </a:p>
          </p:txBody>
        </p:sp>
        <p:sp>
          <p:nvSpPr>
            <p:cNvPr id="14" name="Matrix quadrant 3 items" descr="pptx-deck-generated"/>
            <p:cNvSpPr txBox="1"/>
            <p:nvPr/>
          </p:nvSpPr>
          <p:spPr>
            <a:xfrm>
              <a:off x="68580" y="397764"/>
              <a:ext cx="5047488" cy="14767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/>
                  </a:solidFill>
                  <a:latin typeface="Yu Gothic"/>
                  <a:ea typeface="Yu Gothic"/>
                </a:rPr>
                <a:t>• 軽微な質問</a:t>
              </a:r>
            </a:p>
          </p:txBody>
        </p:sp>
      </p:grpSp>
      <p:grpSp>
        <p:nvGrpSpPr>
          <p:cNvPr id="15" name="Matrix 4" descr="pptx-deck-generated"/>
          <p:cNvGrpSpPr/>
          <p:nvPr/>
        </p:nvGrpSpPr>
        <p:grpSpPr>
          <a:xfrm>
            <a:off x="6396228" y="3712464"/>
            <a:ext cx="5184648" cy="1906524"/>
            <a:chOff x="0" y="0"/>
            <a:chExt cx="5184648" cy="1906524"/>
          </a:xfrm>
        </p:grpSpPr>
        <p:sp>
          <p:nvSpPr>
            <p:cNvPr id="16" name="Matrix quadrant 4" descr="pptx-deck-generated"/>
            <p:cNvSpPr/>
            <p:nvPr/>
          </p:nvSpPr>
          <p:spPr>
            <a:xfrm>
              <a:off x="0" y="0"/>
              <a:ext cx="5184648" cy="1906524"/>
            </a:xfrm>
            <a:prstGeom prst="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Matrix quadrant 4 title" descr="pptx-deck-generated"/>
            <p:cNvSpPr txBox="1"/>
            <p:nvPr/>
          </p:nvSpPr>
          <p:spPr>
            <a:xfrm>
              <a:off x="68579" y="32004"/>
              <a:ext cx="5047488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accent1"/>
                  </a:solidFill>
                  <a:latin typeface="Yu Gothic"/>
                  <a:ea typeface="Yu Gothic"/>
                </a:rPr>
                <a:t>優先対応</a:t>
              </a:r>
            </a:p>
          </p:txBody>
        </p:sp>
        <p:sp>
          <p:nvSpPr>
            <p:cNvPr id="18" name="Matrix quadrant 4 items" descr="pptx-deck-generated"/>
            <p:cNvSpPr txBox="1"/>
            <p:nvPr/>
          </p:nvSpPr>
          <p:spPr>
            <a:xfrm>
              <a:off x="68579" y="397764"/>
              <a:ext cx="5047488" cy="14767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/>
                  </a:solidFill>
                  <a:latin typeface="Yu Gothic"/>
                  <a:ea typeface="Yu Gothic"/>
                </a:rPr>
                <a:t>• 複数部門へ影響</a:t>
              </a:r>
            </a:p>
          </p:txBody>
        </p:sp>
      </p:grpSp>
      <p:sp>
        <p:nvSpPr>
          <p:cNvPr id="19" name="Matrix x label" descr="pptx-deck-generated"/>
          <p:cNvSpPr txBox="1"/>
          <p:nvPr/>
        </p:nvSpPr>
        <p:spPr>
          <a:xfrm>
            <a:off x="1143000" y="5733288"/>
            <a:ext cx="10460736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 lIns="82296" rIns="8229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chemeClr val="dk1"/>
                </a:solidFill>
                <a:latin typeface="Yu Gothic"/>
                <a:ea typeface="Yu Gothic"/>
              </a:rPr>
              <a:t>緊急度</a:t>
            </a:r>
          </a:p>
        </p:txBody>
      </p:sp>
      <p:sp>
        <p:nvSpPr>
          <p:cNvPr id="20" name="Matrix x low" descr="pptx-deck-generated"/>
          <p:cNvSpPr txBox="1"/>
          <p:nvPr/>
        </p:nvSpPr>
        <p:spPr>
          <a:xfrm>
            <a:off x="1143000" y="5413248"/>
            <a:ext cx="5230368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 lIns="82296" rIns="8229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chemeClr val="dk1">
                    <a:lumMod val="65000"/>
                    <a:lumOff val="35000"/>
                  </a:schemeClr>
                </a:solidFill>
                <a:latin typeface="Yu Gothic"/>
                <a:ea typeface="Yu Gothic"/>
              </a:rPr>
              <a:t>低</a:t>
            </a:r>
          </a:p>
        </p:txBody>
      </p:sp>
      <p:sp>
        <p:nvSpPr>
          <p:cNvPr id="21" name="Matrix x high" descr="pptx-deck-generated"/>
          <p:cNvSpPr txBox="1"/>
          <p:nvPr/>
        </p:nvSpPr>
        <p:spPr>
          <a:xfrm>
            <a:off x="6373368" y="5413248"/>
            <a:ext cx="5230368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 lIns="82296" rIns="82296" tIns="36576" bIns="36576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chemeClr val="dk1">
                    <a:lumMod val="65000"/>
                    <a:lumOff val="35000"/>
                  </a:schemeClr>
                </a:solidFill>
                <a:latin typeface="Yu Gothic"/>
                <a:ea typeface="Yu Gothic"/>
              </a:rPr>
              <a:t>高</a:t>
            </a:r>
          </a:p>
        </p:txBody>
      </p:sp>
      <p:sp>
        <p:nvSpPr>
          <p:cNvPr id="22" name="Matrix y label" descr="pptx-deck-generated"/>
          <p:cNvSpPr txBox="1"/>
          <p:nvPr/>
        </p:nvSpPr>
        <p:spPr>
          <a:xfrm rot="16200000">
            <a:off x="457200" y="1874519"/>
            <a:ext cx="329184" cy="3630168"/>
          </a:xfrm>
          <a:prstGeom prst="rect">
            <a:avLst/>
          </a:prstGeom>
          <a:noFill/>
          <a:ln>
            <a:noFill/>
          </a:ln>
        </p:spPr>
        <p:txBody>
          <a:bodyPr wrap="square" anchor="ctr" lIns="82296" rIns="8229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chemeClr val="dk1"/>
                </a:solidFill>
                <a:latin typeface="Yu Gothic"/>
                <a:ea typeface="Yu Gothic"/>
              </a:rPr>
              <a:t>影響度</a:t>
            </a:r>
          </a:p>
        </p:txBody>
      </p:sp>
      <p:sp>
        <p:nvSpPr>
          <p:cNvPr id="23" name="Matrix y high" descr="pptx-deck-generated"/>
          <p:cNvSpPr txBox="1"/>
          <p:nvPr/>
        </p:nvSpPr>
        <p:spPr>
          <a:xfrm>
            <a:off x="786384" y="1783080"/>
            <a:ext cx="3200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82296" rIns="8229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chemeClr val="dk1">
                    <a:lumMod val="65000"/>
                    <a:lumOff val="35000"/>
                  </a:schemeClr>
                </a:solidFill>
                <a:latin typeface="Yu Gothic"/>
                <a:ea typeface="Yu Gothic"/>
              </a:rPr>
              <a:t>大</a:t>
            </a:r>
          </a:p>
        </p:txBody>
      </p:sp>
      <p:sp>
        <p:nvSpPr>
          <p:cNvPr id="24" name="Matrix y low" descr="pptx-deck-generated"/>
          <p:cNvSpPr txBox="1"/>
          <p:nvPr/>
        </p:nvSpPr>
        <p:spPr>
          <a:xfrm>
            <a:off x="786384" y="5330952"/>
            <a:ext cx="3200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82296" rIns="8229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chemeClr val="dk1">
                    <a:lumMod val="65000"/>
                    <a:lumOff val="35000"/>
                  </a:schemeClr>
                </a:solidFill>
                <a:latin typeface="Yu Gothic"/>
                <a:ea typeface="Yu Gothic"/>
              </a:rPr>
              <a:t>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/>
          <a:lstStyle/>
          <a:p>
            <a:r>
              <a:t>FAQから専門担当へ</a:t>
            </a:r>
          </a:p>
        </p:txBody>
      </p:sp>
      <p:grpSp>
        <p:nvGrpSpPr>
          <p:cNvPr id="3" name="Pyramid 1" descr="pptx-deck-generated"/>
          <p:cNvGrpSpPr/>
          <p:nvPr/>
        </p:nvGrpSpPr>
        <p:grpSpPr>
          <a:xfrm>
            <a:off x="1821420" y="1581912"/>
            <a:ext cx="9837179" cy="1484376"/>
            <a:chOff x="0" y="0"/>
            <a:chExt cx="9837179" cy="1484376"/>
          </a:xfrm>
        </p:grpSpPr>
        <p:sp>
          <p:nvSpPr>
            <p:cNvPr id="4" name="Level 1" descr="pptx-deck-generated"/>
            <p:cNvSpPr/>
            <p:nvPr/>
          </p:nvSpPr>
          <p:spPr>
            <a:xfrm>
              <a:off x="0" y="0"/>
              <a:ext cx="3472562" cy="1484376"/>
            </a:xfrm>
            <a:prstGeom prst="triangle">
              <a:avLst/>
            </a:prstGeom>
            <a:solidFill>
              <a:schemeClr val="accent1">
                <a:lumMod val="100000"/>
                <a:lumOff val="0"/>
              </a:schemeClr>
            </a:solidFill>
            <a:ln w="9525">
              <a:solidFill>
                <a:schemeClr val="lt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lt1"/>
                  </a:solidFill>
                  <a:latin typeface="Yu Gothic"/>
                  <a:ea typeface="Yu Gothic"/>
                </a:rPr>
                <a:t>専門対応</a:t>
              </a:r>
            </a:p>
          </p:txBody>
        </p:sp>
        <p:sp>
          <p:nvSpPr>
            <p:cNvPr id="5" name="Level 1 detail box" descr="pptx-deck-generated"/>
            <p:cNvSpPr/>
            <p:nvPr/>
          </p:nvSpPr>
          <p:spPr>
            <a:xfrm>
              <a:off x="5220831" y="9144"/>
              <a:ext cx="4616348" cy="1466088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/>
                  </a:solidFill>
                  <a:latin typeface="Yu Gothic"/>
                  <a:ea typeface="Yu Gothic"/>
                </a:rPr>
                <a:t>個別調査</a:t>
              </a:r>
            </a:p>
          </p:txBody>
        </p:sp>
      </p:grpSp>
      <p:sp>
        <p:nvSpPr>
          <p:cNvPr id="6" name="Level 1 leader" descr="pptx-deck-generated"/>
          <p:cNvSpPr/>
          <p:nvPr/>
        </p:nvSpPr>
        <p:spPr>
          <a:xfrm>
            <a:off x="5293982" y="2324100"/>
            <a:ext cx="1702548" cy="13716"/>
          </a:xfrm>
          <a:prstGeom prst="rect">
            <a:avLst/>
          </a:prstGeom>
          <a:solidFill>
            <a:schemeClr val="lt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7" name="Pyramid 2" descr="pptx-deck-generated"/>
          <p:cNvGrpSpPr/>
          <p:nvPr/>
        </p:nvGrpSpPr>
        <p:grpSpPr>
          <a:xfrm>
            <a:off x="1139310" y="3121152"/>
            <a:ext cx="10519289" cy="1484376"/>
            <a:chOff x="0" y="0"/>
            <a:chExt cx="10519289" cy="1484376"/>
          </a:xfrm>
        </p:grpSpPr>
        <p:sp>
          <p:nvSpPr>
            <p:cNvPr id="8" name="Level 2" descr="pptx-deck-generated"/>
            <p:cNvSpPr/>
            <p:nvPr/>
          </p:nvSpPr>
          <p:spPr>
            <a:xfrm>
              <a:off x="0" y="0"/>
              <a:ext cx="4836782" cy="1484376"/>
            </a:xfrm>
            <a:prstGeom prst="trapezoid">
              <a:avLst/>
            </a:prstGeom>
            <a:solidFill>
              <a:schemeClr val="accent1">
                <a:lumMod val="88000"/>
                <a:lumOff val="12000"/>
              </a:schemeClr>
            </a:solidFill>
            <a:ln w="9525">
              <a:solidFill>
                <a:schemeClr val="lt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lt1"/>
                  </a:solidFill>
                  <a:latin typeface="Yu Gothic"/>
                  <a:ea typeface="Yu Gothic"/>
                </a:rPr>
                <a:t>担当チーム</a:t>
              </a:r>
            </a:p>
          </p:txBody>
        </p:sp>
        <p:sp>
          <p:nvSpPr>
            <p:cNvPr id="9" name="Level 2 detail box" descr="pptx-deck-generated"/>
            <p:cNvSpPr/>
            <p:nvPr/>
          </p:nvSpPr>
          <p:spPr>
            <a:xfrm>
              <a:off x="5902941" y="9144"/>
              <a:ext cx="4616348" cy="1466088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/>
                  </a:solidFill>
                  <a:latin typeface="Yu Gothic"/>
                  <a:ea typeface="Yu Gothic"/>
                </a:rPr>
                <a:t>手順に沿って解決</a:t>
              </a:r>
            </a:p>
          </p:txBody>
        </p:sp>
      </p:grpSp>
      <p:sp>
        <p:nvSpPr>
          <p:cNvPr id="10" name="Level 2 leader" descr="pptx-deck-generated"/>
          <p:cNvSpPr/>
          <p:nvPr/>
        </p:nvSpPr>
        <p:spPr>
          <a:xfrm>
            <a:off x="5976093" y="3863339"/>
            <a:ext cx="1020438" cy="13716"/>
          </a:xfrm>
          <a:prstGeom prst="rect">
            <a:avLst/>
          </a:prstGeom>
          <a:solidFill>
            <a:schemeClr val="lt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1" name="Pyramid 3" descr="pptx-deck-generated"/>
          <p:cNvGrpSpPr/>
          <p:nvPr/>
        </p:nvGrpSpPr>
        <p:grpSpPr>
          <a:xfrm>
            <a:off x="457200" y="4660392"/>
            <a:ext cx="11201399" cy="1484376"/>
            <a:chOff x="0" y="0"/>
            <a:chExt cx="11201399" cy="1484376"/>
          </a:xfrm>
        </p:grpSpPr>
        <p:sp>
          <p:nvSpPr>
            <p:cNvPr id="12" name="Level 3" descr="pptx-deck-generated"/>
            <p:cNvSpPr/>
            <p:nvPr/>
          </p:nvSpPr>
          <p:spPr>
            <a:xfrm>
              <a:off x="0" y="0"/>
              <a:ext cx="6201003" cy="1484376"/>
            </a:xfrm>
            <a:prstGeom prst="trapezoid">
              <a:avLst/>
            </a:prstGeom>
            <a:solidFill>
              <a:schemeClr val="accent1">
                <a:lumMod val="76000"/>
                <a:lumOff val="24000"/>
              </a:schemeClr>
            </a:solidFill>
            <a:ln w="9525">
              <a:solidFill>
                <a:schemeClr val="lt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lt1"/>
                  </a:solidFill>
                  <a:latin typeface="Yu Gothic"/>
                  <a:ea typeface="Yu Gothic"/>
                </a:rPr>
                <a:t>FAQ</a:t>
              </a:r>
            </a:p>
          </p:txBody>
        </p:sp>
        <p:sp>
          <p:nvSpPr>
            <p:cNvPr id="13" name="Level 3 detail box" descr="pptx-deck-generated"/>
            <p:cNvSpPr/>
            <p:nvPr/>
          </p:nvSpPr>
          <p:spPr>
            <a:xfrm>
              <a:off x="6585051" y="9144"/>
              <a:ext cx="4616348" cy="1466088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/>
                  </a:solidFill>
                  <a:latin typeface="Yu Gothic"/>
                  <a:ea typeface="Yu Gothic"/>
                </a:rPr>
                <a:t>よくある質問を自己解決</a:t>
              </a:r>
            </a:p>
          </p:txBody>
        </p:sp>
      </p:grpSp>
      <p:sp>
        <p:nvSpPr>
          <p:cNvPr id="14" name="Level 3 leader" descr="pptx-deck-generated"/>
          <p:cNvSpPr/>
          <p:nvPr/>
        </p:nvSpPr>
        <p:spPr>
          <a:xfrm>
            <a:off x="6658203" y="5402580"/>
            <a:ext cx="338327" cy="13716"/>
          </a:xfrm>
          <a:prstGeom prst="rect">
            <a:avLst/>
          </a:prstGeom>
          <a:solidFill>
            <a:schemeClr val="lt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/>
          <a:lstStyle/>
          <a:p>
            <a:r>
              <a:t>必要情報から担当窓口へつなぐ</a:t>
            </a:r>
          </a:p>
        </p:txBody>
      </p:sp>
      <p:grpSp>
        <p:nvGrpSpPr>
          <p:cNvPr id="3" name="Pyramid 1" descr="pptx-deck-generated"/>
          <p:cNvGrpSpPr/>
          <p:nvPr/>
        </p:nvGrpSpPr>
        <p:grpSpPr>
          <a:xfrm>
            <a:off x="457200" y="1581912"/>
            <a:ext cx="11201399" cy="1484376"/>
            <a:chOff x="0" y="0"/>
            <a:chExt cx="11201399" cy="1484376"/>
          </a:xfrm>
        </p:grpSpPr>
        <p:sp>
          <p:nvSpPr>
            <p:cNvPr id="4" name="Level 1" descr="pptx-deck-generated"/>
            <p:cNvSpPr/>
            <p:nvPr/>
          </p:nvSpPr>
          <p:spPr>
            <a:xfrm>
              <a:off x="0" y="0"/>
              <a:ext cx="6201003" cy="1484376"/>
            </a:xfrm>
            <a:prstGeom prst="trapezoid">
              <a:avLst/>
            </a:prstGeom>
            <a:solidFill>
              <a:schemeClr val="accent1">
                <a:lumMod val="76000"/>
                <a:lumOff val="24000"/>
              </a:schemeClr>
            </a:solidFill>
            <a:ln w="9525">
              <a:solidFill>
                <a:schemeClr val="lt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lt1"/>
                  </a:solidFill>
                  <a:latin typeface="Yu Gothic"/>
                  <a:ea typeface="Yu Gothic"/>
                </a:rPr>
                <a:t>問い合わせ</a:t>
              </a:r>
            </a:p>
          </p:txBody>
        </p:sp>
        <p:sp>
          <p:nvSpPr>
            <p:cNvPr id="5" name="Level 1 detail box" descr="pptx-deck-generated"/>
            <p:cNvSpPr/>
            <p:nvPr/>
          </p:nvSpPr>
          <p:spPr>
            <a:xfrm>
              <a:off x="6585051" y="9144"/>
              <a:ext cx="4616348" cy="1466088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/>
                  </a:solidFill>
                  <a:latin typeface="Yu Gothic"/>
                  <a:ea typeface="Yu Gothic"/>
                </a:rPr>
                <a:t>幅広く受け付ける</a:t>
              </a:r>
            </a:p>
          </p:txBody>
        </p:sp>
      </p:grpSp>
      <p:sp>
        <p:nvSpPr>
          <p:cNvPr id="6" name="Level 1 leader" descr="pptx-deck-generated"/>
          <p:cNvSpPr/>
          <p:nvPr/>
        </p:nvSpPr>
        <p:spPr>
          <a:xfrm>
            <a:off x="6658203" y="2324100"/>
            <a:ext cx="338327" cy="13716"/>
          </a:xfrm>
          <a:prstGeom prst="rect">
            <a:avLst/>
          </a:prstGeom>
          <a:solidFill>
            <a:schemeClr val="lt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7" name="Pyramid 2" descr="pptx-deck-generated"/>
          <p:cNvGrpSpPr/>
          <p:nvPr/>
        </p:nvGrpSpPr>
        <p:grpSpPr>
          <a:xfrm>
            <a:off x="1139310" y="3121152"/>
            <a:ext cx="10519289" cy="1484376"/>
            <a:chOff x="0" y="0"/>
            <a:chExt cx="10519289" cy="1484376"/>
          </a:xfrm>
        </p:grpSpPr>
        <p:sp>
          <p:nvSpPr>
            <p:cNvPr id="8" name="Level 2" descr="pptx-deck-generated"/>
            <p:cNvSpPr/>
            <p:nvPr/>
          </p:nvSpPr>
          <p:spPr>
            <a:xfrm>
              <a:off x="0" y="0"/>
              <a:ext cx="4836782" cy="1484376"/>
            </a:xfrm>
            <a:prstGeom prst="trapezoid">
              <a:avLst/>
            </a:prstGeom>
            <a:solidFill>
              <a:schemeClr val="accent1">
                <a:lumMod val="88000"/>
                <a:lumOff val="12000"/>
              </a:schemeClr>
            </a:solidFill>
            <a:ln w="9525">
              <a:solidFill>
                <a:schemeClr val="lt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lt1"/>
                  </a:solidFill>
                  <a:latin typeface="Yu Gothic"/>
                  <a:ea typeface="Yu Gothic"/>
                </a:rPr>
                <a:t>分類</a:t>
              </a:r>
            </a:p>
          </p:txBody>
        </p:sp>
        <p:sp>
          <p:nvSpPr>
            <p:cNvPr id="9" name="Level 2 detail box" descr="pptx-deck-generated"/>
            <p:cNvSpPr/>
            <p:nvPr/>
          </p:nvSpPr>
          <p:spPr>
            <a:xfrm>
              <a:off x="5902941" y="9144"/>
              <a:ext cx="4616348" cy="1466088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/>
                  </a:solidFill>
                  <a:latin typeface="Yu Gothic"/>
                  <a:ea typeface="Yu Gothic"/>
                </a:rPr>
                <a:t>カテゴリと緊急度を確認</a:t>
              </a:r>
            </a:p>
          </p:txBody>
        </p:sp>
      </p:grpSp>
      <p:sp>
        <p:nvSpPr>
          <p:cNvPr id="10" name="Level 2 leader" descr="pptx-deck-generated"/>
          <p:cNvSpPr/>
          <p:nvPr/>
        </p:nvSpPr>
        <p:spPr>
          <a:xfrm>
            <a:off x="5976093" y="3863339"/>
            <a:ext cx="1020438" cy="13716"/>
          </a:xfrm>
          <a:prstGeom prst="rect">
            <a:avLst/>
          </a:prstGeom>
          <a:solidFill>
            <a:schemeClr val="lt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1" name="Pyramid 3" descr="pptx-deck-generated"/>
          <p:cNvGrpSpPr/>
          <p:nvPr/>
        </p:nvGrpSpPr>
        <p:grpSpPr>
          <a:xfrm>
            <a:off x="1821420" y="4660392"/>
            <a:ext cx="9837179" cy="1484376"/>
            <a:chOff x="0" y="0"/>
            <a:chExt cx="9837179" cy="1484376"/>
          </a:xfrm>
        </p:grpSpPr>
        <p:sp>
          <p:nvSpPr>
            <p:cNvPr id="12" name="Level 3" descr="pptx-deck-generated"/>
            <p:cNvSpPr/>
            <p:nvPr/>
          </p:nvSpPr>
          <p:spPr>
            <a:xfrm>
              <a:off x="0" y="0"/>
              <a:ext cx="3472562" cy="1484376"/>
            </a:xfrm>
            <a:prstGeom prst="triangle">
              <a:avLst/>
            </a:prstGeom>
            <a:solidFill>
              <a:schemeClr val="accent1">
                <a:lumMod val="100000"/>
                <a:lumOff val="0"/>
              </a:schemeClr>
            </a:solidFill>
            <a:ln w="9525">
              <a:solidFill>
                <a:schemeClr val="lt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lt1"/>
                  </a:solidFill>
                  <a:latin typeface="Yu Gothic"/>
                  <a:ea typeface="Yu Gothic"/>
                </a:rPr>
                <a:t>担当へ連携</a:t>
              </a:r>
            </a:p>
          </p:txBody>
        </p:sp>
        <p:sp>
          <p:nvSpPr>
            <p:cNvPr id="13" name="Level 3 detail box" descr="pptx-deck-generated"/>
            <p:cNvSpPr/>
            <p:nvPr/>
          </p:nvSpPr>
          <p:spPr>
            <a:xfrm>
              <a:off x="5220831" y="9144"/>
              <a:ext cx="4616348" cy="1466088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/>
                  </a:solidFill>
                  <a:latin typeface="Yu Gothic"/>
                  <a:ea typeface="Yu Gothic"/>
                </a:rPr>
                <a:t>適切なチームへ割り当て</a:t>
              </a:r>
            </a:p>
          </p:txBody>
        </p:sp>
      </p:grpSp>
      <p:sp>
        <p:nvSpPr>
          <p:cNvPr id="14" name="Level 3 leader" descr="pptx-deck-generated"/>
          <p:cNvSpPr/>
          <p:nvPr/>
        </p:nvSpPr>
        <p:spPr>
          <a:xfrm>
            <a:off x="5293982" y="5402580"/>
            <a:ext cx="1702548" cy="13716"/>
          </a:xfrm>
          <a:prstGeom prst="rect">
            <a:avLst/>
          </a:prstGeom>
          <a:solidFill>
            <a:schemeClr val="lt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/>
          <a:lstStyle/>
          <a:p>
            <a:r>
              <a:t>対応結果をFAQへ活用する</a:t>
            </a:r>
          </a:p>
        </p:txBody>
      </p:sp>
      <p:cxnSp>
        <p:nvCxnSpPr>
          <p:cNvPr id="3" name="Cycle connector 1" descr="pptx-deck-generated"/>
          <p:cNvCxnSpPr/>
          <p:nvPr/>
        </p:nvCxnSpPr>
        <p:spPr>
          <a:xfrm>
            <a:off x="7008876" y="2647019"/>
            <a:ext cx="2187397" cy="846121"/>
          </a:xfrm>
          <a:prstGeom prst="line">
            <a:avLst/>
          </a:prstGeom>
          <a:ln w="15875">
            <a:solidFill>
              <a:schemeClr val="accent1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ycle connector 2" descr="pptx-deck-generated"/>
          <p:cNvCxnSpPr/>
          <p:nvPr/>
        </p:nvCxnSpPr>
        <p:spPr>
          <a:xfrm flipH="1">
            <a:off x="7051517" y="4217044"/>
            <a:ext cx="2187397" cy="846121"/>
          </a:xfrm>
          <a:prstGeom prst="line">
            <a:avLst/>
          </a:prstGeom>
          <a:ln w="15875">
            <a:solidFill>
              <a:schemeClr val="accent1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ycle connector 3" descr="pptx-deck-generated"/>
          <p:cNvCxnSpPr/>
          <p:nvPr/>
        </p:nvCxnSpPr>
        <p:spPr>
          <a:xfrm flipH="1" flipV="1">
            <a:off x="2992678" y="4233539"/>
            <a:ext cx="2187398" cy="846121"/>
          </a:xfrm>
          <a:prstGeom prst="line">
            <a:avLst/>
          </a:prstGeom>
          <a:ln w="15875">
            <a:solidFill>
              <a:schemeClr val="accent1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ycle connector 4" descr="pptx-deck-generated"/>
          <p:cNvCxnSpPr/>
          <p:nvPr/>
        </p:nvCxnSpPr>
        <p:spPr>
          <a:xfrm flipV="1">
            <a:off x="2950037" y="2663514"/>
            <a:ext cx="2187397" cy="846121"/>
          </a:xfrm>
          <a:prstGeom prst="line">
            <a:avLst/>
          </a:prstGeom>
          <a:ln w="15875">
            <a:solidFill>
              <a:schemeClr val="accent1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Cycle 1" descr="pptx-deck-generated"/>
          <p:cNvGrpSpPr/>
          <p:nvPr/>
        </p:nvGrpSpPr>
        <p:grpSpPr>
          <a:xfrm>
            <a:off x="5180076" y="1881835"/>
            <a:ext cx="1828800" cy="822960"/>
            <a:chOff x="0" y="0"/>
            <a:chExt cx="1828800" cy="822960"/>
          </a:xfrm>
        </p:grpSpPr>
        <p:sp>
          <p:nvSpPr>
            <p:cNvPr id="8" name="Cycle node 1" descr="pptx-deck-generated"/>
            <p:cNvSpPr/>
            <p:nvPr/>
          </p:nvSpPr>
          <p:spPr>
            <a:xfrm>
              <a:off x="0" y="0"/>
              <a:ext cx="1828800" cy="822960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dk1"/>
                  </a:solidFill>
                  <a:latin typeface="Yu Gothic"/>
                  <a:ea typeface="Yu Gothic"/>
                </a:rPr>
                <a:t>受け付ける</a:t>
              </a:r>
            </a:p>
          </p:txBody>
        </p:sp>
      </p:grpSp>
      <p:grpSp>
        <p:nvGrpSpPr>
          <p:cNvPr id="9" name="Cycle 2" descr="pptx-deck-generated"/>
          <p:cNvGrpSpPr/>
          <p:nvPr/>
        </p:nvGrpSpPr>
        <p:grpSpPr>
          <a:xfrm>
            <a:off x="9238914" y="3451859"/>
            <a:ext cx="1828800" cy="822960"/>
            <a:chOff x="0" y="0"/>
            <a:chExt cx="1828800" cy="822960"/>
          </a:xfrm>
        </p:grpSpPr>
        <p:sp>
          <p:nvSpPr>
            <p:cNvPr id="10" name="Cycle node 2" descr="pptx-deck-generated"/>
            <p:cNvSpPr/>
            <p:nvPr/>
          </p:nvSpPr>
          <p:spPr>
            <a:xfrm>
              <a:off x="0" y="0"/>
              <a:ext cx="1828800" cy="822960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dk1"/>
                  </a:solidFill>
                  <a:latin typeface="Yu Gothic"/>
                  <a:ea typeface="Yu Gothic"/>
                </a:rPr>
                <a:t>分類する</a:t>
              </a:r>
            </a:p>
          </p:txBody>
        </p:sp>
      </p:grpSp>
      <p:grpSp>
        <p:nvGrpSpPr>
          <p:cNvPr id="11" name="Cycle 3" descr="pptx-deck-generated"/>
          <p:cNvGrpSpPr/>
          <p:nvPr/>
        </p:nvGrpSpPr>
        <p:grpSpPr>
          <a:xfrm>
            <a:off x="5180076" y="5021884"/>
            <a:ext cx="1828800" cy="822960"/>
            <a:chOff x="0" y="0"/>
            <a:chExt cx="1828800" cy="822960"/>
          </a:xfrm>
        </p:grpSpPr>
        <p:sp>
          <p:nvSpPr>
            <p:cNvPr id="12" name="Cycle node 3" descr="pptx-deck-generated"/>
            <p:cNvSpPr/>
            <p:nvPr/>
          </p:nvSpPr>
          <p:spPr>
            <a:xfrm>
              <a:off x="0" y="0"/>
              <a:ext cx="1828800" cy="822960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dk1"/>
                  </a:solidFill>
                  <a:latin typeface="Yu Gothic"/>
                  <a:ea typeface="Yu Gothic"/>
                </a:rPr>
                <a:t>解決する</a:t>
              </a:r>
            </a:p>
          </p:txBody>
        </p:sp>
      </p:grpSp>
      <p:grpSp>
        <p:nvGrpSpPr>
          <p:cNvPr id="13" name="Cycle 4" descr="pptx-deck-generated"/>
          <p:cNvGrpSpPr/>
          <p:nvPr/>
        </p:nvGrpSpPr>
        <p:grpSpPr>
          <a:xfrm>
            <a:off x="1121237" y="3451859"/>
            <a:ext cx="1828800" cy="822960"/>
            <a:chOff x="0" y="0"/>
            <a:chExt cx="1828800" cy="822960"/>
          </a:xfrm>
        </p:grpSpPr>
        <p:sp>
          <p:nvSpPr>
            <p:cNvPr id="14" name="Cycle node 4" descr="pptx-deck-generated"/>
            <p:cNvSpPr/>
            <p:nvPr/>
          </p:nvSpPr>
          <p:spPr>
            <a:xfrm>
              <a:off x="0" y="0"/>
              <a:ext cx="1828800" cy="822960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dk1"/>
                  </a:solidFill>
                  <a:latin typeface="Yu Gothic"/>
                  <a:ea typeface="Yu Gothic"/>
                </a:rPr>
                <a:t>FAQを更新</a:t>
              </a:r>
            </a:p>
          </p:txBody>
        </p:sp>
      </p:grpSp>
      <p:sp>
        <p:nvSpPr>
          <p:cNvPr id="15" name="Cycle center" descr="pptx-deck-generated"/>
          <p:cNvSpPr/>
          <p:nvPr/>
        </p:nvSpPr>
        <p:spPr>
          <a:xfrm>
            <a:off x="5568696" y="3337559"/>
            <a:ext cx="1051560" cy="1051560"/>
          </a:xfrm>
          <a:prstGeom prst="ellipse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chemeClr val="lt1"/>
                </a:solidFill>
                <a:latin typeface="Yu Gothic"/>
                <a:ea typeface="Yu Gothic"/>
              </a:rPr>
              <a:t>継続改善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/>
          <a:lstStyle/>
          <a:p>
            <a:r>
              <a:t>役割・手順・ツール</a:t>
            </a:r>
          </a:p>
        </p:txBody>
      </p:sp>
      <p:grpSp>
        <p:nvGrpSpPr>
          <p:cNvPr id="3" name="Layers 1" descr="pptx-deck-generated"/>
          <p:cNvGrpSpPr/>
          <p:nvPr/>
        </p:nvGrpSpPr>
        <p:grpSpPr>
          <a:xfrm>
            <a:off x="457200" y="1554480"/>
            <a:ext cx="11274552" cy="1466088"/>
            <a:chOff x="0" y="0"/>
            <a:chExt cx="11274552" cy="1466088"/>
          </a:xfrm>
        </p:grpSpPr>
        <p:sp>
          <p:nvSpPr>
            <p:cNvPr id="4" name="Layer 1 label" descr="pptx-deck-generated"/>
            <p:cNvSpPr/>
            <p:nvPr/>
          </p:nvSpPr>
          <p:spPr>
            <a:xfrm>
              <a:off x="0" y="0"/>
              <a:ext cx="2818638" cy="1466088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lt1"/>
                  </a:solidFill>
                  <a:latin typeface="Yu Gothic"/>
                  <a:ea typeface="Yu Gothic"/>
                </a:rPr>
                <a:t>窓口</a:t>
              </a:r>
            </a:p>
          </p:txBody>
        </p:sp>
        <p:sp>
          <p:nvSpPr>
            <p:cNvPr id="5" name="Layer 1 item 1" descr="pptx-deck-generated"/>
            <p:cNvSpPr/>
            <p:nvPr/>
          </p:nvSpPr>
          <p:spPr>
            <a:xfrm>
              <a:off x="3001518" y="0"/>
              <a:ext cx="4081653" cy="1466088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/>
                  </a:solidFill>
                  <a:latin typeface="Yu Gothic"/>
                  <a:ea typeface="Yu Gothic"/>
                </a:rPr>
                <a:t>受付フォーム</a:t>
              </a:r>
            </a:p>
          </p:txBody>
        </p:sp>
        <p:sp>
          <p:nvSpPr>
            <p:cNvPr id="6" name="Layer 1 item 2" descr="pptx-deck-generated"/>
            <p:cNvSpPr/>
            <p:nvPr/>
          </p:nvSpPr>
          <p:spPr>
            <a:xfrm>
              <a:off x="7192899" y="0"/>
              <a:ext cx="4081653" cy="1466088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/>
                  </a:solidFill>
                  <a:latin typeface="Yu Gothic"/>
                  <a:ea typeface="Yu Gothic"/>
                </a:rPr>
                <a:t>共通メール</a:t>
              </a:r>
            </a:p>
          </p:txBody>
        </p:sp>
      </p:grpSp>
      <p:grpSp>
        <p:nvGrpSpPr>
          <p:cNvPr id="7" name="Layers 2" descr="pptx-deck-generated"/>
          <p:cNvGrpSpPr/>
          <p:nvPr/>
        </p:nvGrpSpPr>
        <p:grpSpPr>
          <a:xfrm>
            <a:off x="457200" y="3130295"/>
            <a:ext cx="11274552" cy="1466088"/>
            <a:chOff x="0" y="0"/>
            <a:chExt cx="11274552" cy="1466088"/>
          </a:xfrm>
        </p:grpSpPr>
        <p:sp>
          <p:nvSpPr>
            <p:cNvPr id="8" name="Layer 2 label" descr="pptx-deck-generated"/>
            <p:cNvSpPr/>
            <p:nvPr/>
          </p:nvSpPr>
          <p:spPr>
            <a:xfrm>
              <a:off x="0" y="0"/>
              <a:ext cx="2818638" cy="1466088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lt1"/>
                  </a:solidFill>
                  <a:latin typeface="Yu Gothic"/>
                  <a:ea typeface="Yu Gothic"/>
                </a:rPr>
                <a:t>運用</a:t>
              </a:r>
            </a:p>
          </p:txBody>
        </p:sp>
        <p:sp>
          <p:nvSpPr>
            <p:cNvPr id="9" name="Layer 2 item 1" descr="pptx-deck-generated"/>
            <p:cNvSpPr/>
            <p:nvPr/>
          </p:nvSpPr>
          <p:spPr>
            <a:xfrm>
              <a:off x="3001518" y="0"/>
              <a:ext cx="4081653" cy="1466088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/>
                  </a:solidFill>
                  <a:latin typeface="Yu Gothic"/>
                  <a:ea typeface="Yu Gothic"/>
                </a:rPr>
                <a:t>分類基準</a:t>
              </a:r>
            </a:p>
          </p:txBody>
        </p:sp>
        <p:sp>
          <p:nvSpPr>
            <p:cNvPr id="10" name="Layer 2 item 2" descr="pptx-deck-generated"/>
            <p:cNvSpPr/>
            <p:nvPr/>
          </p:nvSpPr>
          <p:spPr>
            <a:xfrm>
              <a:off x="7192899" y="0"/>
              <a:ext cx="4081653" cy="1466088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/>
                  </a:solidFill>
                  <a:latin typeface="Yu Gothic"/>
                  <a:ea typeface="Yu Gothic"/>
                </a:rPr>
                <a:t>担当表</a:t>
              </a:r>
            </a:p>
          </p:txBody>
        </p:sp>
      </p:grpSp>
      <p:grpSp>
        <p:nvGrpSpPr>
          <p:cNvPr id="11" name="Layers 3" descr="pptx-deck-generated"/>
          <p:cNvGrpSpPr/>
          <p:nvPr/>
        </p:nvGrpSpPr>
        <p:grpSpPr>
          <a:xfrm>
            <a:off x="457200" y="4706112"/>
            <a:ext cx="11274552" cy="1466088"/>
            <a:chOff x="0" y="0"/>
            <a:chExt cx="11274552" cy="1466088"/>
          </a:xfrm>
        </p:grpSpPr>
        <p:sp>
          <p:nvSpPr>
            <p:cNvPr id="12" name="Layer 3 label" descr="pptx-deck-generated"/>
            <p:cNvSpPr/>
            <p:nvPr/>
          </p:nvSpPr>
          <p:spPr>
            <a:xfrm>
              <a:off x="0" y="0"/>
              <a:ext cx="2818638" cy="1466088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lt1"/>
                  </a:solidFill>
                  <a:latin typeface="Yu Gothic"/>
                  <a:ea typeface="Yu Gothic"/>
                </a:rPr>
                <a:t>ナレッジ</a:t>
              </a:r>
            </a:p>
          </p:txBody>
        </p:sp>
        <p:sp>
          <p:nvSpPr>
            <p:cNvPr id="13" name="Layer 3 item 1" descr="pptx-deck-generated"/>
            <p:cNvSpPr/>
            <p:nvPr/>
          </p:nvSpPr>
          <p:spPr>
            <a:xfrm>
              <a:off x="3001518" y="0"/>
              <a:ext cx="4081653" cy="1466088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/>
                  </a:solidFill>
                  <a:latin typeface="Yu Gothic"/>
                  <a:ea typeface="Yu Gothic"/>
                </a:rPr>
                <a:t>FAQ</a:t>
              </a:r>
            </a:p>
          </p:txBody>
        </p:sp>
        <p:sp>
          <p:nvSpPr>
            <p:cNvPr id="14" name="Layer 3 item 2" descr="pptx-deck-generated"/>
            <p:cNvSpPr/>
            <p:nvPr/>
          </p:nvSpPr>
          <p:spPr>
            <a:xfrm>
              <a:off x="7192899" y="0"/>
              <a:ext cx="4081653" cy="1466088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/>
                  </a:solidFill>
                  <a:latin typeface="Yu Gothic"/>
                  <a:ea typeface="Yu Gothic"/>
                </a:rPr>
                <a:t>対応履歴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/>
          <a:lstStyle/>
          <a:p>
            <a:r>
              <a:t>試行から全社展開</a:t>
            </a:r>
          </a:p>
        </p:txBody>
      </p:sp>
      <p:sp>
        <p:nvSpPr>
          <p:cNvPr id="3" name="Roadmap period 1" descr="pptx-deck-generated"/>
          <p:cNvSpPr/>
          <p:nvPr/>
        </p:nvSpPr>
        <p:spPr>
          <a:xfrm>
            <a:off x="2468880" y="1554480"/>
            <a:ext cx="2315718" cy="438912"/>
          </a:xfrm>
          <a:prstGeom prst="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chemeClr val="lt1"/>
                </a:solidFill>
                <a:latin typeface="Yu Gothic"/>
                <a:ea typeface="Yu Gothic"/>
              </a:rPr>
              <a:t>10月</a:t>
            </a:r>
          </a:p>
        </p:txBody>
      </p:sp>
      <p:sp>
        <p:nvSpPr>
          <p:cNvPr id="4" name="Roadmap grid 1" descr="pptx-deck-generated"/>
          <p:cNvSpPr/>
          <p:nvPr/>
        </p:nvSpPr>
        <p:spPr>
          <a:xfrm>
            <a:off x="2468880" y="2450591"/>
            <a:ext cx="9144" cy="3721608"/>
          </a:xfrm>
          <a:prstGeom prst="rect">
            <a:avLst/>
          </a:prstGeom>
          <a:solidFill>
            <a:schemeClr val="lt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admap period 2" descr="pptx-deck-generated"/>
          <p:cNvSpPr/>
          <p:nvPr/>
        </p:nvSpPr>
        <p:spPr>
          <a:xfrm>
            <a:off x="4784598" y="1554480"/>
            <a:ext cx="2315718" cy="438912"/>
          </a:xfrm>
          <a:prstGeom prst="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chemeClr val="lt1"/>
                </a:solidFill>
                <a:latin typeface="Yu Gothic"/>
                <a:ea typeface="Yu Gothic"/>
              </a:rPr>
              <a:t>11月</a:t>
            </a:r>
          </a:p>
        </p:txBody>
      </p:sp>
      <p:sp>
        <p:nvSpPr>
          <p:cNvPr id="6" name="Roadmap grid 2" descr="pptx-deck-generated"/>
          <p:cNvSpPr/>
          <p:nvPr/>
        </p:nvSpPr>
        <p:spPr>
          <a:xfrm>
            <a:off x="4784598" y="2450591"/>
            <a:ext cx="9144" cy="3721608"/>
          </a:xfrm>
          <a:prstGeom prst="rect">
            <a:avLst/>
          </a:prstGeom>
          <a:solidFill>
            <a:schemeClr val="lt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admap period 3" descr="pptx-deck-generated"/>
          <p:cNvSpPr/>
          <p:nvPr/>
        </p:nvSpPr>
        <p:spPr>
          <a:xfrm>
            <a:off x="7100316" y="1554480"/>
            <a:ext cx="2315718" cy="438912"/>
          </a:xfrm>
          <a:prstGeom prst="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chemeClr val="lt1"/>
                </a:solidFill>
                <a:latin typeface="Yu Gothic"/>
                <a:ea typeface="Yu Gothic"/>
              </a:rPr>
              <a:t>12月</a:t>
            </a:r>
          </a:p>
        </p:txBody>
      </p:sp>
      <p:sp>
        <p:nvSpPr>
          <p:cNvPr id="8" name="Roadmap grid 3" descr="pptx-deck-generated"/>
          <p:cNvSpPr/>
          <p:nvPr/>
        </p:nvSpPr>
        <p:spPr>
          <a:xfrm>
            <a:off x="7100316" y="2450591"/>
            <a:ext cx="9144" cy="3721608"/>
          </a:xfrm>
          <a:prstGeom prst="rect">
            <a:avLst/>
          </a:prstGeom>
          <a:solidFill>
            <a:schemeClr val="lt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admap period 4" descr="pptx-deck-generated"/>
          <p:cNvSpPr/>
          <p:nvPr/>
        </p:nvSpPr>
        <p:spPr>
          <a:xfrm>
            <a:off x="9416034" y="1554480"/>
            <a:ext cx="2315718" cy="438912"/>
          </a:xfrm>
          <a:prstGeom prst="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chemeClr val="lt1"/>
                </a:solidFill>
                <a:latin typeface="Yu Gothic"/>
                <a:ea typeface="Yu Gothic"/>
              </a:rPr>
              <a:t>1月</a:t>
            </a:r>
          </a:p>
        </p:txBody>
      </p:sp>
      <p:sp>
        <p:nvSpPr>
          <p:cNvPr id="10" name="Roadmap grid 4" descr="pptx-deck-generated"/>
          <p:cNvSpPr/>
          <p:nvPr/>
        </p:nvSpPr>
        <p:spPr>
          <a:xfrm>
            <a:off x="9416034" y="2450591"/>
            <a:ext cx="9144" cy="3721608"/>
          </a:xfrm>
          <a:prstGeom prst="rect">
            <a:avLst/>
          </a:prstGeom>
          <a:solidFill>
            <a:schemeClr val="lt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admap milestone 1" descr="pptx-deck-generated"/>
          <p:cNvSpPr/>
          <p:nvPr/>
        </p:nvSpPr>
        <p:spPr>
          <a:xfrm>
            <a:off x="5860161" y="2020823"/>
            <a:ext cx="164592" cy="164592"/>
          </a:xfrm>
          <a:prstGeom prst="diamond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admap milestone 1 label" descr="pptx-deck-generated"/>
          <p:cNvSpPr txBox="1"/>
          <p:nvPr/>
        </p:nvSpPr>
        <p:spPr>
          <a:xfrm>
            <a:off x="5210937" y="2176272"/>
            <a:ext cx="1463040" cy="246888"/>
          </a:xfrm>
          <a:prstGeom prst="rect">
            <a:avLst/>
          </a:prstGeom>
          <a:noFill/>
          <a:ln>
            <a:noFill/>
          </a:ln>
        </p:spPr>
        <p:txBody>
          <a:bodyPr wrap="square" anchor="ctr" lIns="82296" rIns="8229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chemeClr val="dk1"/>
                </a:solidFill>
                <a:latin typeface="Yu Gothic"/>
                <a:ea typeface="Yu Gothic"/>
              </a:rPr>
              <a:t>試行開始</a:t>
            </a:r>
          </a:p>
        </p:txBody>
      </p:sp>
      <p:sp>
        <p:nvSpPr>
          <p:cNvPr id="13" name="Roadmap track 1" descr="pptx-deck-generated"/>
          <p:cNvSpPr txBox="1"/>
          <p:nvPr/>
        </p:nvSpPr>
        <p:spPr>
          <a:xfrm>
            <a:off x="493776" y="2478023"/>
            <a:ext cx="1920240" cy="1185672"/>
          </a:xfrm>
          <a:prstGeom prst="rect">
            <a:avLst/>
          </a:prstGeom>
          <a:noFill/>
          <a:ln>
            <a:noFill/>
          </a:ln>
        </p:spPr>
        <p:txBody>
          <a:bodyPr wrap="square" anchor="ctr" lIns="82296" rIns="8229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chemeClr val="dk1"/>
                </a:solidFill>
                <a:latin typeface="Yu Gothic"/>
                <a:ea typeface="Yu Gothic"/>
              </a:rPr>
              <a:t>運用設計</a:t>
            </a:r>
          </a:p>
        </p:txBody>
      </p:sp>
      <p:grpSp>
        <p:nvGrpSpPr>
          <p:cNvPr id="14" name="Roadmap 1" descr="pptx-deck-generated"/>
          <p:cNvGrpSpPr/>
          <p:nvPr/>
        </p:nvGrpSpPr>
        <p:grpSpPr>
          <a:xfrm>
            <a:off x="2505456" y="2523744"/>
            <a:ext cx="4558283" cy="1094232"/>
            <a:chOff x="0" y="0"/>
            <a:chExt cx="4558283" cy="1094232"/>
          </a:xfrm>
        </p:grpSpPr>
        <p:sp>
          <p:nvSpPr>
            <p:cNvPr id="15" name="Roadmap track 1 bar 1" descr="pptx-deck-generated"/>
            <p:cNvSpPr/>
            <p:nvPr/>
          </p:nvSpPr>
          <p:spPr>
            <a:xfrm>
              <a:off x="0" y="0"/>
              <a:ext cx="4558283" cy="1094232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1">
                  <a:solidFill>
                    <a:schemeClr val="lt1"/>
                  </a:solidFill>
                  <a:latin typeface="Yu Gothic"/>
                  <a:ea typeface="Yu Gothic"/>
                </a:rPr>
                <a:t>手順策定</a:t>
              </a:r>
            </a:p>
          </p:txBody>
        </p:sp>
      </p:grpSp>
      <p:sp>
        <p:nvSpPr>
          <p:cNvPr id="16" name="Roadmap track 2" descr="pptx-deck-generated"/>
          <p:cNvSpPr txBox="1"/>
          <p:nvPr/>
        </p:nvSpPr>
        <p:spPr>
          <a:xfrm>
            <a:off x="493776" y="3718560"/>
            <a:ext cx="1920240" cy="1185672"/>
          </a:xfrm>
          <a:prstGeom prst="rect">
            <a:avLst/>
          </a:prstGeom>
          <a:noFill/>
          <a:ln>
            <a:noFill/>
          </a:ln>
        </p:spPr>
        <p:txBody>
          <a:bodyPr wrap="square" anchor="ctr" lIns="82296" rIns="8229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chemeClr val="dk1"/>
                </a:solidFill>
                <a:latin typeface="Yu Gothic"/>
                <a:ea typeface="Yu Gothic"/>
              </a:rPr>
              <a:t>FAQ整備</a:t>
            </a:r>
          </a:p>
        </p:txBody>
      </p:sp>
      <p:grpSp>
        <p:nvGrpSpPr>
          <p:cNvPr id="17" name="Roadmap 11" descr="pptx-deck-generated"/>
          <p:cNvGrpSpPr/>
          <p:nvPr/>
        </p:nvGrpSpPr>
        <p:grpSpPr>
          <a:xfrm>
            <a:off x="2505456" y="3764279"/>
            <a:ext cx="6874001" cy="1094232"/>
            <a:chOff x="0" y="0"/>
            <a:chExt cx="6874001" cy="1094232"/>
          </a:xfrm>
        </p:grpSpPr>
        <p:sp>
          <p:nvSpPr>
            <p:cNvPr id="18" name="Roadmap track 2 bar 1" descr="pptx-deck-generated"/>
            <p:cNvSpPr/>
            <p:nvPr/>
          </p:nvSpPr>
          <p:spPr>
            <a:xfrm>
              <a:off x="0" y="0"/>
              <a:ext cx="6874001" cy="1094232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1">
                  <a:solidFill>
                    <a:schemeClr val="lt1"/>
                  </a:solidFill>
                  <a:latin typeface="Yu Gothic"/>
                  <a:ea typeface="Yu Gothic"/>
                </a:rPr>
                <a:t>初版・更新</a:t>
              </a:r>
            </a:p>
          </p:txBody>
        </p:sp>
      </p:grpSp>
      <p:sp>
        <p:nvSpPr>
          <p:cNvPr id="19" name="Roadmap track 3" descr="pptx-deck-generated"/>
          <p:cNvSpPr txBox="1"/>
          <p:nvPr/>
        </p:nvSpPr>
        <p:spPr>
          <a:xfrm>
            <a:off x="493776" y="4959096"/>
            <a:ext cx="1920240" cy="1185672"/>
          </a:xfrm>
          <a:prstGeom prst="rect">
            <a:avLst/>
          </a:prstGeom>
          <a:noFill/>
          <a:ln>
            <a:noFill/>
          </a:ln>
        </p:spPr>
        <p:txBody>
          <a:bodyPr wrap="square" anchor="ctr" lIns="82296" rIns="8229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chemeClr val="dk1"/>
                </a:solidFill>
                <a:latin typeface="Yu Gothic"/>
                <a:ea typeface="Yu Gothic"/>
              </a:rPr>
              <a:t>試行・展開</a:t>
            </a:r>
          </a:p>
        </p:txBody>
      </p:sp>
      <p:grpSp>
        <p:nvGrpSpPr>
          <p:cNvPr id="20" name="Roadmap 21" descr="pptx-deck-generated"/>
          <p:cNvGrpSpPr/>
          <p:nvPr/>
        </p:nvGrpSpPr>
        <p:grpSpPr>
          <a:xfrm>
            <a:off x="4821174" y="5004815"/>
            <a:ext cx="2242565" cy="1094232"/>
            <a:chOff x="0" y="0"/>
            <a:chExt cx="2242565" cy="1094232"/>
          </a:xfrm>
        </p:grpSpPr>
        <p:sp>
          <p:nvSpPr>
            <p:cNvPr id="21" name="Roadmap track 3 bar 1" descr="pptx-deck-generated"/>
            <p:cNvSpPr/>
            <p:nvPr/>
          </p:nvSpPr>
          <p:spPr>
            <a:xfrm>
              <a:off x="0" y="0"/>
              <a:ext cx="2242565" cy="1094232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1">
                  <a:solidFill>
                    <a:schemeClr val="lt1"/>
                  </a:solidFill>
                  <a:latin typeface="Yu Gothic"/>
                  <a:ea typeface="Yu Gothic"/>
                </a:rPr>
                <a:t>試行</a:t>
              </a:r>
            </a:p>
          </p:txBody>
        </p:sp>
      </p:grpSp>
      <p:grpSp>
        <p:nvGrpSpPr>
          <p:cNvPr id="22" name="Roadmap 22" descr="pptx-deck-generated"/>
          <p:cNvGrpSpPr/>
          <p:nvPr/>
        </p:nvGrpSpPr>
        <p:grpSpPr>
          <a:xfrm>
            <a:off x="7136892" y="5004815"/>
            <a:ext cx="4558283" cy="1094232"/>
            <a:chOff x="0" y="0"/>
            <a:chExt cx="4558283" cy="1094232"/>
          </a:xfrm>
        </p:grpSpPr>
        <p:sp>
          <p:nvSpPr>
            <p:cNvPr id="23" name="Roadmap track 3 bar 2" descr="pptx-deck-generated"/>
            <p:cNvSpPr/>
            <p:nvPr/>
          </p:nvSpPr>
          <p:spPr>
            <a:xfrm>
              <a:off x="0" y="0"/>
              <a:ext cx="4558283" cy="1094232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1">
                  <a:solidFill>
                    <a:schemeClr val="dk1"/>
                  </a:solidFill>
                  <a:latin typeface="Yu Gothic"/>
                  <a:ea typeface="Yu Gothic"/>
                </a:rPr>
                <a:t>展開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/>
          <a:lstStyle/>
          <a:p>
            <a:r>
              <a:t>誰でも同じ入口から相談できる</a:t>
            </a:r>
          </a:p>
        </p:txBody>
      </p:sp>
      <p:sp>
        <p:nvSpPr>
          <p:cNvPr id="3" name="Message banner" descr="pptx-deck-generated"/>
          <p:cNvSpPr/>
          <p:nvPr/>
        </p:nvSpPr>
        <p:spPr>
          <a:xfrm>
            <a:off x="457200" y="1554480"/>
            <a:ext cx="11274552" cy="1754733"/>
          </a:xfrm>
          <a:prstGeom prst="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lt1"/>
                </a:solidFill>
                <a:latin typeface="Yu Gothic"/>
                <a:ea typeface="Yu Gothic"/>
              </a:rPr>
              <a:t>まず受付先を一本化する</a:t>
            </a:r>
          </a:p>
        </p:txBody>
      </p:sp>
      <p:grpSp>
        <p:nvGrpSpPr>
          <p:cNvPr id="4" name="Message 1" descr="pptx-deck-generated"/>
          <p:cNvGrpSpPr/>
          <p:nvPr/>
        </p:nvGrpSpPr>
        <p:grpSpPr>
          <a:xfrm>
            <a:off x="457200" y="3528669"/>
            <a:ext cx="3660647" cy="2552090"/>
            <a:chOff x="0" y="0"/>
            <a:chExt cx="3660647" cy="2552090"/>
          </a:xfrm>
        </p:grpSpPr>
        <p:sp>
          <p:nvSpPr>
            <p:cNvPr id="5" name="Message support 1" descr="pptx-deck-generated"/>
            <p:cNvSpPr/>
            <p:nvPr/>
          </p:nvSpPr>
          <p:spPr>
            <a:xfrm>
              <a:off x="0" y="0"/>
              <a:ext cx="3660647" cy="2552090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共通フォーム</a:t>
              </a:r>
            </a:p>
          </p:txBody>
        </p:sp>
      </p:grpSp>
      <p:grpSp>
        <p:nvGrpSpPr>
          <p:cNvPr id="6" name="Message 2" descr="pptx-deck-generated"/>
          <p:cNvGrpSpPr/>
          <p:nvPr/>
        </p:nvGrpSpPr>
        <p:grpSpPr>
          <a:xfrm>
            <a:off x="4264152" y="3528669"/>
            <a:ext cx="3660647" cy="2552090"/>
            <a:chOff x="0" y="0"/>
            <a:chExt cx="3660647" cy="2552090"/>
          </a:xfrm>
        </p:grpSpPr>
        <p:sp>
          <p:nvSpPr>
            <p:cNvPr id="7" name="Message support 2" descr="pptx-deck-generated"/>
            <p:cNvSpPr/>
            <p:nvPr/>
          </p:nvSpPr>
          <p:spPr>
            <a:xfrm>
              <a:off x="0" y="0"/>
              <a:ext cx="3660647" cy="2552090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共通の分類基準</a:t>
              </a:r>
            </a:p>
          </p:txBody>
        </p:sp>
      </p:grpSp>
      <p:grpSp>
        <p:nvGrpSpPr>
          <p:cNvPr id="8" name="Message 3" descr="pptx-deck-generated"/>
          <p:cNvGrpSpPr/>
          <p:nvPr/>
        </p:nvGrpSpPr>
        <p:grpSpPr>
          <a:xfrm>
            <a:off x="8071104" y="3528669"/>
            <a:ext cx="3660647" cy="2552090"/>
            <a:chOff x="0" y="0"/>
            <a:chExt cx="3660647" cy="2552090"/>
          </a:xfrm>
        </p:grpSpPr>
        <p:sp>
          <p:nvSpPr>
            <p:cNvPr id="9" name="Message support 3" descr="pptx-deck-generated"/>
            <p:cNvSpPr/>
            <p:nvPr/>
          </p:nvSpPr>
          <p:spPr>
            <a:xfrm>
              <a:off x="0" y="0"/>
              <a:ext cx="3660647" cy="2552090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担当と進捗の見える化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/>
          <a:lstStyle/>
          <a:p>
            <a:r>
              <a:t>対応履歴を組織の知識にする</a:t>
            </a:r>
          </a:p>
        </p:txBody>
      </p:sp>
      <p:sp>
        <p:nvSpPr>
          <p:cNvPr id="3" name="Message quote bar" descr="pptx-deck-generated"/>
          <p:cNvSpPr/>
          <p:nvPr/>
        </p:nvSpPr>
        <p:spPr>
          <a:xfrm>
            <a:off x="457200" y="1554480"/>
            <a:ext cx="118872" cy="4617720"/>
          </a:xfrm>
          <a:prstGeom prst="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Message quote" descr="pptx-deck-generated"/>
          <p:cNvSpPr txBox="1"/>
          <p:nvPr/>
        </p:nvSpPr>
        <p:spPr>
          <a:xfrm>
            <a:off x="777240" y="1664207"/>
            <a:ext cx="10817352" cy="2585923"/>
          </a:xfrm>
          <a:prstGeom prst="rect">
            <a:avLst/>
          </a:prstGeom>
          <a:noFill/>
          <a:ln>
            <a:noFill/>
          </a:ln>
        </p:spPr>
        <p:txBody>
          <a:bodyPr wrap="square" anchor="ctr" lIns="82296" rIns="8229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dk1"/>
                </a:solidFill>
                <a:latin typeface="Yu Gothic"/>
                <a:ea typeface="Yu Gothic"/>
              </a:rPr>
              <a:t>一度の回答を、次の人の近道に。</a:t>
            </a:r>
          </a:p>
        </p:txBody>
      </p:sp>
      <p:grpSp>
        <p:nvGrpSpPr>
          <p:cNvPr id="5" name="Message 1" descr="pptx-deck-generated"/>
          <p:cNvGrpSpPr/>
          <p:nvPr/>
        </p:nvGrpSpPr>
        <p:grpSpPr>
          <a:xfrm>
            <a:off x="777240" y="4286707"/>
            <a:ext cx="5335524" cy="1775764"/>
            <a:chOff x="0" y="0"/>
            <a:chExt cx="5335524" cy="1775764"/>
          </a:xfrm>
        </p:grpSpPr>
        <p:sp>
          <p:nvSpPr>
            <p:cNvPr id="6" name="Message support 1" descr="pptx-deck-generated"/>
            <p:cNvSpPr/>
            <p:nvPr/>
          </p:nvSpPr>
          <p:spPr>
            <a:xfrm>
              <a:off x="0" y="0"/>
              <a:ext cx="5335524" cy="1775764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/>
                  </a:solidFill>
                  <a:latin typeface="Yu Gothic"/>
                  <a:ea typeface="Yu Gothic"/>
                </a:rPr>
                <a:t>解決内容を記録</a:t>
              </a:r>
            </a:p>
          </p:txBody>
        </p:sp>
      </p:grpSp>
      <p:grpSp>
        <p:nvGrpSpPr>
          <p:cNvPr id="7" name="Message 2" descr="pptx-deck-generated"/>
          <p:cNvGrpSpPr/>
          <p:nvPr/>
        </p:nvGrpSpPr>
        <p:grpSpPr>
          <a:xfrm>
            <a:off x="6259068" y="4286707"/>
            <a:ext cx="5335524" cy="1775764"/>
            <a:chOff x="0" y="0"/>
            <a:chExt cx="5335524" cy="1775764"/>
          </a:xfrm>
        </p:grpSpPr>
        <p:sp>
          <p:nvSpPr>
            <p:cNvPr id="8" name="Message support 2" descr="pptx-deck-generated"/>
            <p:cNvSpPr/>
            <p:nvPr/>
          </p:nvSpPr>
          <p:spPr>
            <a:xfrm>
              <a:off x="0" y="0"/>
              <a:ext cx="5335524" cy="1775764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/>
                  </a:solidFill>
                  <a:latin typeface="Yu Gothic"/>
                  <a:ea typeface="Yu Gothic"/>
                </a:rPr>
                <a:t>FAQを継続更新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/>
          <a:lstStyle/>
          <a:p>
            <a:r>
              <a:t>試行前に役割を決める</a:t>
            </a:r>
          </a:p>
        </p:txBody>
      </p:sp>
      <p:sp>
        <p:nvSpPr>
          <p:cNvPr id="3" name="Checklist heading 項目" descr="pptx-deck-generated"/>
          <p:cNvSpPr txBox="1"/>
          <p:nvPr/>
        </p:nvSpPr>
        <p:spPr>
          <a:xfrm>
            <a:off x="1051560" y="1554480"/>
            <a:ext cx="5975512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 lIns="82296" rIns="8229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chemeClr val="dk1">
                    <a:lumMod val="65000"/>
                    <a:lumOff val="35000"/>
                  </a:schemeClr>
                </a:solidFill>
                <a:latin typeface="Yu Gothic"/>
                <a:ea typeface="Yu Gothic"/>
              </a:rPr>
              <a:t>項目</a:t>
            </a:r>
          </a:p>
        </p:txBody>
      </p:sp>
      <p:sp>
        <p:nvSpPr>
          <p:cNvPr id="4" name="Checklist heading 担当" descr="pptx-deck-generated"/>
          <p:cNvSpPr txBox="1"/>
          <p:nvPr/>
        </p:nvSpPr>
        <p:spPr>
          <a:xfrm>
            <a:off x="8574877" y="1554480"/>
            <a:ext cx="1691182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 lIns="82296" rIns="8229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chemeClr val="dk1">
                    <a:lumMod val="65000"/>
                    <a:lumOff val="35000"/>
                  </a:schemeClr>
                </a:solidFill>
                <a:latin typeface="Yu Gothic"/>
                <a:ea typeface="Yu Gothic"/>
              </a:rPr>
              <a:t>担当</a:t>
            </a:r>
          </a:p>
        </p:txBody>
      </p:sp>
      <p:sp>
        <p:nvSpPr>
          <p:cNvPr id="5" name="Checklist heading 期限" descr="pptx-deck-generated"/>
          <p:cNvSpPr txBox="1"/>
          <p:nvPr/>
        </p:nvSpPr>
        <p:spPr>
          <a:xfrm>
            <a:off x="10378805" y="1554480"/>
            <a:ext cx="124020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 lIns="82296" rIns="8229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chemeClr val="dk1">
                    <a:lumMod val="65000"/>
                    <a:lumOff val="35000"/>
                  </a:schemeClr>
                </a:solidFill>
                <a:latin typeface="Yu Gothic"/>
                <a:ea typeface="Yu Gothic"/>
              </a:rPr>
              <a:t>期限</a:t>
            </a:r>
          </a:p>
        </p:txBody>
      </p:sp>
      <p:grpSp>
        <p:nvGrpSpPr>
          <p:cNvPr id="6" name="Checklist 1" descr="pptx-deck-generated"/>
          <p:cNvGrpSpPr/>
          <p:nvPr/>
        </p:nvGrpSpPr>
        <p:grpSpPr>
          <a:xfrm>
            <a:off x="502920" y="1975104"/>
            <a:ext cx="11116085" cy="1017269"/>
            <a:chOff x="0" y="0"/>
            <a:chExt cx="11116085" cy="1017269"/>
          </a:xfrm>
        </p:grpSpPr>
        <p:sp>
          <p:nvSpPr>
            <p:cNvPr id="7" name="Checklist status 1" descr="pptx-deck-generated"/>
            <p:cNvSpPr/>
            <p:nvPr/>
          </p:nvSpPr>
          <p:spPr>
            <a:xfrm>
              <a:off x="0" y="192481"/>
              <a:ext cx="246888" cy="246888"/>
            </a:xfrm>
            <a:prstGeom prst="ellipse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1">
                  <a:solidFill>
                    <a:schemeClr val="lt1"/>
                  </a:solidFill>
                  <a:latin typeface="Yu Gothic"/>
                  <a:ea typeface="Yu Gothic"/>
                </a:rPr>
                <a:t>✓</a:t>
              </a:r>
            </a:p>
          </p:txBody>
        </p:sp>
        <p:sp>
          <p:nvSpPr>
            <p:cNvPr id="8" name="Checklist item 1" descr="pptx-deck-generated"/>
            <p:cNvSpPr txBox="1"/>
            <p:nvPr/>
          </p:nvSpPr>
          <p:spPr>
            <a:xfrm>
              <a:off x="365760" y="0"/>
              <a:ext cx="5862767" cy="101726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対象部門と問い合わせ範囲を決める</a:t>
              </a:r>
            </a:p>
          </p:txBody>
        </p:sp>
        <p:sp>
          <p:nvSpPr>
            <p:cNvPr id="9" name="Checklist owner 1" descr="pptx-deck-generated"/>
            <p:cNvSpPr txBox="1"/>
            <p:nvPr/>
          </p:nvSpPr>
          <p:spPr>
            <a:xfrm>
              <a:off x="8071957" y="0"/>
              <a:ext cx="1691182" cy="101726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/>
              </a:r>
            </a:p>
          </p:txBody>
        </p:sp>
        <p:sp>
          <p:nvSpPr>
            <p:cNvPr id="10" name="Checklist due 1" descr="pptx-deck-generated"/>
            <p:cNvSpPr txBox="1"/>
            <p:nvPr/>
          </p:nvSpPr>
          <p:spPr>
            <a:xfrm>
              <a:off x="9875885" y="0"/>
              <a:ext cx="1240200" cy="101726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/>
              </a:r>
            </a:p>
          </p:txBody>
        </p:sp>
      </p:grpSp>
      <p:grpSp>
        <p:nvGrpSpPr>
          <p:cNvPr id="11" name="Checklist 2" descr="pptx-deck-generated"/>
          <p:cNvGrpSpPr/>
          <p:nvPr/>
        </p:nvGrpSpPr>
        <p:grpSpPr>
          <a:xfrm>
            <a:off x="502920" y="3028950"/>
            <a:ext cx="11116085" cy="1017269"/>
            <a:chOff x="0" y="0"/>
            <a:chExt cx="11116085" cy="1017269"/>
          </a:xfrm>
        </p:grpSpPr>
        <p:sp>
          <p:nvSpPr>
            <p:cNvPr id="12" name="Checklist status 2" descr="pptx-deck-generated"/>
            <p:cNvSpPr/>
            <p:nvPr/>
          </p:nvSpPr>
          <p:spPr>
            <a:xfrm>
              <a:off x="0" y="192481"/>
              <a:ext cx="246888" cy="246888"/>
            </a:xfrm>
            <a:prstGeom prst="ellipse">
              <a:avLst/>
            </a:prstGeom>
            <a:solidFill>
              <a:schemeClr val="lt1">
                <a:lumMod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1">
                  <a:solidFill>
                    <a:schemeClr val="dk1"/>
                  </a:solidFill>
                  <a:latin typeface="Yu Gothic"/>
                  <a:ea typeface="Yu Gothic"/>
                </a:rPr>
                <a:t/>
              </a:r>
            </a:p>
          </p:txBody>
        </p:sp>
        <p:sp>
          <p:nvSpPr>
            <p:cNvPr id="13" name="Checklist item 2" descr="pptx-deck-generated"/>
            <p:cNvSpPr txBox="1"/>
            <p:nvPr/>
          </p:nvSpPr>
          <p:spPr>
            <a:xfrm>
              <a:off x="365760" y="0"/>
              <a:ext cx="5862767" cy="101726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受付フォームの項目を確定する</a:t>
              </a:r>
            </a:p>
          </p:txBody>
        </p:sp>
        <p:sp>
          <p:nvSpPr>
            <p:cNvPr id="14" name="Checklist owner 2" descr="pptx-deck-generated"/>
            <p:cNvSpPr txBox="1"/>
            <p:nvPr/>
          </p:nvSpPr>
          <p:spPr>
            <a:xfrm>
              <a:off x="8071957" y="0"/>
              <a:ext cx="1691182" cy="101726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業務企画</a:t>
              </a:r>
            </a:p>
          </p:txBody>
        </p:sp>
        <p:sp>
          <p:nvSpPr>
            <p:cNvPr id="15" name="Checklist due 2" descr="pptx-deck-generated"/>
            <p:cNvSpPr txBox="1"/>
            <p:nvPr/>
          </p:nvSpPr>
          <p:spPr>
            <a:xfrm>
              <a:off x="9875885" y="0"/>
              <a:ext cx="1240200" cy="101726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10月中</a:t>
              </a:r>
            </a:p>
          </p:txBody>
        </p:sp>
      </p:grpSp>
      <p:sp>
        <p:nvSpPr>
          <p:cNvPr id="16" name="Checklist divider 2" descr="pptx-deck-generated"/>
          <p:cNvSpPr/>
          <p:nvPr/>
        </p:nvSpPr>
        <p:spPr>
          <a:xfrm>
            <a:off x="457200" y="3010662"/>
            <a:ext cx="11274552" cy="9144"/>
          </a:xfrm>
          <a:prstGeom prst="rect">
            <a:avLst/>
          </a:prstGeom>
          <a:solidFill>
            <a:schemeClr val="lt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7" name="Checklist 3" descr="pptx-deck-generated"/>
          <p:cNvGrpSpPr/>
          <p:nvPr/>
        </p:nvGrpSpPr>
        <p:grpSpPr>
          <a:xfrm>
            <a:off x="502920" y="4082796"/>
            <a:ext cx="11116085" cy="1017269"/>
            <a:chOff x="0" y="0"/>
            <a:chExt cx="11116085" cy="1017269"/>
          </a:xfrm>
        </p:grpSpPr>
        <p:sp>
          <p:nvSpPr>
            <p:cNvPr id="18" name="Checklist status 3" descr="pptx-deck-generated"/>
            <p:cNvSpPr/>
            <p:nvPr/>
          </p:nvSpPr>
          <p:spPr>
            <a:xfrm>
              <a:off x="0" y="192481"/>
              <a:ext cx="246888" cy="246888"/>
            </a:xfrm>
            <a:prstGeom prst="ellipse">
              <a:avLst/>
            </a:prstGeom>
            <a:solidFill>
              <a:schemeClr val="accent2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1">
                  <a:solidFill>
                    <a:schemeClr val="dk1"/>
                  </a:solidFill>
                  <a:latin typeface="Yu Gothic"/>
                  <a:ea typeface="Yu Gothic"/>
                </a:rPr>
                <a:t>!</a:t>
              </a:r>
            </a:p>
          </p:txBody>
        </p:sp>
        <p:sp>
          <p:nvSpPr>
            <p:cNvPr id="19" name="Checklist item 3" descr="pptx-deck-generated"/>
            <p:cNvSpPr txBox="1"/>
            <p:nvPr/>
          </p:nvSpPr>
          <p:spPr>
            <a:xfrm>
              <a:off x="365760" y="0"/>
              <a:ext cx="5862767" cy="101726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一次窓口の当番表を作成する</a:t>
              </a:r>
            </a:p>
          </p:txBody>
        </p:sp>
        <p:sp>
          <p:nvSpPr>
            <p:cNvPr id="20" name="Checklist owner 3" descr="pptx-deck-generated"/>
            <p:cNvSpPr txBox="1"/>
            <p:nvPr/>
          </p:nvSpPr>
          <p:spPr>
            <a:xfrm>
              <a:off x="8071957" y="0"/>
              <a:ext cx="1691182" cy="101726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情シス</a:t>
              </a:r>
            </a:p>
          </p:txBody>
        </p:sp>
        <p:sp>
          <p:nvSpPr>
            <p:cNvPr id="21" name="Checklist due 3" descr="pptx-deck-generated"/>
            <p:cNvSpPr txBox="1"/>
            <p:nvPr/>
          </p:nvSpPr>
          <p:spPr>
            <a:xfrm>
              <a:off x="9875885" y="0"/>
              <a:ext cx="1240200" cy="101726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試行前</a:t>
              </a:r>
            </a:p>
          </p:txBody>
        </p:sp>
      </p:grpSp>
      <p:sp>
        <p:nvSpPr>
          <p:cNvPr id="22" name="Checklist divider 3" descr="pptx-deck-generated"/>
          <p:cNvSpPr/>
          <p:nvPr/>
        </p:nvSpPr>
        <p:spPr>
          <a:xfrm>
            <a:off x="457200" y="4064508"/>
            <a:ext cx="11274552" cy="9144"/>
          </a:xfrm>
          <a:prstGeom prst="rect">
            <a:avLst/>
          </a:prstGeom>
          <a:solidFill>
            <a:schemeClr val="lt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23" name="Checklist 4" descr="pptx-deck-generated"/>
          <p:cNvGrpSpPr/>
          <p:nvPr/>
        </p:nvGrpSpPr>
        <p:grpSpPr>
          <a:xfrm>
            <a:off x="502920" y="5136642"/>
            <a:ext cx="11116085" cy="1017269"/>
            <a:chOff x="0" y="0"/>
            <a:chExt cx="11116085" cy="1017269"/>
          </a:xfrm>
        </p:grpSpPr>
        <p:sp>
          <p:nvSpPr>
            <p:cNvPr id="24" name="Checklist status 4" descr="pptx-deck-generated"/>
            <p:cNvSpPr/>
            <p:nvPr/>
          </p:nvSpPr>
          <p:spPr>
            <a:xfrm>
              <a:off x="0" y="192481"/>
              <a:ext cx="246888" cy="246888"/>
            </a:xfrm>
            <a:prstGeom prst="ellipse">
              <a:avLst/>
            </a:prstGeom>
            <a:solidFill>
              <a:schemeClr val="lt1">
                <a:lumMod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1">
                  <a:solidFill>
                    <a:schemeClr val="dk1"/>
                  </a:solidFill>
                  <a:latin typeface="Yu Gothic"/>
                  <a:ea typeface="Yu Gothic"/>
                </a:rPr>
                <a:t/>
              </a:r>
            </a:p>
          </p:txBody>
        </p:sp>
        <p:sp>
          <p:nvSpPr>
            <p:cNvPr id="25" name="Checklist item 4" descr="pptx-deck-generated"/>
            <p:cNvSpPr txBox="1"/>
            <p:nvPr/>
          </p:nvSpPr>
          <p:spPr>
            <a:xfrm>
              <a:off x="365760" y="0"/>
              <a:ext cx="5862767" cy="101726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FAQの更新責任者を決める</a:t>
              </a:r>
            </a:p>
          </p:txBody>
        </p:sp>
        <p:sp>
          <p:nvSpPr>
            <p:cNvPr id="26" name="Checklist owner 4" descr="pptx-deck-generated"/>
            <p:cNvSpPr txBox="1"/>
            <p:nvPr/>
          </p:nvSpPr>
          <p:spPr>
            <a:xfrm>
              <a:off x="8071957" y="0"/>
              <a:ext cx="1691182" cy="101726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/>
              </a:r>
            </a:p>
          </p:txBody>
        </p:sp>
        <p:sp>
          <p:nvSpPr>
            <p:cNvPr id="27" name="Checklist due 4" descr="pptx-deck-generated"/>
            <p:cNvSpPr txBox="1"/>
            <p:nvPr/>
          </p:nvSpPr>
          <p:spPr>
            <a:xfrm>
              <a:off x="9875885" y="0"/>
              <a:ext cx="1240200" cy="101726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/>
              </a:r>
            </a:p>
          </p:txBody>
        </p:sp>
      </p:grpSp>
      <p:sp>
        <p:nvSpPr>
          <p:cNvPr id="28" name="Checklist divider 4" descr="pptx-deck-generated"/>
          <p:cNvSpPr/>
          <p:nvPr/>
        </p:nvSpPr>
        <p:spPr>
          <a:xfrm>
            <a:off x="457200" y="5118354"/>
            <a:ext cx="11274552" cy="9144"/>
          </a:xfrm>
          <a:prstGeom prst="rect">
            <a:avLst/>
          </a:prstGeom>
          <a:solidFill>
            <a:schemeClr val="lt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/>
          <a:lstStyle/>
          <a:p>
            <a:r>
              <a:t>FAQの効果を検証する</a:t>
            </a:r>
          </a:p>
        </p:txBody>
      </p:sp>
      <p:graphicFrame>
        <p:nvGraphicFramePr>
          <p:cNvPr id="3" name="Library chart" descr="pptx-deck-generated"/>
          <p:cNvGraphicFramePr>
            <a:graphicFrameLocks noGrp="1"/>
          </p:cNvGraphicFramePr>
          <p:nvPr/>
        </p:nvGraphicFramePr>
        <p:xfrm>
          <a:off x="457200" y="1554480"/>
          <a:ext cx="699022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Chart key points panel" descr="pptx-deck-generated"/>
          <p:cNvSpPr/>
          <p:nvPr/>
        </p:nvSpPr>
        <p:spPr>
          <a:xfrm>
            <a:off x="7557150" y="1554480"/>
            <a:ext cx="4174601" cy="4617720"/>
          </a:xfrm>
          <a:prstGeom prst="roundRect">
            <a:avLst/>
          </a:prstGeom>
          <a:solidFill>
            <a:schemeClr val="accent1">
              <a:lumMod val="15000"/>
              <a:lumOff val="85000"/>
            </a:schemeClr>
          </a:solidFill>
          <a:ln w="9525">
            <a:solidFill>
              <a:schemeClr val="lt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5" name="Chart 1" descr="pptx-deck-generated"/>
          <p:cNvGrpSpPr/>
          <p:nvPr/>
        </p:nvGrpSpPr>
        <p:grpSpPr>
          <a:xfrm>
            <a:off x="7676022" y="1591056"/>
            <a:ext cx="3946001" cy="1484376"/>
            <a:chOff x="0" y="0"/>
            <a:chExt cx="3946001" cy="1484376"/>
          </a:xfrm>
        </p:grpSpPr>
        <p:sp>
          <p:nvSpPr>
            <p:cNvPr id="6" name="Chart point 1 number" descr="pptx-deck-generated"/>
            <p:cNvSpPr/>
            <p:nvPr/>
          </p:nvSpPr>
          <p:spPr>
            <a:xfrm>
              <a:off x="0" y="54864"/>
              <a:ext cx="310896" cy="310896"/>
            </a:xfrm>
            <a:prstGeom prst="ellipse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1">
                  <a:solidFill>
                    <a:schemeClr val="lt1"/>
                  </a:solidFill>
                  <a:latin typeface="Yu Gothic"/>
                  <a:ea typeface="Yu Gothic"/>
                </a:rPr>
                <a:t>1</a:t>
              </a:r>
            </a:p>
          </p:txBody>
        </p:sp>
        <p:sp>
          <p:nvSpPr>
            <p:cNvPr id="7" name="Chart point 1" descr="pptx-deck-generated"/>
            <p:cNvSpPr txBox="1"/>
            <p:nvPr/>
          </p:nvSpPr>
          <p:spPr>
            <a:xfrm>
              <a:off x="374904" y="0"/>
              <a:ext cx="3571097" cy="14843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/>
                  </a:solidFill>
                  <a:latin typeface="Yu Gothic"/>
                  <a:ea typeface="Yu Gothic"/>
                </a:rPr>
                <a:t>FAQ利用の推移を確認</a:t>
              </a:r>
            </a:p>
          </p:txBody>
        </p:sp>
      </p:grpSp>
      <p:grpSp>
        <p:nvGrpSpPr>
          <p:cNvPr id="8" name="Chart 2" descr="pptx-deck-generated"/>
          <p:cNvGrpSpPr/>
          <p:nvPr/>
        </p:nvGrpSpPr>
        <p:grpSpPr>
          <a:xfrm>
            <a:off x="7676022" y="3130296"/>
            <a:ext cx="3946001" cy="1484376"/>
            <a:chOff x="0" y="0"/>
            <a:chExt cx="3946001" cy="1484376"/>
          </a:xfrm>
        </p:grpSpPr>
        <p:sp>
          <p:nvSpPr>
            <p:cNvPr id="9" name="Chart point 2 number" descr="pptx-deck-generated"/>
            <p:cNvSpPr/>
            <p:nvPr/>
          </p:nvSpPr>
          <p:spPr>
            <a:xfrm>
              <a:off x="0" y="54864"/>
              <a:ext cx="310896" cy="310896"/>
            </a:xfrm>
            <a:prstGeom prst="ellipse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1">
                  <a:solidFill>
                    <a:schemeClr val="lt1"/>
                  </a:solidFill>
                  <a:latin typeface="Yu Gothic"/>
                  <a:ea typeface="Yu Gothic"/>
                </a:rPr>
                <a:t>2</a:t>
              </a:r>
            </a:p>
          </p:txBody>
        </p:sp>
        <p:sp>
          <p:nvSpPr>
            <p:cNvPr id="10" name="Chart point 2" descr="pptx-deck-generated"/>
            <p:cNvSpPr txBox="1"/>
            <p:nvPr/>
          </p:nvSpPr>
          <p:spPr>
            <a:xfrm>
              <a:off x="374904" y="0"/>
              <a:ext cx="3571097" cy="14843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/>
                  </a:solidFill>
                  <a:latin typeface="Yu Gothic"/>
                  <a:ea typeface="Yu Gothic"/>
                </a:rPr>
                <a:t>未解決の理由を分類</a:t>
              </a:r>
            </a:p>
          </p:txBody>
        </p:sp>
      </p:grpSp>
      <p:grpSp>
        <p:nvGrpSpPr>
          <p:cNvPr id="11" name="Chart 3" descr="pptx-deck-generated"/>
          <p:cNvGrpSpPr/>
          <p:nvPr/>
        </p:nvGrpSpPr>
        <p:grpSpPr>
          <a:xfrm>
            <a:off x="7676022" y="4669536"/>
            <a:ext cx="3946001" cy="1484376"/>
            <a:chOff x="0" y="0"/>
            <a:chExt cx="3946001" cy="1484376"/>
          </a:xfrm>
        </p:grpSpPr>
        <p:sp>
          <p:nvSpPr>
            <p:cNvPr id="12" name="Chart point 3 number" descr="pptx-deck-generated"/>
            <p:cNvSpPr/>
            <p:nvPr/>
          </p:nvSpPr>
          <p:spPr>
            <a:xfrm>
              <a:off x="0" y="54863"/>
              <a:ext cx="310896" cy="310896"/>
            </a:xfrm>
            <a:prstGeom prst="ellipse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1">
                  <a:solidFill>
                    <a:schemeClr val="lt1"/>
                  </a:solidFill>
                  <a:latin typeface="Yu Gothic"/>
                  <a:ea typeface="Yu Gothic"/>
                </a:rPr>
                <a:t>3</a:t>
              </a:r>
            </a:p>
          </p:txBody>
        </p:sp>
        <p:sp>
          <p:nvSpPr>
            <p:cNvPr id="13" name="Chart point 3" descr="pptx-deck-generated"/>
            <p:cNvSpPr txBox="1"/>
            <p:nvPr/>
          </p:nvSpPr>
          <p:spPr>
            <a:xfrm>
              <a:off x="374904" y="0"/>
              <a:ext cx="3571097" cy="14843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/>
                  </a:solidFill>
                  <a:latin typeface="Yu Gothic"/>
                  <a:ea typeface="Yu Gothic"/>
                </a:rPr>
                <a:t>月次で内容を更新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/>
          <a:lstStyle/>
          <a:p>
            <a:r>
              <a:t>受付・解決数を把握</a:t>
            </a:r>
          </a:p>
        </p:txBody>
      </p:sp>
      <p:graphicFrame>
        <p:nvGraphicFramePr>
          <p:cNvPr id="3" name="Library chart" descr="pptx-deck-generated"/>
          <p:cNvGraphicFramePr>
            <a:graphicFrameLocks noGrp="1"/>
          </p:cNvGraphicFramePr>
          <p:nvPr/>
        </p:nvGraphicFramePr>
        <p:xfrm>
          <a:off x="457200" y="1554480"/>
          <a:ext cx="1127455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202124"/>
      </a:dk1>
      <a:lt1>
        <a:srgbClr val="FFFFFF"/>
      </a:lt1>
      <a:dk2>
        <a:srgbClr val="0F5B4F"/>
      </a:dk2>
      <a:lt2>
        <a:srgbClr val="EEF4F2"/>
      </a:lt2>
      <a:accent1>
        <a:srgbClr val="0F5B4F"/>
      </a:accent1>
      <a:accent2>
        <a:srgbClr val="E07A1F"/>
      </a:accent2>
      <a:accent3>
        <a:srgbClr val="6C817B"/>
      </a:accent3>
      <a:accent4>
        <a:srgbClr val="9DAEA9"/>
      </a:accent4>
      <a:accent5>
        <a:srgbClr val="CAD4D1"/>
      </a:accent5>
      <a:accent6>
        <a:srgbClr val="718782"/>
      </a:accent6>
      <a:hlink>
        <a:srgbClr val="E07A1F"/>
      </a:hlink>
      <a:folHlink>
        <a:srgbClr val="8F5522"/>
      </a:folHlink>
    </a:clrScheme>
    <a:fontScheme name="Office">
      <a:majorFont>
        <a:latin typeface="Yu Gothic"/>
        <a:ea typeface="Yu Gothic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Yu Gothic"/>
        <a:ea typeface="Yu Gothic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