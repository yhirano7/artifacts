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8" Type="http://schemas.openxmlformats.org/officeDocument/2006/relationships/notesMaster" Target="notesMasters/notesMaster1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本日はRedmine移行計画の承認をお願いする。結論として、12月の1日停止で移行する案を説明する。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4部構成。背景→方針→体制と日程→リスクと切り戻しの順で説明する。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現行はCentOS 7・Ruby 2.7・MySQL 5.7・Redmine 4.2で、すべて保守終了済み（想定値）。利用者約300名・添付約120GBの規模で、このまま放置すると脆弱性対応ができない。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移行先はUbuntu 24.04 LTS・Redmine 6.x・MySQL 8.0の保守期間内の構成にそろえる。あわせてバックアップを自動化し、復元手順書を整備して属人性を下げる。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添付ファイルは約120GB（想定値）あるため、事前に全量コピーしておき、停止中は差分同期だけにする。DBは停止後にダンプ→復元→マイグレーションの一括方式。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10月に準備、11月に検証環境構築とリハーサル2回、12月12日（土）に本番移行、その後1月末まで安定化期間。本番停止は土曜1日に限定する。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移行リーダーの下にインフラ・アプリ・業務部門窓口の3チーム。業務部門には受入テストと利用者告知を担当してもらう。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11月にリハーサルを2回実施し、手順と所要時間を確定する。本番移行は12月、安定化と旧サーバ停止は12月〜1月。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最大のリスクはプラグインの6.x非対応（現行8個・想定値）。11月に代替・廃止を業務部門と合意する。停止時間超過はリハーサル実測で潰す。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当日15時に判定項目を確認し、不合格ならDNSを旧サーバへ戻して旧DBで業務再開。旧サーバは1月末まで保全し、後戻りできる状態を保つ。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承認いただきたいのは3点。移行日程（12/12）、停止告知の実施、受入テスト要員2名の確保。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 algn="ctr">
              <a:defRPr sz="4000">
                <a:solidFill>
                  <a:schemeClr val="l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 sz="1600">
                <a:solidFill>
                  <a:schemeClr val="lt1"/>
                </a:solidFill>
              </a:defRPr>
            </a:lvl1pPr>
            <a:lvl2pPr marL="457200" indent="0" algn="ctr">
              <a:buNone/>
              <a:defRPr>
                <a:solidFill>
                  <a:schemeClr val="lt1"/>
                </a:solidFill>
              </a:defRPr>
            </a:lvl2pPr>
            <a:lvl3pPr marL="914400" indent="0" algn="ctr">
              <a:buNone/>
              <a:defRPr>
                <a:solidFill>
                  <a:schemeClr val="lt1"/>
                </a:solidFill>
              </a:defRPr>
            </a:lvl3pPr>
            <a:lvl4pPr marL="1371600" indent="0" algn="ctr">
              <a:buNone/>
              <a:defRPr>
                <a:solidFill>
                  <a:schemeClr val="lt1"/>
                </a:solidFill>
              </a:defRPr>
            </a:lvl4pPr>
            <a:lvl5pPr marL="1828800" indent="0" algn="ctr">
              <a:buNone/>
              <a:defRPr>
                <a:solidFill>
                  <a:schemeClr val="lt1"/>
                </a:solidFill>
              </a:defRPr>
            </a:lvl5pPr>
            <a:lvl6pPr marL="2286000" indent="0" algn="ctr">
              <a:buNone/>
              <a:defRPr>
                <a:solidFill>
                  <a:schemeClr val="lt1"/>
                </a:solidFill>
              </a:defRPr>
            </a:lvl6pPr>
            <a:lvl7pPr marL="2743200" indent="0" algn="ctr">
              <a:buNone/>
              <a:defRPr>
                <a:solidFill>
                  <a:schemeClr val="lt1"/>
                </a:solidFill>
              </a:defRPr>
            </a:lvl7pPr>
            <a:lvl8pPr marL="3200400" indent="0" algn="ctr">
              <a:buNone/>
              <a:defRPr>
                <a:solidFill>
                  <a:schemeClr val="lt1"/>
                </a:solidFill>
              </a:defRPr>
            </a:lvl8pPr>
            <a:lvl9pPr marL="3657600" indent="0" algn="ctr">
              <a:buNone/>
              <a:defRPr>
                <a:solidFill>
                  <a:schemeClr val="lt1"/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l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l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l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03" name="FooterText"/>
          <p:cNvSpPr txBox="1"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ja-JP" sz="900">
                <a:solidFill>
                  <a:srgbClr val="C9D4E4"/>
                </a:solidFill>
                <a:latin typeface="Yu Gothic"/>
                <a:ea typeface="Yu Gothic"/>
              </a:rPr>
              <a:t>Sample Org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11274552" cy="1051560"/>
          </a:xfrm>
        </p:spPr>
        <p:txBody>
          <a:bodyPr anchor="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11274552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743200"/>
            <a:ext cx="10515600" cy="1371600"/>
          </a:xfrm>
        </p:spPr>
        <p:txBody>
          <a:bodyPr anchor="t"/>
          <a:lstStyle>
            <a:lvl1pPr algn="l">
              <a:defRPr sz="3200" b="1" cap="all">
                <a:solidFill>
                  <a:schemeClr val="l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lt1"/>
                </a:solidFill>
              </a:defRPr>
            </a:lvl1pPr>
            <a:lvl2pPr marL="457200" indent="0">
              <a:buNone/>
              <a:defRPr sz="1800">
                <a:solidFill>
                  <a:schemeClr val="lt1"/>
                </a:solidFill>
              </a:defRPr>
            </a:lvl2pPr>
            <a:lvl3pPr marL="914400" indent="0">
              <a:buNone/>
              <a:defRPr sz="1600">
                <a:solidFill>
                  <a:schemeClr val="lt1"/>
                </a:solidFill>
              </a:defRPr>
            </a:lvl3pPr>
            <a:lvl4pPr marL="1371600" indent="0">
              <a:buNone/>
              <a:defRPr sz="1400">
                <a:solidFill>
                  <a:schemeClr val="lt1"/>
                </a:solidFill>
              </a:defRPr>
            </a:lvl4pPr>
            <a:lvl5pPr marL="1828800" indent="0">
              <a:buNone/>
              <a:defRPr sz="1400">
                <a:solidFill>
                  <a:schemeClr val="lt1"/>
                </a:solidFill>
              </a:defRPr>
            </a:lvl5pPr>
            <a:lvl6pPr marL="2286000" indent="0">
              <a:buNone/>
              <a:defRPr sz="1400">
                <a:solidFill>
                  <a:schemeClr val="lt1"/>
                </a:solidFill>
              </a:defRPr>
            </a:lvl6pPr>
            <a:lvl7pPr marL="2743200" indent="0">
              <a:buNone/>
              <a:defRPr sz="1400">
                <a:solidFill>
                  <a:schemeClr val="lt1"/>
                </a:solidFill>
              </a:defRPr>
            </a:lvl7pPr>
            <a:lvl8pPr marL="3200400" indent="0">
              <a:buNone/>
              <a:defRPr sz="1400">
                <a:solidFill>
                  <a:schemeClr val="lt1"/>
                </a:solidFill>
              </a:defRPr>
            </a:lvl8pPr>
            <a:lvl9pPr marL="3657600" indent="0">
              <a:buNone/>
              <a:defRPr sz="1400">
                <a:solidFill>
                  <a:schemeClr val="lt1"/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l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l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l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04" name="FooterText"/>
          <p:cNvSpPr txBox="1"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ja-JP" sz="900">
                <a:solidFill>
                  <a:srgbClr val="C9D4E4"/>
                </a:solidFill>
                <a:latin typeface="Yu Gothic"/>
                <a:ea typeface="Yu Gothic"/>
              </a:rPr>
              <a:t>Sample Org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11274552" cy="1051560"/>
          </a:xfrm>
        </p:spPr>
        <p:txBody>
          <a:bodyPr anchor="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11274552" cy="1051560"/>
          </a:xfrm>
        </p:spPr>
        <p:txBody>
          <a:bodyPr anchor="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01" name="FooterText"/>
          <p:cNvSpPr txBox="1"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ja-JP" sz="900">
                <a:solidFill>
                  <a:srgbClr val="595F6B"/>
                </a:solidFill>
                <a:latin typeface="Yu Gothic"/>
                <a:ea typeface="Yu Gothic"/>
              </a:rPr>
              <a:t>Sample Org</a:t>
            </a:r>
          </a:p>
        </p:txBody>
      </p:sp>
      <p:sp>
        <p:nvSpPr>
          <p:cNvPr id="1002" name="SlideNumber"/>
          <p:cNvSpPr txBox="1"/>
          <p:nvPr/>
        </p:nvSpPr>
        <p:spPr>
          <a:xfrm>
            <a:off x="11292840" y="6473952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 algn="r"/>
            <a:fld id="{B6F15528-9517-4E2F-8F3A-000000000001}" type="slidenum">
              <a:rPr lang="ja-JP" sz="900">
                <a:solidFill>
                  <a:srgbClr val="595F6B"/>
                </a:solidFill>
                <a:latin typeface="Yu Gothic"/>
                <a:ea typeface="Yu Gothic"/>
              </a:rPr>
              <a:t>1</a:t>
            </a:fld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400" kern="1200" b="1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t>Redmine 移行計画書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r>
              <a:t>旧サーバから新基盤への移行と本番切替の進め方</a:t>
            </a:r>
          </a:p>
          <a:p>
            <a:r>
              <a:t>情報システム部 2026-10-01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74320"/>
            <a:ext cx="1127455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B3A66"/>
                </a:solidFill>
                <a:latin typeface="Yu Gothic"/>
                <a:ea typeface="Yu Gothic"/>
                <a:cs typeface="Yu Gothic"/>
              </a:rPr>
              <a:t>目次</a:t>
            </a:r>
          </a:p>
        </p:txBody>
      </p:sp>
      <p:sp>
        <p:nvSpPr>
          <p:cNvPr id="3" name="TocBody"/>
          <p:cNvSpPr txBox="1"/>
          <p:nvPr/>
        </p:nvSpPr>
        <p:spPr>
          <a:xfrm>
            <a:off x="914400" y="1463040"/>
            <a:ext cx="100584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457200" indent="-457200">
              <a:spcAft>
                <a:spcPts val="1200"/>
              </a:spcAft>
              <a:buFont typeface="Arial"/>
              <a:buAutoNum type="arabicPeriod"/>
            </a:pPr>
            <a:r>
              <a:rPr sz="2000" b="0">
                <a:solidFill>
                  <a:srgbClr val="202124"/>
                </a:solidFill>
                <a:latin typeface="Yu Gothic"/>
                <a:ea typeface="Yu Gothic"/>
                <a:cs typeface="Yu Gothic"/>
              </a:rPr>
              <a:t>背景と目的</a:t>
            </a:r>
          </a:p>
          <a:p>
            <a:pPr algn="l" marL="457200" indent="-457200">
              <a:spcAft>
                <a:spcPts val="1200"/>
              </a:spcAft>
              <a:buFont typeface="Arial"/>
              <a:buAutoNum type="arabicPeriod"/>
            </a:pPr>
            <a:r>
              <a:rPr sz="2000" b="0">
                <a:solidFill>
                  <a:srgbClr val="202124"/>
                </a:solidFill>
                <a:latin typeface="Yu Gothic"/>
                <a:ea typeface="Yu Gothic"/>
                <a:cs typeface="Yu Gothic"/>
              </a:rPr>
              <a:t>移行方針</a:t>
            </a:r>
          </a:p>
          <a:p>
            <a:pPr algn="l" marL="457200" indent="-457200">
              <a:spcAft>
                <a:spcPts val="1200"/>
              </a:spcAft>
              <a:buFont typeface="Arial"/>
              <a:buAutoNum type="arabicPeriod"/>
            </a:pPr>
            <a:r>
              <a:rPr sz="2000" b="0">
                <a:solidFill>
                  <a:srgbClr val="202124"/>
                </a:solidFill>
                <a:latin typeface="Yu Gothic"/>
                <a:ea typeface="Yu Gothic"/>
                <a:cs typeface="Yu Gothic"/>
              </a:rPr>
              <a:t>体制とスケジュール</a:t>
            </a:r>
          </a:p>
          <a:p>
            <a:pPr algn="l" marL="457200" indent="-457200">
              <a:spcAft>
                <a:spcPts val="1200"/>
              </a:spcAft>
              <a:buFont typeface="Arial"/>
              <a:buAutoNum type="arabicPeriod"/>
            </a:pPr>
            <a:r>
              <a:rPr sz="2000" b="0">
                <a:solidFill>
                  <a:srgbClr val="202124"/>
                </a:solidFill>
                <a:latin typeface="Yu Gothic"/>
                <a:ea typeface="Yu Gothic"/>
                <a:cs typeface="Yu Gothic"/>
              </a:rPr>
              <a:t>リスクと切り戻し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743200"/>
            <a:ext cx="10515600" cy="1371600"/>
          </a:xfrm>
        </p:spPr>
        <p:txBody>
          <a:bodyPr/>
          <a:lstStyle/>
          <a:p>
            <a:r>
              <a:t>01 背景と目的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11274552" cy="1051560"/>
          </a:xfrm>
        </p:spPr>
        <p:txBody>
          <a:bodyPr/>
          <a:lstStyle/>
          <a:p>
            <a:r>
              <a:t>現行サーバはOSとミドルウェアが保守切れで、脆弱性に対応できない状態にある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11274552" cy="4525963"/>
          </a:xfrm>
        </p:spPr>
        <p:txBody>
          <a:bodyPr/>
          <a:lstStyle/>
          <a:p>
            <a:r>
              <a:t>CentOS 7 は2024年6月に保守終了</a:t>
            </a:r>
          </a:p>
          <a:p>
            <a:r>
              <a:t>Ruby 2.7・MySQL 5.7 も保守終了</a:t>
            </a:r>
          </a:p>
          <a:p>
            <a:r>
              <a:t>Redmine 4.2 系は更新対象外</a:t>
            </a:r>
          </a:p>
          <a:p>
            <a:r>
              <a:t>利用者約300名・添付約120GB（想定値）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74320"/>
            <a:ext cx="1127455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B3A66"/>
                </a:solidFill>
                <a:latin typeface="Yu Gothic"/>
                <a:ea typeface="Yu Gothic"/>
                <a:cs typeface="Yu Gothic"/>
              </a:rPr>
              <a:t>OSとミドルウェアを保守期間内の版へそろえ、運用手順も標準化する</a:t>
            </a:r>
          </a:p>
        </p:txBody>
      </p:sp>
      <p:sp>
        <p:nvSpPr>
          <p:cNvPr id="3" name="LeftHeading"/>
          <p:cNvSpPr txBox="1"/>
          <p:nvPr/>
        </p:nvSpPr>
        <p:spPr>
          <a:xfrm>
            <a:off x="731520" y="1371600"/>
            <a:ext cx="5120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B3A66"/>
                </a:solidFill>
                <a:latin typeface="Yu Gothic"/>
                <a:ea typeface="Yu Gothic"/>
                <a:cs typeface="Yu Gothic"/>
              </a:rPr>
              <a:t>現行</a:t>
            </a:r>
          </a:p>
        </p:txBody>
      </p:sp>
      <p:sp>
        <p:nvSpPr>
          <p:cNvPr id="4" name="LeftBody"/>
          <p:cNvSpPr txBox="1"/>
          <p:nvPr/>
        </p:nvSpPr>
        <p:spPr>
          <a:xfrm>
            <a:off x="731520" y="1965960"/>
            <a:ext cx="512064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457200" indent="-457200">
              <a:spcAft>
                <a:spcPts val="600"/>
              </a:spcAft>
              <a:buFont typeface="Arial"/>
              <a:buChar char="・"/>
            </a:pPr>
            <a:r>
              <a:rPr sz="1600" b="0">
                <a:solidFill>
                  <a:srgbClr val="202124"/>
                </a:solidFill>
                <a:latin typeface="Yu Gothic"/>
                <a:ea typeface="Yu Gothic"/>
                <a:cs typeface="Yu Gothic"/>
              </a:rPr>
              <a:t>CentOS 7</a:t>
            </a:r>
          </a:p>
          <a:p>
            <a:pPr algn="l" marL="457200" indent="-457200">
              <a:spcAft>
                <a:spcPts val="600"/>
              </a:spcAft>
              <a:buFont typeface="Arial"/>
              <a:buChar char="・"/>
            </a:pPr>
            <a:r>
              <a:rPr sz="1600" b="0">
                <a:solidFill>
                  <a:srgbClr val="202124"/>
                </a:solidFill>
                <a:latin typeface="Yu Gothic"/>
                <a:ea typeface="Yu Gothic"/>
                <a:cs typeface="Yu Gothic"/>
              </a:rPr>
              <a:t>Redmine 4.2</a:t>
            </a:r>
          </a:p>
          <a:p>
            <a:pPr algn="l" marL="457200" indent="-457200">
              <a:spcAft>
                <a:spcPts val="600"/>
              </a:spcAft>
              <a:buFont typeface="Arial"/>
              <a:buChar char="・"/>
            </a:pPr>
            <a:r>
              <a:rPr sz="1600" b="0">
                <a:solidFill>
                  <a:srgbClr val="202124"/>
                </a:solidFill>
                <a:latin typeface="Yu Gothic"/>
                <a:ea typeface="Yu Gothic"/>
                <a:cs typeface="Yu Gothic"/>
              </a:rPr>
              <a:t>MySQL 5.7</a:t>
            </a:r>
          </a:p>
          <a:p>
            <a:pPr algn="l" marL="457200" indent="-457200">
              <a:spcAft>
                <a:spcPts val="600"/>
              </a:spcAft>
              <a:buFont typeface="Arial"/>
              <a:buChar char="・"/>
            </a:pPr>
            <a:r>
              <a:rPr sz="1600" b="0">
                <a:solidFill>
                  <a:srgbClr val="202124"/>
                </a:solidFill>
                <a:latin typeface="Yu Gothic"/>
                <a:ea typeface="Yu Gothic"/>
                <a:cs typeface="Yu Gothic"/>
              </a:rPr>
              <a:t>手作業のバックアップ</a:t>
            </a:r>
          </a:p>
        </p:txBody>
      </p:sp>
      <p:sp>
        <p:nvSpPr>
          <p:cNvPr id="5" name="RightHeading"/>
          <p:cNvSpPr txBox="1"/>
          <p:nvPr/>
        </p:nvSpPr>
        <p:spPr>
          <a:xfrm>
            <a:off x="6309360" y="1371600"/>
            <a:ext cx="5120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3E7CB1"/>
                </a:solidFill>
                <a:latin typeface="Yu Gothic"/>
                <a:ea typeface="Yu Gothic"/>
                <a:cs typeface="Yu Gothic"/>
              </a:rPr>
              <a:t>移行後</a:t>
            </a:r>
          </a:p>
        </p:txBody>
      </p:sp>
      <p:sp>
        <p:nvSpPr>
          <p:cNvPr id="6" name="RightBody"/>
          <p:cNvSpPr txBox="1"/>
          <p:nvPr/>
        </p:nvSpPr>
        <p:spPr>
          <a:xfrm>
            <a:off x="6309360" y="1965960"/>
            <a:ext cx="512064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457200" indent="-457200">
              <a:spcAft>
                <a:spcPts val="600"/>
              </a:spcAft>
              <a:buFont typeface="Arial"/>
              <a:buChar char="・"/>
            </a:pPr>
            <a:r>
              <a:rPr sz="1600" b="0">
                <a:solidFill>
                  <a:srgbClr val="202124"/>
                </a:solidFill>
                <a:latin typeface="Yu Gothic"/>
                <a:ea typeface="Yu Gothic"/>
                <a:cs typeface="Yu Gothic"/>
              </a:rPr>
              <a:t>Ubuntu 24.04 LTS</a:t>
            </a:r>
          </a:p>
          <a:p>
            <a:pPr algn="l" marL="457200" indent="-457200">
              <a:spcAft>
                <a:spcPts val="600"/>
              </a:spcAft>
              <a:buFont typeface="Arial"/>
              <a:buChar char="・"/>
            </a:pPr>
            <a:r>
              <a:rPr sz="1600" b="0">
                <a:solidFill>
                  <a:srgbClr val="202124"/>
                </a:solidFill>
                <a:latin typeface="Yu Gothic"/>
                <a:ea typeface="Yu Gothic"/>
                <a:cs typeface="Yu Gothic"/>
              </a:rPr>
              <a:t>Redmine 6.x（計画時点の最新安定版）</a:t>
            </a:r>
          </a:p>
          <a:p>
            <a:pPr algn="l" marL="457200" indent="-457200">
              <a:spcAft>
                <a:spcPts val="600"/>
              </a:spcAft>
              <a:buFont typeface="Arial"/>
              <a:buChar char="・"/>
            </a:pPr>
            <a:r>
              <a:rPr sz="1600" b="0">
                <a:solidFill>
                  <a:srgbClr val="202124"/>
                </a:solidFill>
                <a:latin typeface="Yu Gothic"/>
                <a:ea typeface="Yu Gothic"/>
                <a:cs typeface="Yu Gothic"/>
              </a:rPr>
              <a:t>MySQL 8.0</a:t>
            </a:r>
          </a:p>
          <a:p>
            <a:pPr algn="l" marL="457200" indent="-457200">
              <a:spcAft>
                <a:spcPts val="600"/>
              </a:spcAft>
              <a:buFont typeface="Arial"/>
              <a:buChar char="・"/>
            </a:pPr>
            <a:r>
              <a:rPr sz="1600" b="0">
                <a:solidFill>
                  <a:srgbClr val="202124"/>
                </a:solidFill>
                <a:latin typeface="Yu Gothic"/>
                <a:ea typeface="Yu Gothic"/>
                <a:cs typeface="Yu Gothic"/>
              </a:rPr>
              <a:t>自動バックアップと復元手順書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743200"/>
            <a:ext cx="10515600" cy="1371600"/>
          </a:xfrm>
        </p:spPr>
        <p:txBody>
          <a:bodyPr/>
          <a:lstStyle/>
          <a:p>
            <a:r>
              <a:t>02 移行方針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74320"/>
            <a:ext cx="1127455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B3A66"/>
                </a:solidFill>
                <a:latin typeface="Yu Gothic"/>
                <a:ea typeface="Yu Gothic"/>
                <a:cs typeface="Yu Gothic"/>
              </a:rPr>
              <a:t>データは停止中に一括移行し、添付ファイルだけ事前に差分同期して停止時間を短くする</a:t>
            </a:r>
          </a:p>
        </p:txBody>
      </p:sp>
      <p:graphicFrame>
        <p:nvGraphicFramePr>
          <p:cNvPr id="3" name="DataTable"/>
          <p:cNvGraphicFramePr>
            <a:graphicFrameLocks noGrp="1"/>
          </p:cNvGraphicFramePr>
          <p:nvPr/>
        </p:nvGraphicFramePr>
        <p:xfrm>
          <a:off x="731520" y="1463040"/>
          <a:ext cx="106984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2628"/>
                <a:gridCol w="5034579"/>
                <a:gridCol w="3461273"/>
              </a:tblGrid>
              <a:tr h="7315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対象</a:t>
                      </a:r>
                    </a:p>
                  </a:txBody>
                  <a:tcPr anchor="ctr">
                    <a:lnB w="9525" cap="flat">
                      <a:solidFill>
                        <a:srgbClr val="C8CDD6"/>
                      </a:solidFill>
                    </a:lnB>
                    <a:solidFill>
                      <a:srgbClr val="1B3A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方式</a:t>
                      </a:r>
                    </a:p>
                  </a:txBody>
                  <a:tcPr anchor="ctr">
                    <a:lnB w="9525" cap="flat">
                      <a:solidFill>
                        <a:srgbClr val="C8CDD6"/>
                      </a:solidFill>
                    </a:lnB>
                    <a:solidFill>
                      <a:srgbClr val="1B3A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確認方法</a:t>
                      </a:r>
                    </a:p>
                  </a:txBody>
                  <a:tcPr anchor="ctr">
                    <a:lnB w="9525" cap="flat">
                      <a:solidFill>
                        <a:srgbClr val="C8CDD6"/>
                      </a:solidFill>
                    </a:lnB>
                    <a:solidFill>
                      <a:srgbClr val="1B3A6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124"/>
                          </a:solidFill>
                          <a:latin typeface="Yu Gothic"/>
                          <a:ea typeface="Yu Gothic"/>
                          <a:cs typeface="Yu Gothic"/>
                        </a:rPr>
                        <a:t>データベース</a:t>
                      </a:r>
                    </a:p>
                  </a:txBody>
                  <a:tcPr anchor="ctr">
                    <a:lnB w="9525" cap="flat">
                      <a:solidFill>
                        <a:srgbClr val="C8CD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124"/>
                          </a:solidFill>
                          <a:latin typeface="Yu Gothic"/>
                          <a:ea typeface="Yu Gothic"/>
                          <a:cs typeface="Yu Gothic"/>
                        </a:rPr>
                        <a:t>停止後にダンプ→新DBへ復元→Redmineのマイグレーション実行</a:t>
                      </a:r>
                    </a:p>
                  </a:txBody>
                  <a:tcPr anchor="ctr">
                    <a:lnB w="9525" cap="flat">
                      <a:solidFill>
                        <a:srgbClr val="C8CD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124"/>
                          </a:solidFill>
                          <a:latin typeface="Yu Gothic"/>
                          <a:ea typeface="Yu Gothic"/>
                          <a:cs typeface="Yu Gothic"/>
                        </a:rPr>
                        <a:t>件数照合・チケット抜き取り確認</a:t>
                      </a:r>
                    </a:p>
                  </a:txBody>
                  <a:tcPr anchor="ctr">
                    <a:lnB w="9525" cap="flat">
                      <a:solidFill>
                        <a:srgbClr val="C8CD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124"/>
                          </a:solidFill>
                          <a:latin typeface="Yu Gothic"/>
                          <a:ea typeface="Yu Gothic"/>
                          <a:cs typeface="Yu Gothic"/>
                        </a:rPr>
                        <a:t>添付ファイル</a:t>
                      </a:r>
                    </a:p>
                  </a:txBody>
                  <a:tcPr anchor="ctr">
                    <a:lnB w="9525" cap="flat">
                      <a:solidFill>
                        <a:srgbClr val="C8CDD6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124"/>
                          </a:solidFill>
                          <a:latin typeface="Yu Gothic"/>
                          <a:ea typeface="Yu Gothic"/>
                          <a:cs typeface="Yu Gothic"/>
                        </a:rPr>
                        <a:t>事前に全量コピー→停止中に差分同期</a:t>
                      </a:r>
                    </a:p>
                  </a:txBody>
                  <a:tcPr anchor="ctr">
                    <a:lnB w="9525" cap="flat">
                      <a:solidFill>
                        <a:srgbClr val="C8CDD6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124"/>
                          </a:solidFill>
                          <a:latin typeface="Yu Gothic"/>
                          <a:ea typeface="Yu Gothic"/>
                          <a:cs typeface="Yu Gothic"/>
                        </a:rPr>
                        <a:t>ファイル数・容量の一致</a:t>
                      </a:r>
                    </a:p>
                  </a:txBody>
                  <a:tcPr anchor="ctr">
                    <a:lnB w="9525" cap="flat">
                      <a:solidFill>
                        <a:srgbClr val="C8CDD6"/>
                      </a:solidFill>
                    </a:lnB>
                    <a:solidFill>
                      <a:srgbClr val="F3F5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124"/>
                          </a:solidFill>
                          <a:latin typeface="Yu Gothic"/>
                          <a:ea typeface="Yu Gothic"/>
                          <a:cs typeface="Yu Gothic"/>
                        </a:rPr>
                        <a:t>プラグイン</a:t>
                      </a:r>
                    </a:p>
                  </a:txBody>
                  <a:tcPr anchor="ctr">
                    <a:lnB w="9525" cap="flat">
                      <a:solidFill>
                        <a:srgbClr val="C8CD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124"/>
                          </a:solidFill>
                          <a:latin typeface="Yu Gothic"/>
                          <a:ea typeface="Yu Gothic"/>
                          <a:cs typeface="Yu Gothic"/>
                        </a:rPr>
                        <a:t>6.x対応版へ更新・非対応は代替か廃止</a:t>
                      </a:r>
                    </a:p>
                  </a:txBody>
                  <a:tcPr anchor="ctr">
                    <a:lnB w="9525" cap="flat">
                      <a:solidFill>
                        <a:srgbClr val="C8CD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124"/>
                          </a:solidFill>
                          <a:latin typeface="Yu Gothic"/>
                          <a:ea typeface="Yu Gothic"/>
                          <a:cs typeface="Yu Gothic"/>
                        </a:rPr>
                        <a:t>画面操作の確認</a:t>
                      </a:r>
                    </a:p>
                  </a:txBody>
                  <a:tcPr anchor="ctr">
                    <a:lnB w="9525" cap="flat">
                      <a:solidFill>
                        <a:srgbClr val="C8CD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124"/>
                          </a:solidFill>
                          <a:latin typeface="Yu Gothic"/>
                          <a:ea typeface="Yu Gothic"/>
                          <a:cs typeface="Yu Gothic"/>
                        </a:rPr>
                        <a:t>認証・メール</a:t>
                      </a:r>
                    </a:p>
                  </a:txBody>
                  <a:tcPr anchor="ctr">
                    <a:lnB w="9525" cap="flat">
                      <a:solidFill>
                        <a:srgbClr val="C8CDD6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124"/>
                          </a:solidFill>
                          <a:latin typeface="Yu Gothic"/>
                          <a:ea typeface="Yu Gothic"/>
                          <a:cs typeface="Yu Gothic"/>
                        </a:rPr>
                        <a:t>LDAP接続とメール送信設定を再作成</a:t>
                      </a:r>
                    </a:p>
                  </a:txBody>
                  <a:tcPr anchor="ctr">
                    <a:lnB w="9525" cap="flat">
                      <a:solidFill>
                        <a:srgbClr val="C8CDD6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124"/>
                          </a:solidFill>
                          <a:latin typeface="Yu Gothic"/>
                          <a:ea typeface="Yu Gothic"/>
                          <a:cs typeface="Yu Gothic"/>
                        </a:rPr>
                        <a:t>ログイン・通知の確認</a:t>
                      </a:r>
                    </a:p>
                  </a:txBody>
                  <a:tcPr anchor="ctr">
                    <a:lnB w="9525" cap="flat">
                      <a:solidFill>
                        <a:srgbClr val="C8CDD6"/>
                      </a:solidFill>
                    </a:lnB>
                    <a:solidFill>
                      <a:srgbClr val="F3F5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124"/>
                          </a:solidFill>
                          <a:latin typeface="Yu Gothic"/>
                          <a:ea typeface="Yu Gothic"/>
                          <a:cs typeface="Yu Gothic"/>
                        </a:rPr>
                        <a:t>URL</a:t>
                      </a:r>
                    </a:p>
                  </a:txBody>
                  <a:tcPr anchor="ctr">
                    <a:lnB w="9525" cap="flat">
                      <a:solidFill>
                        <a:srgbClr val="C8CD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124"/>
                          </a:solidFill>
                          <a:latin typeface="Yu Gothic"/>
                          <a:ea typeface="Yu Gothic"/>
                          <a:cs typeface="Yu Gothic"/>
                        </a:rPr>
                        <a:t>DNSを新サーバへ切替（URLは変えない）</a:t>
                      </a:r>
                    </a:p>
                  </a:txBody>
                  <a:tcPr anchor="ctr">
                    <a:lnB w="9525" cap="flat">
                      <a:solidFill>
                        <a:srgbClr val="C8CD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124"/>
                          </a:solidFill>
                          <a:latin typeface="Yu Gothic"/>
                          <a:ea typeface="Yu Gothic"/>
                          <a:cs typeface="Yu Gothic"/>
                        </a:rPr>
                        <a:t>利用者端末からの接続確認</a:t>
                      </a:r>
                    </a:p>
                  </a:txBody>
                  <a:tcPr anchor="ctr">
                    <a:lnB w="9525" cap="flat">
                      <a:solidFill>
                        <a:srgbClr val="C8CD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74320"/>
            <a:ext cx="1127455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B3A66"/>
                </a:solidFill>
                <a:latin typeface="Yu Gothic"/>
                <a:ea typeface="Yu Gothic"/>
                <a:cs typeface="Yu Gothic"/>
              </a:rPr>
              <a:t>4段階で進め、本番切替は12月第2土曜の1日停止に収める</a:t>
            </a:r>
          </a:p>
        </p:txBody>
      </p:sp>
      <p:sp>
        <p:nvSpPr>
          <p:cNvPr id="3" name="TimelineStep" descr="pptx-deck-generated"/>
          <p:cNvSpPr/>
          <p:nvPr/>
        </p:nvSpPr>
        <p:spPr>
          <a:xfrm>
            <a:off x="800100" y="2743200"/>
            <a:ext cx="2537460" cy="2194560"/>
          </a:xfrm>
          <a:prstGeom prst="homePlate">
            <a:avLst>
              <a:gd name="adj" fmla="val 15000"/>
            </a:avLst>
          </a:prstGeom>
          <a:solidFill>
            <a:srgbClr val="1B3A66"/>
          </a:solidFill>
          <a:ln>
            <a:solidFill>
              <a:srgbClr val="1B3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準備</a:t>
            </a:r>
          </a:p>
          <a:p>
            <a:pPr algn="ctr"/>
            <a:r>
              <a:rPr sz="130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10月</a:t>
            </a:r>
          </a:p>
          <a:p>
            <a:pPr algn="ctr"/>
            <a:r>
              <a:rPr sz="1200">
                <a:solidFill>
                  <a:srgbClr val="DCE3EE"/>
                </a:solidFill>
                <a:latin typeface="Yu Gothic"/>
                <a:ea typeface="Yu Gothic"/>
                <a:cs typeface="Yu Gothic"/>
              </a:rPr>
              <a:t>棚卸し・プラグイン調査</a:t>
            </a:r>
          </a:p>
        </p:txBody>
      </p:sp>
      <p:sp>
        <p:nvSpPr>
          <p:cNvPr id="4" name="TimelineStep" descr="pptx-deck-generated"/>
          <p:cNvSpPr/>
          <p:nvPr/>
        </p:nvSpPr>
        <p:spPr>
          <a:xfrm>
            <a:off x="3474720" y="2743200"/>
            <a:ext cx="2537460" cy="2194560"/>
          </a:xfrm>
          <a:prstGeom prst="homePlate">
            <a:avLst>
              <a:gd name="adj" fmla="val 15000"/>
            </a:avLst>
          </a:prstGeom>
          <a:solidFill>
            <a:srgbClr val="1B3A66"/>
          </a:solidFill>
          <a:ln>
            <a:solidFill>
              <a:srgbClr val="1B3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検証環境・リハーサル</a:t>
            </a:r>
          </a:p>
          <a:p>
            <a:pPr algn="ctr"/>
            <a:r>
              <a:rPr sz="130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11月</a:t>
            </a:r>
          </a:p>
          <a:p>
            <a:pPr algn="ctr"/>
            <a:r>
              <a:rPr sz="1200">
                <a:solidFill>
                  <a:srgbClr val="DCE3EE"/>
                </a:solidFill>
                <a:latin typeface="Yu Gothic"/>
                <a:ea typeface="Yu Gothic"/>
                <a:cs typeface="Yu Gothic"/>
              </a:rPr>
              <a:t>移行手順を2回通しで実施</a:t>
            </a:r>
          </a:p>
        </p:txBody>
      </p:sp>
      <p:sp>
        <p:nvSpPr>
          <p:cNvPr id="5" name="TimelineStep" descr="pptx-deck-generated"/>
          <p:cNvSpPr/>
          <p:nvPr/>
        </p:nvSpPr>
        <p:spPr>
          <a:xfrm>
            <a:off x="6149340" y="2743200"/>
            <a:ext cx="2537460" cy="2194560"/>
          </a:xfrm>
          <a:prstGeom prst="homePlate">
            <a:avLst>
              <a:gd name="adj" fmla="val 15000"/>
            </a:avLst>
          </a:prstGeom>
          <a:solidFill>
            <a:srgbClr val="1B3A66"/>
          </a:solidFill>
          <a:ln>
            <a:solidFill>
              <a:srgbClr val="1B3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本番移行</a:t>
            </a:r>
          </a:p>
          <a:p>
            <a:pPr algn="ctr"/>
            <a:r>
              <a:rPr sz="130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12/12（土）</a:t>
            </a:r>
          </a:p>
          <a:p>
            <a:pPr algn="ctr"/>
            <a:r>
              <a:rPr sz="1200">
                <a:solidFill>
                  <a:srgbClr val="DCE3EE"/>
                </a:solidFill>
                <a:latin typeface="Yu Gothic"/>
                <a:ea typeface="Yu Gothic"/>
                <a:cs typeface="Yu Gothic"/>
              </a:rPr>
              <a:t>停止→移行→切替判断</a:t>
            </a:r>
          </a:p>
        </p:txBody>
      </p:sp>
      <p:sp>
        <p:nvSpPr>
          <p:cNvPr id="6" name="TimelineStep" descr="pptx-deck-generated"/>
          <p:cNvSpPr/>
          <p:nvPr/>
        </p:nvSpPr>
        <p:spPr>
          <a:xfrm>
            <a:off x="8823960" y="2743200"/>
            <a:ext cx="2537460" cy="2194560"/>
          </a:xfrm>
          <a:prstGeom prst="homePlate">
            <a:avLst>
              <a:gd name="adj" fmla="val 15000"/>
            </a:avLst>
          </a:prstGeom>
          <a:solidFill>
            <a:srgbClr val="1B3A66"/>
          </a:solidFill>
          <a:ln>
            <a:solidFill>
              <a:srgbClr val="1B3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安定化</a:t>
            </a:r>
          </a:p>
          <a:p>
            <a:pPr algn="ctr"/>
            <a:r>
              <a:rPr sz="130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12月〜1月</a:t>
            </a:r>
          </a:p>
          <a:p>
            <a:pPr algn="ctr"/>
            <a:r>
              <a:rPr sz="1200">
                <a:solidFill>
                  <a:srgbClr val="DCE3EE"/>
                </a:solidFill>
                <a:latin typeface="Yu Gothic"/>
                <a:ea typeface="Yu Gothic"/>
                <a:cs typeface="Yu Gothic"/>
              </a:rPr>
              <a:t>問合せ対応・旧サーバ停止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743200"/>
            <a:ext cx="10515600" cy="1371600"/>
          </a:xfrm>
        </p:spPr>
        <p:txBody>
          <a:bodyPr/>
          <a:lstStyle/>
          <a:p>
            <a:r>
              <a:t>03 体制とスケジュール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74320"/>
            <a:ext cx="1127455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B3A66"/>
                </a:solidFill>
                <a:latin typeface="Yu Gothic"/>
                <a:ea typeface="Yu Gothic"/>
                <a:cs typeface="Yu Gothic"/>
              </a:rPr>
              <a:t>移行リーダーの下に3チームを置き、業務部門が受入確認を担う</a:t>
            </a:r>
          </a:p>
        </p:txBody>
      </p:sp>
      <p:sp>
        <p:nvSpPr>
          <p:cNvPr id="3" name="OrgNode" descr="pptx-deck-generated"/>
          <p:cNvSpPr/>
          <p:nvPr/>
        </p:nvSpPr>
        <p:spPr>
          <a:xfrm>
            <a:off x="4892040" y="2103120"/>
            <a:ext cx="237744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3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B3A66"/>
                </a:solidFill>
                <a:latin typeface="Yu Gothic"/>
                <a:ea typeface="Yu Gothic"/>
                <a:cs typeface="Yu Gothic"/>
              </a:rPr>
              <a:t>移行リーダー</a:t>
            </a:r>
          </a:p>
          <a:p>
            <a:pPr algn="ctr"/>
            <a:r>
              <a:rPr sz="1100">
                <a:solidFill>
                  <a:srgbClr val="595F6B"/>
                </a:solidFill>
                <a:latin typeface="Yu Gothic"/>
                <a:ea typeface="Yu Gothic"/>
                <a:cs typeface="Yu Gothic"/>
              </a:rPr>
              <a:t>情報システム部</a:t>
            </a:r>
          </a:p>
        </p:txBody>
      </p:sp>
      <p:cxnSp>
        <p:nvCxnSpPr>
          <p:cNvPr id="4" name="OrgConnector"/>
          <p:cNvCxnSpPr/>
          <p:nvPr/>
        </p:nvCxnSpPr>
        <p:spPr>
          <a:xfrm flipH="1">
            <a:off x="2514600" y="3017520"/>
            <a:ext cx="3566160" cy="1463040"/>
          </a:xfrm>
          <a:prstGeom prst="bentConnector3">
            <a:avLst/>
          </a:prstGeom>
          <a:ln w="190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rgNode" descr="pptx-deck-generated"/>
          <p:cNvSpPr/>
          <p:nvPr/>
        </p:nvSpPr>
        <p:spPr>
          <a:xfrm>
            <a:off x="1325880" y="4480560"/>
            <a:ext cx="237744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3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B3A66"/>
                </a:solidFill>
                <a:latin typeface="Yu Gothic"/>
                <a:ea typeface="Yu Gothic"/>
                <a:cs typeface="Yu Gothic"/>
              </a:rPr>
              <a:t>インフラ担当</a:t>
            </a:r>
          </a:p>
          <a:p>
            <a:pPr algn="ctr"/>
            <a:r>
              <a:rPr sz="1100">
                <a:solidFill>
                  <a:srgbClr val="595F6B"/>
                </a:solidFill>
                <a:latin typeface="Yu Gothic"/>
                <a:ea typeface="Yu Gothic"/>
                <a:cs typeface="Yu Gothic"/>
              </a:rPr>
              <a:t>サーバ・DB・DNS</a:t>
            </a:r>
          </a:p>
        </p:txBody>
      </p:sp>
      <p:cxnSp>
        <p:nvCxnSpPr>
          <p:cNvPr id="6" name="OrgConnector"/>
          <p:cNvCxnSpPr/>
          <p:nvPr/>
        </p:nvCxnSpPr>
        <p:spPr>
          <a:xfrm>
            <a:off x="6080760" y="3017520"/>
            <a:ext cx="0" cy="1463040"/>
          </a:xfrm>
          <a:prstGeom prst="bentConnector3">
            <a:avLst/>
          </a:prstGeom>
          <a:ln w="190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rgNode" descr="pptx-deck-generated"/>
          <p:cNvSpPr/>
          <p:nvPr/>
        </p:nvSpPr>
        <p:spPr>
          <a:xfrm>
            <a:off x="4892040" y="4480560"/>
            <a:ext cx="237744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3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B3A66"/>
                </a:solidFill>
                <a:latin typeface="Yu Gothic"/>
                <a:ea typeface="Yu Gothic"/>
                <a:cs typeface="Yu Gothic"/>
              </a:rPr>
              <a:t>アプリ担当</a:t>
            </a:r>
          </a:p>
          <a:p>
            <a:pPr algn="ctr"/>
            <a:r>
              <a:rPr sz="1100">
                <a:solidFill>
                  <a:srgbClr val="595F6B"/>
                </a:solidFill>
                <a:latin typeface="Yu Gothic"/>
                <a:ea typeface="Yu Gothic"/>
                <a:cs typeface="Yu Gothic"/>
              </a:rPr>
              <a:t>Redmine・プラグイン</a:t>
            </a:r>
          </a:p>
        </p:txBody>
      </p:sp>
      <p:cxnSp>
        <p:nvCxnSpPr>
          <p:cNvPr id="8" name="OrgConnector"/>
          <p:cNvCxnSpPr/>
          <p:nvPr/>
        </p:nvCxnSpPr>
        <p:spPr>
          <a:xfrm>
            <a:off x="6080760" y="3017520"/>
            <a:ext cx="3566160" cy="1463040"/>
          </a:xfrm>
          <a:prstGeom prst="bentConnector3">
            <a:avLst/>
          </a:prstGeom>
          <a:ln w="190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rgNode" descr="pptx-deck-generated"/>
          <p:cNvSpPr/>
          <p:nvPr/>
        </p:nvSpPr>
        <p:spPr>
          <a:xfrm>
            <a:off x="8458200" y="4480560"/>
            <a:ext cx="237744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3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B3A66"/>
                </a:solidFill>
                <a:latin typeface="Yu Gothic"/>
                <a:ea typeface="Yu Gothic"/>
                <a:cs typeface="Yu Gothic"/>
              </a:rPr>
              <a:t>業務部門窓口</a:t>
            </a:r>
          </a:p>
          <a:p>
            <a:pPr algn="ctr"/>
            <a:r>
              <a:rPr sz="1100">
                <a:solidFill>
                  <a:srgbClr val="595F6B"/>
                </a:solidFill>
                <a:latin typeface="Yu Gothic"/>
                <a:ea typeface="Yu Gothic"/>
                <a:cs typeface="Yu Gothic"/>
              </a:rPr>
              <a:t>受入テスト・利用者告知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74320"/>
            <a:ext cx="1127455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B3A66"/>
                </a:solidFill>
                <a:latin typeface="Yu Gothic"/>
                <a:ea typeface="Yu Gothic"/>
                <a:cs typeface="Yu Gothic"/>
              </a:rPr>
              <a:t>リハーサルを2回行い、本番の手順と所要時間を事前に確定する</a:t>
            </a:r>
          </a:p>
        </p:txBody>
      </p:sp>
      <p:graphicFrame>
        <p:nvGraphicFramePr>
          <p:cNvPr id="3" name="DataTable"/>
          <p:cNvGraphicFramePr>
            <a:graphicFrameLocks noGrp="1"/>
          </p:cNvGraphicFramePr>
          <p:nvPr/>
        </p:nvGraphicFramePr>
        <p:xfrm>
          <a:off x="731520" y="1463040"/>
          <a:ext cx="106984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4553"/>
                <a:gridCol w="1620982"/>
                <a:gridCol w="1620982"/>
                <a:gridCol w="1620982"/>
                <a:gridCol w="1620981"/>
              </a:tblGrid>
              <a:tr h="7315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作業</a:t>
                      </a:r>
                    </a:p>
                  </a:txBody>
                  <a:tcPr anchor="ctr">
                    <a:lnB w="9525" cap="flat">
                      <a:solidFill>
                        <a:srgbClr val="C8CDD6"/>
                      </a:solidFill>
                    </a:lnB>
                    <a:solidFill>
                      <a:srgbClr val="1B3A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10月</a:t>
                      </a:r>
                    </a:p>
                  </a:txBody>
                  <a:tcPr anchor="ctr">
                    <a:lnB w="9525" cap="flat">
                      <a:solidFill>
                        <a:srgbClr val="C8CDD6"/>
                      </a:solidFill>
                    </a:lnB>
                    <a:solidFill>
                      <a:srgbClr val="1B3A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11月</a:t>
                      </a:r>
                    </a:p>
                  </a:txBody>
                  <a:tcPr anchor="ctr">
                    <a:lnB w="9525" cap="flat">
                      <a:solidFill>
                        <a:srgbClr val="C8CDD6"/>
                      </a:solidFill>
                    </a:lnB>
                    <a:solidFill>
                      <a:srgbClr val="1B3A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12月</a:t>
                      </a:r>
                    </a:p>
                  </a:txBody>
                  <a:tcPr anchor="ctr">
                    <a:lnB w="9525" cap="flat">
                      <a:solidFill>
                        <a:srgbClr val="C8CDD6"/>
                      </a:solidFill>
                    </a:lnB>
                    <a:solidFill>
                      <a:srgbClr val="1B3A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1月</a:t>
                      </a:r>
                    </a:p>
                  </a:txBody>
                  <a:tcPr anchor="ctr">
                    <a:lnB w="9525" cap="flat">
                      <a:solidFill>
                        <a:srgbClr val="C8CDD6"/>
                      </a:solidFill>
                    </a:lnB>
                    <a:solidFill>
                      <a:srgbClr val="1B3A6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124"/>
                          </a:solidFill>
                          <a:latin typeface="Yu Gothic"/>
                          <a:ea typeface="Yu Gothic"/>
                          <a:cs typeface="Yu Gothic"/>
                        </a:rPr>
                        <a:t>棚卸し・調査</a:t>
                      </a:r>
                    </a:p>
                  </a:txBody>
                  <a:tcPr anchor="ctr">
                    <a:lnB w="9525" cap="flat">
                      <a:solidFill>
                        <a:srgbClr val="C8CD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124"/>
                          </a:solidFill>
                          <a:latin typeface="Yu Gothic"/>
                          <a:ea typeface="Yu Gothic"/>
                          <a:cs typeface="Yu Gothic"/>
                        </a:rPr>
                        <a:t>■</a:t>
                      </a:r>
                    </a:p>
                  </a:txBody>
                  <a:tcPr anchor="ctr">
                    <a:lnB w="9525" cap="flat">
                      <a:solidFill>
                        <a:srgbClr val="C8CD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124"/>
                          </a:solidFill>
                          <a:latin typeface="Yu Gothic"/>
                          <a:ea typeface="Yu Gothic"/>
                          <a:cs typeface="Yu Gothic"/>
                        </a:rPr>
                        <a:t/>
                      </a:r>
                    </a:p>
                  </a:txBody>
                  <a:tcPr anchor="ctr">
                    <a:lnB w="9525" cap="flat">
                      <a:solidFill>
                        <a:srgbClr val="C8CD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124"/>
                          </a:solidFill>
                          <a:latin typeface="Yu Gothic"/>
                          <a:ea typeface="Yu Gothic"/>
                          <a:cs typeface="Yu Gothic"/>
                        </a:rPr>
                        <a:t/>
                      </a:r>
                    </a:p>
                  </a:txBody>
                  <a:tcPr anchor="ctr">
                    <a:lnB w="9525" cap="flat">
                      <a:solidFill>
                        <a:srgbClr val="C8CD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124"/>
                          </a:solidFill>
                          <a:latin typeface="Yu Gothic"/>
                          <a:ea typeface="Yu Gothic"/>
                          <a:cs typeface="Yu Gothic"/>
                        </a:rPr>
                        <a:t/>
                      </a:r>
                    </a:p>
                  </a:txBody>
                  <a:tcPr anchor="ctr">
                    <a:lnB w="9525" cap="flat">
                      <a:solidFill>
                        <a:srgbClr val="C8CD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124"/>
                          </a:solidFill>
                          <a:latin typeface="Yu Gothic"/>
                          <a:ea typeface="Yu Gothic"/>
                          <a:cs typeface="Yu Gothic"/>
                        </a:rPr>
                        <a:t>検証環境構築</a:t>
                      </a:r>
                    </a:p>
                  </a:txBody>
                  <a:tcPr anchor="ctr">
                    <a:lnB w="9525" cap="flat">
                      <a:solidFill>
                        <a:srgbClr val="C8CDD6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124"/>
                          </a:solidFill>
                          <a:latin typeface="Yu Gothic"/>
                          <a:ea typeface="Yu Gothic"/>
                          <a:cs typeface="Yu Gothic"/>
                        </a:rPr>
                        <a:t>■</a:t>
                      </a:r>
                    </a:p>
                  </a:txBody>
                  <a:tcPr anchor="ctr">
                    <a:lnB w="9525" cap="flat">
                      <a:solidFill>
                        <a:srgbClr val="C8CDD6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124"/>
                          </a:solidFill>
                          <a:latin typeface="Yu Gothic"/>
                          <a:ea typeface="Yu Gothic"/>
                          <a:cs typeface="Yu Gothic"/>
                        </a:rPr>
                        <a:t>■</a:t>
                      </a:r>
                    </a:p>
                  </a:txBody>
                  <a:tcPr anchor="ctr">
                    <a:lnB w="9525" cap="flat">
                      <a:solidFill>
                        <a:srgbClr val="C8CDD6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124"/>
                          </a:solidFill>
                          <a:latin typeface="Yu Gothic"/>
                          <a:ea typeface="Yu Gothic"/>
                          <a:cs typeface="Yu Gothic"/>
                        </a:rPr>
                        <a:t/>
                      </a:r>
                    </a:p>
                  </a:txBody>
                  <a:tcPr anchor="ctr">
                    <a:lnB w="9525" cap="flat">
                      <a:solidFill>
                        <a:srgbClr val="C8CDD6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124"/>
                          </a:solidFill>
                          <a:latin typeface="Yu Gothic"/>
                          <a:ea typeface="Yu Gothic"/>
                          <a:cs typeface="Yu Gothic"/>
                        </a:rPr>
                        <a:t/>
                      </a:r>
                    </a:p>
                  </a:txBody>
                  <a:tcPr anchor="ctr">
                    <a:lnB w="9525" cap="flat">
                      <a:solidFill>
                        <a:srgbClr val="C8CDD6"/>
                      </a:solidFill>
                    </a:lnB>
                    <a:solidFill>
                      <a:srgbClr val="F3F5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124"/>
                          </a:solidFill>
                          <a:latin typeface="Yu Gothic"/>
                          <a:ea typeface="Yu Gothic"/>
                          <a:cs typeface="Yu Gothic"/>
                        </a:rPr>
                        <a:t>移行リハーサル</a:t>
                      </a:r>
                    </a:p>
                  </a:txBody>
                  <a:tcPr anchor="ctr">
                    <a:lnB w="9525" cap="flat">
                      <a:solidFill>
                        <a:srgbClr val="C8CD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124"/>
                          </a:solidFill>
                          <a:latin typeface="Yu Gothic"/>
                          <a:ea typeface="Yu Gothic"/>
                          <a:cs typeface="Yu Gothic"/>
                        </a:rPr>
                        <a:t/>
                      </a:r>
                    </a:p>
                  </a:txBody>
                  <a:tcPr anchor="ctr">
                    <a:lnB w="9525" cap="flat">
                      <a:solidFill>
                        <a:srgbClr val="C8CD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124"/>
                          </a:solidFill>
                          <a:latin typeface="Yu Gothic"/>
                          <a:ea typeface="Yu Gothic"/>
                          <a:cs typeface="Yu Gothic"/>
                        </a:rPr>
                        <a:t>■■</a:t>
                      </a:r>
                    </a:p>
                  </a:txBody>
                  <a:tcPr anchor="ctr">
                    <a:lnB w="9525" cap="flat">
                      <a:solidFill>
                        <a:srgbClr val="C8CD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124"/>
                          </a:solidFill>
                          <a:latin typeface="Yu Gothic"/>
                          <a:ea typeface="Yu Gothic"/>
                          <a:cs typeface="Yu Gothic"/>
                        </a:rPr>
                        <a:t/>
                      </a:r>
                    </a:p>
                  </a:txBody>
                  <a:tcPr anchor="ctr">
                    <a:lnB w="9525" cap="flat">
                      <a:solidFill>
                        <a:srgbClr val="C8CD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124"/>
                          </a:solidFill>
                          <a:latin typeface="Yu Gothic"/>
                          <a:ea typeface="Yu Gothic"/>
                          <a:cs typeface="Yu Gothic"/>
                        </a:rPr>
                        <a:t/>
                      </a:r>
                    </a:p>
                  </a:txBody>
                  <a:tcPr anchor="ctr">
                    <a:lnB w="9525" cap="flat">
                      <a:solidFill>
                        <a:srgbClr val="C8CD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124"/>
                          </a:solidFill>
                          <a:latin typeface="Yu Gothic"/>
                          <a:ea typeface="Yu Gothic"/>
                          <a:cs typeface="Yu Gothic"/>
                        </a:rPr>
                        <a:t>本番移行</a:t>
                      </a:r>
                    </a:p>
                  </a:txBody>
                  <a:tcPr anchor="ctr">
                    <a:lnB w="9525" cap="flat">
                      <a:solidFill>
                        <a:srgbClr val="C8CDD6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124"/>
                          </a:solidFill>
                          <a:latin typeface="Yu Gothic"/>
                          <a:ea typeface="Yu Gothic"/>
                          <a:cs typeface="Yu Gothic"/>
                        </a:rPr>
                        <a:t/>
                      </a:r>
                    </a:p>
                  </a:txBody>
                  <a:tcPr anchor="ctr">
                    <a:lnB w="9525" cap="flat">
                      <a:solidFill>
                        <a:srgbClr val="C8CDD6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124"/>
                          </a:solidFill>
                          <a:latin typeface="Yu Gothic"/>
                          <a:ea typeface="Yu Gothic"/>
                          <a:cs typeface="Yu Gothic"/>
                        </a:rPr>
                        <a:t/>
                      </a:r>
                    </a:p>
                  </a:txBody>
                  <a:tcPr anchor="ctr">
                    <a:lnB w="9525" cap="flat">
                      <a:solidFill>
                        <a:srgbClr val="C8CDD6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124"/>
                          </a:solidFill>
                          <a:latin typeface="Yu Gothic"/>
                          <a:ea typeface="Yu Gothic"/>
                          <a:cs typeface="Yu Gothic"/>
                        </a:rPr>
                        <a:t>■</a:t>
                      </a:r>
                    </a:p>
                  </a:txBody>
                  <a:tcPr anchor="ctr">
                    <a:lnB w="9525" cap="flat">
                      <a:solidFill>
                        <a:srgbClr val="C8CDD6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124"/>
                          </a:solidFill>
                          <a:latin typeface="Yu Gothic"/>
                          <a:ea typeface="Yu Gothic"/>
                          <a:cs typeface="Yu Gothic"/>
                        </a:rPr>
                        <a:t/>
                      </a:r>
                    </a:p>
                  </a:txBody>
                  <a:tcPr anchor="ctr">
                    <a:lnB w="9525" cap="flat">
                      <a:solidFill>
                        <a:srgbClr val="C8CDD6"/>
                      </a:solidFill>
                    </a:lnB>
                    <a:solidFill>
                      <a:srgbClr val="F3F5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124"/>
                          </a:solidFill>
                          <a:latin typeface="Yu Gothic"/>
                          <a:ea typeface="Yu Gothic"/>
                          <a:cs typeface="Yu Gothic"/>
                        </a:rPr>
                        <a:t>安定化・旧サーバ停止</a:t>
                      </a:r>
                    </a:p>
                  </a:txBody>
                  <a:tcPr anchor="ctr">
                    <a:lnB w="9525" cap="flat">
                      <a:solidFill>
                        <a:srgbClr val="C8CD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124"/>
                          </a:solidFill>
                          <a:latin typeface="Yu Gothic"/>
                          <a:ea typeface="Yu Gothic"/>
                          <a:cs typeface="Yu Gothic"/>
                        </a:rPr>
                        <a:t/>
                      </a:r>
                    </a:p>
                  </a:txBody>
                  <a:tcPr anchor="ctr">
                    <a:lnB w="9525" cap="flat">
                      <a:solidFill>
                        <a:srgbClr val="C8CD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124"/>
                          </a:solidFill>
                          <a:latin typeface="Yu Gothic"/>
                          <a:ea typeface="Yu Gothic"/>
                          <a:cs typeface="Yu Gothic"/>
                        </a:rPr>
                        <a:t/>
                      </a:r>
                    </a:p>
                  </a:txBody>
                  <a:tcPr anchor="ctr">
                    <a:lnB w="9525" cap="flat">
                      <a:solidFill>
                        <a:srgbClr val="C8CD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124"/>
                          </a:solidFill>
                          <a:latin typeface="Yu Gothic"/>
                          <a:ea typeface="Yu Gothic"/>
                          <a:cs typeface="Yu Gothic"/>
                        </a:rPr>
                        <a:t>■</a:t>
                      </a:r>
                    </a:p>
                  </a:txBody>
                  <a:tcPr anchor="ctr">
                    <a:lnB w="9525" cap="flat">
                      <a:solidFill>
                        <a:srgbClr val="C8CD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124"/>
                          </a:solidFill>
                          <a:latin typeface="Yu Gothic"/>
                          <a:ea typeface="Yu Gothic"/>
                          <a:cs typeface="Yu Gothic"/>
                        </a:rPr>
                        <a:t>■</a:t>
                      </a:r>
                    </a:p>
                  </a:txBody>
                  <a:tcPr anchor="ctr">
                    <a:lnB w="9525" cap="flat">
                      <a:solidFill>
                        <a:srgbClr val="C8CD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743200"/>
            <a:ext cx="10515600" cy="1371600"/>
          </a:xfrm>
        </p:spPr>
        <p:txBody>
          <a:bodyPr/>
          <a:lstStyle/>
          <a:p>
            <a:r>
              <a:t>04 リスクと切り戻し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74320"/>
            <a:ext cx="1127455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B3A66"/>
                </a:solidFill>
                <a:latin typeface="Yu Gothic"/>
                <a:ea typeface="Yu Gothic"/>
                <a:cs typeface="Yu Gothic"/>
              </a:rPr>
              <a:t>主なリスクは事前検証で潰し、残るものは当日の判断基準で管理する</a:t>
            </a:r>
          </a:p>
        </p:txBody>
      </p:sp>
      <p:graphicFrame>
        <p:nvGraphicFramePr>
          <p:cNvPr id="3" name="DataTable"/>
          <p:cNvGraphicFramePr>
            <a:graphicFrameLocks noGrp="1"/>
          </p:cNvGraphicFramePr>
          <p:nvPr/>
        </p:nvGraphicFramePr>
        <p:xfrm>
          <a:off x="731520" y="1463040"/>
          <a:ext cx="106984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62379"/>
                <a:gridCol w="2751038"/>
                <a:gridCol w="4585063"/>
              </a:tblGrid>
              <a:tr h="7315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リスク</a:t>
                      </a:r>
                    </a:p>
                  </a:txBody>
                  <a:tcPr anchor="ctr">
                    <a:lnB w="9525" cap="flat">
                      <a:solidFill>
                        <a:srgbClr val="C8CDD6"/>
                      </a:solidFill>
                    </a:lnB>
                    <a:solidFill>
                      <a:srgbClr val="1B3A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影響</a:t>
                      </a:r>
                    </a:p>
                  </a:txBody>
                  <a:tcPr anchor="ctr">
                    <a:lnB w="9525" cap="flat">
                      <a:solidFill>
                        <a:srgbClr val="C8CDD6"/>
                      </a:solidFill>
                    </a:lnB>
                    <a:solidFill>
                      <a:srgbClr val="1B3A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対策</a:t>
                      </a:r>
                    </a:p>
                  </a:txBody>
                  <a:tcPr anchor="ctr">
                    <a:lnB w="9525" cap="flat">
                      <a:solidFill>
                        <a:srgbClr val="C8CDD6"/>
                      </a:solidFill>
                    </a:lnB>
                    <a:solidFill>
                      <a:srgbClr val="1B3A6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124"/>
                          </a:solidFill>
                          <a:latin typeface="Yu Gothic"/>
                          <a:ea typeface="Yu Gothic"/>
                          <a:cs typeface="Yu Gothic"/>
                        </a:rPr>
                        <a:t>プラグインが6.xで動かない</a:t>
                      </a:r>
                    </a:p>
                  </a:txBody>
                  <a:tcPr anchor="ctr">
                    <a:lnB w="9525" cap="flat">
                      <a:solidFill>
                        <a:srgbClr val="C8CD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124"/>
                          </a:solidFill>
                          <a:latin typeface="Yu Gothic"/>
                          <a:ea typeface="Yu Gothic"/>
                          <a:cs typeface="Yu Gothic"/>
                        </a:rPr>
                        <a:t>一部機能が使えない</a:t>
                      </a:r>
                    </a:p>
                  </a:txBody>
                  <a:tcPr anchor="ctr">
                    <a:lnB w="9525" cap="flat">
                      <a:solidFill>
                        <a:srgbClr val="C8CD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124"/>
                          </a:solidFill>
                          <a:latin typeface="Yu Gothic"/>
                          <a:ea typeface="Yu Gothic"/>
                          <a:cs typeface="Yu Gothic"/>
                        </a:rPr>
                        <a:t>11月に代替・廃止を決定し業務部門と合意</a:t>
                      </a:r>
                    </a:p>
                  </a:txBody>
                  <a:tcPr anchor="ctr">
                    <a:lnB w="9525" cap="flat">
                      <a:solidFill>
                        <a:srgbClr val="C8CD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124"/>
                          </a:solidFill>
                          <a:latin typeface="Yu Gothic"/>
                          <a:ea typeface="Yu Gothic"/>
                          <a:cs typeface="Yu Gothic"/>
                        </a:rPr>
                        <a:t>移行が停止時間内に終わらない</a:t>
                      </a:r>
                    </a:p>
                  </a:txBody>
                  <a:tcPr anchor="ctr">
                    <a:lnB w="9525" cap="flat">
                      <a:solidFill>
                        <a:srgbClr val="C8CDD6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124"/>
                          </a:solidFill>
                          <a:latin typeface="Yu Gothic"/>
                          <a:ea typeface="Yu Gothic"/>
                          <a:cs typeface="Yu Gothic"/>
                        </a:rPr>
                        <a:t>月曜の業務に影響</a:t>
                      </a:r>
                    </a:p>
                  </a:txBody>
                  <a:tcPr anchor="ctr">
                    <a:lnB w="9525" cap="flat">
                      <a:solidFill>
                        <a:srgbClr val="C8CDD6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124"/>
                          </a:solidFill>
                          <a:latin typeface="Yu Gothic"/>
                          <a:ea typeface="Yu Gothic"/>
                          <a:cs typeface="Yu Gothic"/>
                        </a:rPr>
                        <a:t>リハーサルで所要時間を実測し余裕を確保</a:t>
                      </a:r>
                    </a:p>
                  </a:txBody>
                  <a:tcPr anchor="ctr">
                    <a:lnB w="9525" cap="flat">
                      <a:solidFill>
                        <a:srgbClr val="C8CDD6"/>
                      </a:solidFill>
                    </a:lnB>
                    <a:solidFill>
                      <a:srgbClr val="F3F5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124"/>
                          </a:solidFill>
                          <a:latin typeface="Yu Gothic"/>
                          <a:ea typeface="Yu Gothic"/>
                          <a:cs typeface="Yu Gothic"/>
                        </a:rPr>
                        <a:t>添付ファイルの欠落</a:t>
                      </a:r>
                    </a:p>
                  </a:txBody>
                  <a:tcPr anchor="ctr">
                    <a:lnB w="9525" cap="flat">
                      <a:solidFill>
                        <a:srgbClr val="C8CD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124"/>
                          </a:solidFill>
                          <a:latin typeface="Yu Gothic"/>
                          <a:ea typeface="Yu Gothic"/>
                          <a:cs typeface="Yu Gothic"/>
                        </a:rPr>
                        <a:t>過去資料が開けない</a:t>
                      </a:r>
                    </a:p>
                  </a:txBody>
                  <a:tcPr anchor="ctr">
                    <a:lnB w="9525" cap="flat">
                      <a:solidFill>
                        <a:srgbClr val="C8CD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124"/>
                          </a:solidFill>
                          <a:latin typeface="Yu Gothic"/>
                          <a:ea typeface="Yu Gothic"/>
                          <a:cs typeface="Yu Gothic"/>
                        </a:rPr>
                        <a:t>ファイル数と容量を照合</a:t>
                      </a:r>
                    </a:p>
                  </a:txBody>
                  <a:tcPr anchor="ctr">
                    <a:lnB w="9525" cap="flat">
                      <a:solidFill>
                        <a:srgbClr val="C8CD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124"/>
                          </a:solidFill>
                          <a:latin typeface="Yu Gothic"/>
                          <a:ea typeface="Yu Gothic"/>
                          <a:cs typeface="Yu Gothic"/>
                        </a:rPr>
                        <a:t>利用者の混乱</a:t>
                      </a:r>
                    </a:p>
                  </a:txBody>
                  <a:tcPr anchor="ctr">
                    <a:lnB w="9525" cap="flat">
                      <a:solidFill>
                        <a:srgbClr val="C8CDD6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124"/>
                          </a:solidFill>
                          <a:latin typeface="Yu Gothic"/>
                          <a:ea typeface="Yu Gothic"/>
                          <a:cs typeface="Yu Gothic"/>
                        </a:rPr>
                        <a:t>問合せの集中</a:t>
                      </a:r>
                    </a:p>
                  </a:txBody>
                  <a:tcPr anchor="ctr">
                    <a:lnB w="9525" cap="flat">
                      <a:solidFill>
                        <a:srgbClr val="C8CDD6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124"/>
                          </a:solidFill>
                          <a:latin typeface="Yu Gothic"/>
                          <a:ea typeface="Yu Gothic"/>
                          <a:cs typeface="Yu Gothic"/>
                        </a:rPr>
                        <a:t>2週間前から告知し手順書を配布</a:t>
                      </a:r>
                    </a:p>
                  </a:txBody>
                  <a:tcPr anchor="ctr">
                    <a:lnB w="9525" cap="flat">
                      <a:solidFill>
                        <a:srgbClr val="C8CDD6"/>
                      </a:solidFill>
                    </a:lnB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11274552" cy="1051560"/>
          </a:xfrm>
        </p:spPr>
        <p:txBody>
          <a:bodyPr/>
          <a:lstStyle/>
          <a:p>
            <a:r>
              <a:t>切替判断は当日15時に行い、不合格なら旧サーバへ戻す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11274552" cy="4525963"/>
          </a:xfrm>
        </p:spPr>
        <p:txBody>
          <a:bodyPr/>
          <a:lstStyle/>
          <a:p>
            <a:r>
              <a:t>判定項目: ログイン・チケット表示・添付取得・通知メール</a:t>
            </a:r>
          </a:p>
          <a:p>
            <a:r>
              <a:t>不合格ならDNSを旧サーバへ戻し、旧DBで業務を再開</a:t>
            </a:r>
          </a:p>
          <a:p>
            <a:r>
              <a:t>旧サーバは1月末まで停止せず保全する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74320"/>
            <a:ext cx="1127455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B3A66"/>
                </a:solidFill>
                <a:latin typeface="Yu Gothic"/>
                <a:ea typeface="Yu Gothic"/>
                <a:cs typeface="Yu Gothic"/>
              </a:rPr>
              <a:t>ご承認いただきたい事項</a:t>
            </a:r>
          </a:p>
        </p:txBody>
      </p:sp>
      <p:sp>
        <p:nvSpPr>
          <p:cNvPr id="3" name="ClosingBody"/>
          <p:cNvSpPr txBox="1"/>
          <p:nvPr/>
        </p:nvSpPr>
        <p:spPr>
          <a:xfrm>
            <a:off x="914400" y="164592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457200" indent="-457200">
              <a:spcAft>
                <a:spcPts val="1000"/>
              </a:spcAft>
              <a:buFont typeface="Arial"/>
              <a:buChar char="・"/>
            </a:pPr>
            <a:r>
              <a:rPr sz="2000" b="0">
                <a:solidFill>
                  <a:srgbClr val="202124"/>
                </a:solidFill>
                <a:latin typeface="Yu Gothic"/>
                <a:ea typeface="Yu Gothic"/>
                <a:cs typeface="Yu Gothic"/>
              </a:rPr>
              <a:t>12月12日（土）の移行日程</a:t>
            </a:r>
          </a:p>
          <a:p>
            <a:pPr algn="l" marL="457200" indent="-457200">
              <a:spcAft>
                <a:spcPts val="1000"/>
              </a:spcAft>
              <a:buFont typeface="Arial"/>
              <a:buChar char="・"/>
            </a:pPr>
            <a:r>
              <a:rPr sz="2000" b="0">
                <a:solidFill>
                  <a:srgbClr val="202124"/>
                </a:solidFill>
                <a:latin typeface="Yu Gothic"/>
                <a:ea typeface="Yu Gothic"/>
                <a:cs typeface="Yu Gothic"/>
              </a:rPr>
              <a:t>2週間前からの停止告知</a:t>
            </a:r>
          </a:p>
          <a:p>
            <a:pPr algn="l" marL="457200" indent="-457200">
              <a:spcAft>
                <a:spcPts val="1000"/>
              </a:spcAft>
              <a:buFont typeface="Arial"/>
              <a:buChar char="・"/>
            </a:pPr>
            <a:r>
              <a:rPr sz="2000" b="0">
                <a:solidFill>
                  <a:srgbClr val="202124"/>
                </a:solidFill>
                <a:latin typeface="Yu Gothic"/>
                <a:ea typeface="Yu Gothic"/>
                <a:cs typeface="Yu Gothic"/>
              </a:rPr>
              <a:t>業務部門からの受入テスト要員2名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202124"/>
      </a:dk1>
      <a:lt1>
        <a:srgbClr val="FFFFFF"/>
      </a:lt1>
      <a:dk2>
        <a:srgbClr val="1B3A66"/>
      </a:dk2>
      <a:lt2>
        <a:srgbClr val="F2F4F8"/>
      </a:lt2>
      <a:accent1>
        <a:srgbClr val="1B3A66"/>
      </a:accent1>
      <a:accent2>
        <a:srgbClr val="3E7CB1"/>
      </a:accent2>
      <a:accent3>
        <a:srgbClr val="8A94A6"/>
      </a:accent3>
      <a:accent4>
        <a:srgbClr val="6B7A90"/>
      </a:accent4>
      <a:accent5>
        <a:srgbClr val="C8CDD6"/>
      </a:accent5>
      <a:accent6>
        <a:srgbClr val="E4E8EE"/>
      </a:accent6>
      <a:hlink>
        <a:srgbClr val="3E7CB1"/>
      </a:hlink>
      <a:folHlink>
        <a:srgbClr val="6B7A90"/>
      </a:folHlink>
    </a:clrScheme>
    <a:fontScheme name="Office">
      <a:majorFont>
        <a:latin typeface="Yu Gothic"/>
        <a:ea typeface="Yu Gothic"/>
        <a:cs typeface=""/>
        <a:font script="Jpan" typeface="Yu Gothic"/>
        <a:font script="Hang" typeface="Yu Gothic"/>
        <a:font script="Hans" typeface="Yu Gothic"/>
        <a:font script="Hant" typeface="Yu Gothic"/>
        <a:font script="Arab" typeface="Yu Gothic"/>
        <a:font script="Hebr" typeface="Yu Gothic"/>
        <a:font script="Thai" typeface="Yu Gothic"/>
        <a:font script="Ethi" typeface="Yu Gothic"/>
        <a:font script="Beng" typeface="Yu Gothic"/>
        <a:font script="Gujr" typeface="Yu Gothic"/>
        <a:font script="Khmr" typeface="Yu Gothic"/>
        <a:font script="Knda" typeface="Yu Gothic"/>
        <a:font script="Guru" typeface="Yu Gothic"/>
        <a:font script="Cans" typeface="Yu Gothic"/>
        <a:font script="Cher" typeface="Yu Gothic"/>
        <a:font script="Yiii" typeface="Yu Gothic"/>
        <a:font script="Tibt" typeface="Yu Gothic"/>
        <a:font script="Thaa" typeface="Yu Gothic"/>
        <a:font script="Deva" typeface="Yu Gothic"/>
        <a:font script="Telu" typeface="Yu Gothic"/>
        <a:font script="Taml" typeface="Yu Gothic"/>
        <a:font script="Syrc" typeface="Yu Gothic"/>
        <a:font script="Orya" typeface="Yu Gothic"/>
        <a:font script="Mlym" typeface="Yu Gothic"/>
        <a:font script="Laoo" typeface="Yu Gothic"/>
        <a:font script="Sinh" typeface="Yu Gothic"/>
        <a:font script="Mong" typeface="Yu Gothic"/>
        <a:font script="Viet" typeface="Yu Gothic"/>
        <a:font script="Uigh" typeface="Yu Gothic"/>
        <a:font script="Geor" typeface="Yu Gothic"/>
      </a:majorFont>
      <a:minorFont>
        <a:latin typeface="Yu Gothic"/>
        <a:ea typeface="Yu Gothic"/>
        <a:cs typeface=""/>
        <a:font script="Jpan" typeface="Yu Gothic"/>
        <a:font script="Hang" typeface="Yu Gothic"/>
        <a:font script="Hans" typeface="Yu Gothic"/>
        <a:font script="Hant" typeface="Yu Gothic"/>
        <a:font script="Arab" typeface="Yu Gothic"/>
        <a:font script="Hebr" typeface="Yu Gothic"/>
        <a:font script="Thai" typeface="Yu Gothic"/>
        <a:font script="Ethi" typeface="Yu Gothic"/>
        <a:font script="Beng" typeface="Yu Gothic"/>
        <a:font script="Gujr" typeface="Yu Gothic"/>
        <a:font script="Khmr" typeface="Yu Gothic"/>
        <a:font script="Knda" typeface="Yu Gothic"/>
        <a:font script="Guru" typeface="Yu Gothic"/>
        <a:font script="Cans" typeface="Yu Gothic"/>
        <a:font script="Cher" typeface="Yu Gothic"/>
        <a:font script="Yiii" typeface="Yu Gothic"/>
        <a:font script="Tibt" typeface="Yu Gothic"/>
        <a:font script="Thaa" typeface="Yu Gothic"/>
        <a:font script="Deva" typeface="Yu Gothic"/>
        <a:font script="Telu" typeface="Yu Gothic"/>
        <a:font script="Taml" typeface="Yu Gothic"/>
        <a:font script="Syrc" typeface="Yu Gothic"/>
        <a:font script="Orya" typeface="Yu Gothic"/>
        <a:font script="Mlym" typeface="Yu Gothic"/>
        <a:font script="Laoo" typeface="Yu Gothic"/>
        <a:font script="Sinh" typeface="Yu Gothic"/>
        <a:font script="Mong" typeface="Yu Gothic"/>
        <a:font script="Viet" typeface="Yu Gothic"/>
        <a:font script="Uigh" typeface="Yu Gothic"/>
        <a:font script="Geor" typeface="Yu Gothic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