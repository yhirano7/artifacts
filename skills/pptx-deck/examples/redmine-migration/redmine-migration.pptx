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本日はRedmine移行計画の承認をお願いする。結論として、12月の1日停止で移行する案を説明する。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4部構成。背景→方針→体制と日程→リスクと切り戻しの順で説明する。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現行はCentOS 7・Ruby 2.7・MySQL 5.7・Redmine 4.2で、すべて保守終了済み（想定値）。利用者約300名・添付約120GBの規模で、このまま放置すると脆弱性対応ができない。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移行先はUbuntu 24.04 LTS・Redmine 6.x・MySQL 8.0の保守期間内の構成にそろえる。あわせてバックアップを自動化し、復元手順書を整備して属人性を下げる。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添付ファイルは約120GB（想定値）あるため、事前に全量コピーしておき、停止中は差分同期だけにする。DBは停止後にダンプ→復元→マイグレーションの一括方式。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10月に準備、11月に検証環境構築とリハーサル2回、12月12日（土）に本番移行、その後1月末まで安定化期間。本番停止は土曜1日に限定する。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移行リーダーの下にインフラ・アプリ・業務部門窓口の3チーム。業務部門には受入テストと利用者告知を担当してもらう。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11月にリハーサルを2回実施し、手順と所要時間を確定する。本番移行は12月、安定化と旧サーバ停止は12月〜1月。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最大のリスクはプラグインの6.x非対応（現行8個・想定値）。11月に代替・廃止を業務部門と合意する。停止時間超過はリハーサル実測で潰す。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当日15時に判定項目を確認し、不合格ならDNSを旧サーバへ戻して旧DBで業務再開。旧サーバは1月末まで保全し、後戻りできる状態を保つ。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承認いただきたいのは3点。移行日程（12/12）、停止告知の実施、受入テスト要員2名の確保。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 sz="4000">
                <a:solidFill>
                  <a:schemeClr val="l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1600">
                <a:solidFill>
                  <a:schemeClr val="lt1"/>
                </a:solidFill>
              </a:defRPr>
            </a:lvl1pPr>
            <a:lvl2pPr marL="457200" indent="0" algn="ctr">
              <a:buNone/>
              <a:defRPr>
                <a:solidFill>
                  <a:schemeClr val="lt1"/>
                </a:solidFill>
              </a:defRPr>
            </a:lvl2pPr>
            <a:lvl3pPr marL="914400" indent="0" algn="ctr">
              <a:buNone/>
              <a:defRPr>
                <a:solidFill>
                  <a:schemeClr val="lt1"/>
                </a:solidFill>
              </a:defRPr>
            </a:lvl3pPr>
            <a:lvl4pPr marL="1371600" indent="0" algn="ctr">
              <a:buNone/>
              <a:defRPr>
                <a:solidFill>
                  <a:schemeClr val="lt1"/>
                </a:solidFill>
              </a:defRPr>
            </a:lvl4pPr>
            <a:lvl5pPr marL="1828800" indent="0" algn="ctr">
              <a:buNone/>
              <a:defRPr>
                <a:solidFill>
                  <a:schemeClr val="lt1"/>
                </a:solidFill>
              </a:defRPr>
            </a:lvl5pPr>
            <a:lvl6pPr marL="2286000" indent="0" algn="ctr">
              <a:buNone/>
              <a:defRPr>
                <a:solidFill>
                  <a:schemeClr val="lt1"/>
                </a:solidFill>
              </a:defRPr>
            </a:lvl6pPr>
            <a:lvl7pPr marL="2743200" indent="0" algn="ctr">
              <a:buNone/>
              <a:defRPr>
                <a:solidFill>
                  <a:schemeClr val="lt1"/>
                </a:solidFill>
              </a:defRPr>
            </a:lvl7pPr>
            <a:lvl8pPr marL="3200400" indent="0" algn="ctr">
              <a:buNone/>
              <a:defRPr>
                <a:solidFill>
                  <a:schemeClr val="lt1"/>
                </a:solidFill>
              </a:defRPr>
            </a:lvl8pPr>
            <a:lvl9pPr marL="3657600" indent="0" algn="ctr"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3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C9D4E4"/>
                </a:solidFill>
                <a:latin typeface="Yu Gothic"/>
                <a:ea typeface="Yu Gothic"/>
              </a:rPr>
              <a:t>Sample Org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 anchor="t"/>
          <a:lstStyle>
            <a:lvl1pPr algn="l">
              <a:defRPr sz="3200" b="1" cap="all">
                <a:solidFill>
                  <a:schemeClr val="l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lt1"/>
                </a:solidFill>
              </a:defRPr>
            </a:lvl1pPr>
            <a:lvl2pPr marL="457200" indent="0">
              <a:buNone/>
              <a:defRPr sz="1800">
                <a:solidFill>
                  <a:schemeClr val="lt1"/>
                </a:solidFill>
              </a:defRPr>
            </a:lvl2pPr>
            <a:lvl3pPr marL="914400" indent="0">
              <a:buNone/>
              <a:defRPr sz="1600">
                <a:solidFill>
                  <a:schemeClr val="lt1"/>
                </a:solidFill>
              </a:defRPr>
            </a:lvl3pPr>
            <a:lvl4pPr marL="1371600" indent="0">
              <a:buNone/>
              <a:defRPr sz="1400">
                <a:solidFill>
                  <a:schemeClr val="lt1"/>
                </a:solidFill>
              </a:defRPr>
            </a:lvl4pPr>
            <a:lvl5pPr marL="1828800" indent="0">
              <a:buNone/>
              <a:defRPr sz="1400">
                <a:solidFill>
                  <a:schemeClr val="lt1"/>
                </a:solidFill>
              </a:defRPr>
            </a:lvl5pPr>
            <a:lvl6pPr marL="2286000" indent="0">
              <a:buNone/>
              <a:defRPr sz="1400">
                <a:solidFill>
                  <a:schemeClr val="lt1"/>
                </a:solidFill>
              </a:defRPr>
            </a:lvl6pPr>
            <a:lvl7pPr marL="2743200" indent="0">
              <a:buNone/>
              <a:defRPr sz="1400">
                <a:solidFill>
                  <a:schemeClr val="lt1"/>
                </a:solidFill>
              </a:defRPr>
            </a:lvl7pPr>
            <a:lvl8pPr marL="3200400" indent="0">
              <a:buNone/>
              <a:defRPr sz="1400">
                <a:solidFill>
                  <a:schemeClr val="lt1"/>
                </a:solidFill>
              </a:defRPr>
            </a:lvl8pPr>
            <a:lvl9pPr marL="3657600" indent="0">
              <a:buNone/>
              <a:defRPr sz="1400">
                <a:solidFill>
                  <a:schemeClr val="lt1"/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4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C9D4E4"/>
                </a:solidFill>
                <a:latin typeface="Yu Gothic"/>
                <a:ea typeface="Yu Gothic"/>
              </a:rPr>
              <a:t>Sample Org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595F6B"/>
                </a:solidFill>
                <a:latin typeface="Yu Gothic"/>
                <a:ea typeface="Yu Gothic"/>
              </a:rPr>
              <a:t>Sample Org</a:t>
            </a:r>
          </a:p>
        </p:txBody>
      </p:sp>
      <p:sp>
        <p:nvSpPr>
          <p:cNvPr id="1002" name="SlideNumber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fld id="{B6F15528-9517-4E2F-8F3A-000000000001}" type="slidenum">
              <a:rPr lang="ja-JP" sz="900">
                <a:solidFill>
                  <a:srgbClr val="595F6B"/>
                </a:solidFill>
                <a:latin typeface="Yu Gothic"/>
                <a:ea typeface="Yu Gothic"/>
              </a:rPr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4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Redmine 移行計画書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t>旧サーバから新基盤への移行と本番切替の進め方</a:t>
            </a:r>
          </a:p>
          <a:p>
            <a:r>
              <a:t>情報システム部 2026-10-01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目次</a:t>
            </a:r>
          </a:p>
        </p:txBody>
      </p:sp>
      <p:sp>
        <p:nvSpPr>
          <p:cNvPr id="3" name="TocBody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背景と目的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移行方針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体制とスケジュール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リスクと切り戻し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01 背景と目的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現行サーバはOSとミドルウェアが保守切れで、</a:t>
            </a:r>
          </a:p>
          <a:p>
            <a:r>
              <a:t>脆弱性に対応できない状態にある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1554480"/>
            <a:ext cx="3648456" cy="1146048"/>
            <a:chOff x="0" y="0"/>
            <a:chExt cx="3648456" cy="114604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1146048"/>
            </a:xfrm>
            <a:prstGeom prst="roundRect">
              <a:avLst>
                <a:gd name="adj" fmla="val 478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heading" descr="pptx-deck-generated"/>
            <p:cNvSpPr txBox="1"/>
            <p:nvPr/>
          </p:nvSpPr>
          <p:spPr>
            <a:xfrm>
              <a:off x="109728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OS</a:t>
              </a:r>
            </a:p>
          </p:txBody>
        </p:sp>
        <p:sp>
          <p:nvSpPr>
            <p:cNvPr id="6" name="Card 1 body" descr="pptx-deck-generated"/>
            <p:cNvSpPr txBox="1"/>
            <p:nvPr/>
          </p:nvSpPr>
          <p:spPr>
            <a:xfrm>
              <a:off x="109728" y="530352"/>
              <a:ext cx="3429000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CentOS 7 / 2024年6月保守終了</a:t>
              </a:r>
            </a:p>
          </p:txBody>
        </p:sp>
        <p:sp>
          <p:nvSpPr>
            <p:cNvPr id="7" name="Card 1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1554480"/>
            <a:ext cx="3648456" cy="1146048"/>
            <a:chOff x="0" y="0"/>
            <a:chExt cx="3648456" cy="114604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1146048"/>
            </a:xfrm>
            <a:prstGeom prst="roundRect">
              <a:avLst>
                <a:gd name="adj" fmla="val 478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 txBox="1"/>
            <p:nvPr/>
          </p:nvSpPr>
          <p:spPr>
            <a:xfrm>
              <a:off x="109728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ミドルウェア</a:t>
              </a:r>
            </a:p>
          </p:txBody>
        </p:sp>
        <p:sp>
          <p:nvSpPr>
            <p:cNvPr id="11" name="Card 2 body" descr="pptx-deck-generated"/>
            <p:cNvSpPr txBox="1"/>
            <p:nvPr/>
          </p:nvSpPr>
          <p:spPr>
            <a:xfrm>
              <a:off x="109728" y="530352"/>
              <a:ext cx="3429000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Ruby 2.7・MySQL 5.7 / 保守終了</a:t>
              </a:r>
            </a:p>
          </p:txBody>
        </p:sp>
        <p:sp>
          <p:nvSpPr>
            <p:cNvPr id="12" name="Card 2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1554480"/>
            <a:ext cx="3648456" cy="1146048"/>
            <a:chOff x="0" y="0"/>
            <a:chExt cx="3648456" cy="114604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1146048"/>
            </a:xfrm>
            <a:prstGeom prst="roundRect">
              <a:avLst>
                <a:gd name="adj" fmla="val 478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heading" descr="pptx-deck-generated"/>
            <p:cNvSpPr txBox="1"/>
            <p:nvPr/>
          </p:nvSpPr>
          <p:spPr>
            <a:xfrm>
              <a:off x="109727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アプリ</a:t>
              </a:r>
            </a:p>
          </p:txBody>
        </p:sp>
        <p:sp>
          <p:nvSpPr>
            <p:cNvPr id="16" name="Card 3 body" descr="pptx-deck-generated"/>
            <p:cNvSpPr txBox="1"/>
            <p:nvPr/>
          </p:nvSpPr>
          <p:spPr>
            <a:xfrm>
              <a:off x="109727" y="530352"/>
              <a:ext cx="3429000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Redmine 4.2 / 更新対象外</a:t>
              </a:r>
            </a:p>
          </p:txBody>
        </p:sp>
        <p:sp>
          <p:nvSpPr>
            <p:cNvPr id="17" name="Card 3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Component takeaway" descr="pptx-deck-generated"/>
          <p:cNvSpPr/>
          <p:nvPr/>
        </p:nvSpPr>
        <p:spPr>
          <a:xfrm>
            <a:off x="457200" y="2929128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accent" descr="pptx-deck-generated"/>
          <p:cNvSpPr/>
          <p:nvPr/>
        </p:nvSpPr>
        <p:spPr>
          <a:xfrm>
            <a:off x="457200" y="2929128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 text" descr="pptx-deck-generated"/>
          <p:cNvSpPr txBox="1"/>
          <p:nvPr/>
        </p:nvSpPr>
        <p:spPr>
          <a:xfrm>
            <a:off x="603504" y="2929128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利用者約300名・添付約120GB（想定値）が脆弱性にさらされたままになる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OSとミドルウェアを保守期間内の版へそろえ、運用手順も標準化する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1554480"/>
            <a:ext cx="5308092" cy="1952752"/>
            <a:chOff x="0" y="0"/>
            <a:chExt cx="5308092" cy="1952752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08092" cy="1952752"/>
            </a:xfrm>
            <a:prstGeom prst="roundRect">
              <a:avLst>
                <a:gd name="adj" fmla="val 2810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dk1">
                <a:lumMod val="65000"/>
                <a:lumOff val="35000"/>
              </a:schemeClr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現行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4997196" cy="13675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CentOS 7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Redmine 4.2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MySQL 5.7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手作業のバックアップ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423659" y="1554480"/>
            <a:ext cx="5308092" cy="1952752"/>
            <a:chOff x="0" y="0"/>
            <a:chExt cx="5308092" cy="1952752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08092" cy="1952752"/>
            </a:xfrm>
            <a:prstGeom prst="roundRect">
              <a:avLst>
                <a:gd name="adj" fmla="val 2810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移行後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4997196" cy="13675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Ubuntu 24.04 LTS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Redmine 6.x（計画時点の最新安定版）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MySQL 8.0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自動バックアップと復元手順書</a:t>
              </a:r>
            </a:p>
          </p:txBody>
        </p:sp>
      </p:grpSp>
      <p:sp>
        <p:nvSpPr>
          <p:cNvPr id="11" name="Comparison transition" descr="pptx-deck-generated"/>
          <p:cNvSpPr/>
          <p:nvPr/>
        </p:nvSpPr>
        <p:spPr>
          <a:xfrm>
            <a:off x="5911596" y="2374635"/>
            <a:ext cx="365760" cy="256032"/>
          </a:xfrm>
          <a:prstGeom prst="rightArrow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02 移行方針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データは停止中に一括移行し、添付ファイルだけ事前に差分同期して停止時間を短くする</a:t>
            </a:r>
          </a:p>
        </p:txBody>
      </p:sp>
      <p:graphicFrame>
        <p:nvGraphicFramePr>
          <p:cNvPr id="3" name="DataTable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628"/>
                <a:gridCol w="5034579"/>
                <a:gridCol w="3461273"/>
              </a:tblGrid>
              <a:tr h="731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確認方法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データベース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停止後にダンプ→新DBへ復元→Redmineのマイグレーション実行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件数照合・チケット抜き取り確認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添付ファイル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事前に全量コピー→停止中に差分同期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ファイル数・容量の一致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プラグイン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6.x対応版へ更新・非対応は代替か廃止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画面操作の確認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認証・メール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LDAP接続とメール送信設定を再作成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ログイン・通知の確認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URL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DNSを新サーバへ切替（URLは変えない）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利用者端末からの接続確認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4段階で進め、本番切替は12月第2土曜の1日停止に収める</a:t>
            </a:r>
          </a:p>
        </p:txBody>
      </p:sp>
      <p:sp>
        <p:nvSpPr>
          <p:cNvPr id="3" name="TimelineStep" descr="pptx-deck-generated"/>
          <p:cNvSpPr/>
          <p:nvPr/>
        </p:nvSpPr>
        <p:spPr>
          <a:xfrm>
            <a:off x="80010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棚卸し・プラグイン調査</a:t>
            </a:r>
          </a:p>
        </p:txBody>
      </p:sp>
      <p:sp>
        <p:nvSpPr>
          <p:cNvPr id="4" name="TimelineStep" descr="pptx-deck-generated"/>
          <p:cNvSpPr/>
          <p:nvPr/>
        </p:nvSpPr>
        <p:spPr>
          <a:xfrm>
            <a:off x="347472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検証環境・リハーサル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11月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移行手順を2回通しで実施</a:t>
            </a:r>
          </a:p>
        </p:txBody>
      </p:sp>
      <p:sp>
        <p:nvSpPr>
          <p:cNvPr id="5" name="TimelineStep" descr="pptx-deck-generated"/>
          <p:cNvSpPr/>
          <p:nvPr/>
        </p:nvSpPr>
        <p:spPr>
          <a:xfrm>
            <a:off x="614934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本番移行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12/12（土）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停止→移行→切替判断</a:t>
            </a:r>
          </a:p>
        </p:txBody>
      </p:sp>
      <p:sp>
        <p:nvSpPr>
          <p:cNvPr id="6" name="TimelineStep" descr="pptx-deck-generated"/>
          <p:cNvSpPr/>
          <p:nvPr/>
        </p:nvSpPr>
        <p:spPr>
          <a:xfrm>
            <a:off x="882396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安定化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12月〜1月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問合せ対応・旧サーバ停止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03 体制とスケジュール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移行リーダーの下に3チームを置き、業務部門が受入確認を担う</a:t>
            </a:r>
          </a:p>
        </p:txBody>
      </p:sp>
      <p:sp>
        <p:nvSpPr>
          <p:cNvPr id="3" name="OrgNode" descr="pptx-deck-generated"/>
          <p:cNvSpPr/>
          <p:nvPr/>
        </p:nvSpPr>
        <p:spPr>
          <a:xfrm>
            <a:off x="4892040" y="210312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移行リーダー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情報システム部</a:t>
            </a:r>
          </a:p>
        </p:txBody>
      </p:sp>
      <p:cxnSp>
        <p:nvCxnSpPr>
          <p:cNvPr id="4" name="OrgConnector"/>
          <p:cNvCxnSpPr/>
          <p:nvPr/>
        </p:nvCxnSpPr>
        <p:spPr>
          <a:xfrm flipH="1">
            <a:off x="2514600" y="3017520"/>
            <a:ext cx="356616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rgNode" descr="pptx-deck-generated"/>
          <p:cNvSpPr/>
          <p:nvPr/>
        </p:nvSpPr>
        <p:spPr>
          <a:xfrm>
            <a:off x="132588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インフラ担当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サーバ・DB・DNS</a:t>
            </a:r>
          </a:p>
        </p:txBody>
      </p:sp>
      <p:cxnSp>
        <p:nvCxnSpPr>
          <p:cNvPr id="6" name="OrgConnector"/>
          <p:cNvCxnSpPr/>
          <p:nvPr/>
        </p:nvCxnSpPr>
        <p:spPr>
          <a:xfrm>
            <a:off x="6080760" y="3017520"/>
            <a:ext cx="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rgNode" descr="pptx-deck-generated"/>
          <p:cNvSpPr/>
          <p:nvPr/>
        </p:nvSpPr>
        <p:spPr>
          <a:xfrm>
            <a:off x="489204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アプリ担当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Redmine・プラグイン</a:t>
            </a:r>
          </a:p>
        </p:txBody>
      </p:sp>
      <p:cxnSp>
        <p:nvCxnSpPr>
          <p:cNvPr id="8" name="OrgConnector"/>
          <p:cNvCxnSpPr/>
          <p:nvPr/>
        </p:nvCxnSpPr>
        <p:spPr>
          <a:xfrm>
            <a:off x="6080760" y="3017520"/>
            <a:ext cx="356616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rgNode" descr="pptx-deck-generated"/>
          <p:cNvSpPr/>
          <p:nvPr/>
        </p:nvSpPr>
        <p:spPr>
          <a:xfrm>
            <a:off x="845820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業務部門窓口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受入テスト・利用者告知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リハーサルを2回行い、本番の手順と所要時間を事前に確定する</a:t>
            </a:r>
          </a:p>
        </p:txBody>
      </p:sp>
      <p:sp>
        <p:nvSpPr>
          <p:cNvPr id="3" name="Roadmap period 1" descr="pptx-deck-generated"/>
          <p:cNvSpPr/>
          <p:nvPr/>
        </p:nvSpPr>
        <p:spPr>
          <a:xfrm>
            <a:off x="2468880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10月</a:t>
            </a:r>
          </a:p>
        </p:txBody>
      </p:sp>
      <p:sp>
        <p:nvSpPr>
          <p:cNvPr id="4" name="Roadmap period 2" descr="pptx-deck-generated"/>
          <p:cNvSpPr/>
          <p:nvPr/>
        </p:nvSpPr>
        <p:spPr>
          <a:xfrm>
            <a:off x="4784598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11月</a:t>
            </a:r>
          </a:p>
        </p:txBody>
      </p:sp>
      <p:sp>
        <p:nvSpPr>
          <p:cNvPr id="5" name="Roadmap period 3" descr="pptx-deck-generated"/>
          <p:cNvSpPr/>
          <p:nvPr/>
        </p:nvSpPr>
        <p:spPr>
          <a:xfrm>
            <a:off x="7100316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12月</a:t>
            </a:r>
          </a:p>
        </p:txBody>
      </p:sp>
      <p:sp>
        <p:nvSpPr>
          <p:cNvPr id="6" name="Roadmap period 4" descr="pptx-deck-generated"/>
          <p:cNvSpPr/>
          <p:nvPr/>
        </p:nvSpPr>
        <p:spPr>
          <a:xfrm>
            <a:off x="9416034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1月</a:t>
            </a:r>
          </a:p>
        </p:txBody>
      </p:sp>
      <p:sp>
        <p:nvSpPr>
          <p:cNvPr id="7" name="Roadmap row 2" descr="pptx-deck-generated"/>
          <p:cNvSpPr/>
          <p:nvPr/>
        </p:nvSpPr>
        <p:spPr>
          <a:xfrm>
            <a:off x="457200" y="2596896"/>
            <a:ext cx="11274552" cy="603504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8" name="Roadmap row 4" descr="pptx-deck-generated"/>
          <p:cNvSpPr/>
          <p:nvPr/>
        </p:nvSpPr>
        <p:spPr>
          <a:xfrm>
            <a:off x="457200" y="3803904"/>
            <a:ext cx="11274552" cy="603504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cxnSp>
        <p:nvCxnSpPr>
          <p:cNvPr id="9" name="Roadmap grid 1" descr="pptx-deck-generated"/>
          <p:cNvCxnSpPr/>
          <p:nvPr/>
        </p:nvCxnSpPr>
        <p:spPr>
          <a:xfrm>
            <a:off x="2468880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0" name="Roadmap grid 2" descr="pptx-deck-generated"/>
          <p:cNvCxnSpPr/>
          <p:nvPr/>
        </p:nvCxnSpPr>
        <p:spPr>
          <a:xfrm>
            <a:off x="4784598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1" name="Roadmap grid 3" descr="pptx-deck-generated"/>
          <p:cNvCxnSpPr/>
          <p:nvPr/>
        </p:nvCxnSpPr>
        <p:spPr>
          <a:xfrm>
            <a:off x="7100316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2" name="Roadmap grid 4" descr="pptx-deck-generated"/>
          <p:cNvCxnSpPr/>
          <p:nvPr/>
        </p:nvCxnSpPr>
        <p:spPr>
          <a:xfrm>
            <a:off x="9416034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3" name="Roadmap grid 5" descr="pptx-deck-generated"/>
          <p:cNvCxnSpPr/>
          <p:nvPr/>
        </p:nvCxnSpPr>
        <p:spPr>
          <a:xfrm>
            <a:off x="11731751" y="1993391"/>
            <a:ext cx="0" cy="301752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14" name="Roadmap track 1" descr="pptx-deck-generated"/>
          <p:cNvSpPr txBox="1"/>
          <p:nvPr/>
        </p:nvSpPr>
        <p:spPr>
          <a:xfrm>
            <a:off x="493776" y="2020823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棚卸し・調査</a:t>
            </a:r>
          </a:p>
        </p:txBody>
      </p:sp>
      <p:grpSp>
        <p:nvGrpSpPr>
          <p:cNvPr id="15" name="Roadmap 1" descr="pptx-deck-generated"/>
          <p:cNvGrpSpPr/>
          <p:nvPr/>
        </p:nvGrpSpPr>
        <p:grpSpPr>
          <a:xfrm>
            <a:off x="2505456" y="2103120"/>
            <a:ext cx="2242565" cy="384048"/>
            <a:chOff x="0" y="0"/>
            <a:chExt cx="2242565" cy="384048"/>
          </a:xfrm>
        </p:grpSpPr>
        <p:sp>
          <p:nvSpPr>
            <p:cNvPr id="16" name="Roadmap track 1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調査</a:t>
              </a:r>
            </a:p>
          </p:txBody>
        </p:sp>
      </p:grpSp>
      <p:sp>
        <p:nvSpPr>
          <p:cNvPr id="17" name="Roadmap track 2" descr="pptx-deck-generated"/>
          <p:cNvSpPr txBox="1"/>
          <p:nvPr/>
        </p:nvSpPr>
        <p:spPr>
          <a:xfrm>
            <a:off x="493776" y="2624327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検証環境構築</a:t>
            </a:r>
          </a:p>
        </p:txBody>
      </p:sp>
      <p:grpSp>
        <p:nvGrpSpPr>
          <p:cNvPr id="18" name="Roadmap 11" descr="pptx-deck-generated"/>
          <p:cNvGrpSpPr/>
          <p:nvPr/>
        </p:nvGrpSpPr>
        <p:grpSpPr>
          <a:xfrm>
            <a:off x="2505456" y="2706624"/>
            <a:ext cx="4558283" cy="384048"/>
            <a:chOff x="0" y="0"/>
            <a:chExt cx="4558283" cy="384048"/>
          </a:xfrm>
        </p:grpSpPr>
        <p:sp>
          <p:nvSpPr>
            <p:cNvPr id="19" name="Roadmap track 2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構築</a:t>
              </a:r>
            </a:p>
          </p:txBody>
        </p:sp>
      </p:grpSp>
      <p:sp>
        <p:nvSpPr>
          <p:cNvPr id="20" name="Roadmap track 3" descr="pptx-deck-generated"/>
          <p:cNvSpPr txBox="1"/>
          <p:nvPr/>
        </p:nvSpPr>
        <p:spPr>
          <a:xfrm>
            <a:off x="493776" y="3227832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移行リハーサル</a:t>
            </a:r>
          </a:p>
        </p:txBody>
      </p:sp>
      <p:grpSp>
        <p:nvGrpSpPr>
          <p:cNvPr id="21" name="Roadmap 21" descr="pptx-deck-generated"/>
          <p:cNvGrpSpPr/>
          <p:nvPr/>
        </p:nvGrpSpPr>
        <p:grpSpPr>
          <a:xfrm>
            <a:off x="4821174" y="3310128"/>
            <a:ext cx="2242565" cy="384048"/>
            <a:chOff x="0" y="0"/>
            <a:chExt cx="2242565" cy="384048"/>
          </a:xfrm>
        </p:grpSpPr>
        <p:sp>
          <p:nvSpPr>
            <p:cNvPr id="22" name="Roadmap track 3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2回</a:t>
              </a:r>
            </a:p>
          </p:txBody>
        </p:sp>
      </p:grpSp>
      <p:sp>
        <p:nvSpPr>
          <p:cNvPr id="23" name="Roadmap track 4" descr="pptx-deck-generated"/>
          <p:cNvSpPr txBox="1"/>
          <p:nvPr/>
        </p:nvSpPr>
        <p:spPr>
          <a:xfrm>
            <a:off x="493776" y="3831336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本番移行</a:t>
            </a:r>
          </a:p>
        </p:txBody>
      </p:sp>
      <p:grpSp>
        <p:nvGrpSpPr>
          <p:cNvPr id="24" name="Roadmap 31" descr="pptx-deck-generated"/>
          <p:cNvGrpSpPr/>
          <p:nvPr/>
        </p:nvGrpSpPr>
        <p:grpSpPr>
          <a:xfrm>
            <a:off x="7136892" y="3913632"/>
            <a:ext cx="2242565" cy="384048"/>
            <a:chOff x="0" y="0"/>
            <a:chExt cx="2242565" cy="384048"/>
          </a:xfrm>
        </p:grpSpPr>
        <p:sp>
          <p:nvSpPr>
            <p:cNvPr id="25" name="Roadmap track 4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本番</a:t>
              </a:r>
            </a:p>
          </p:txBody>
        </p:sp>
      </p:grpSp>
      <p:sp>
        <p:nvSpPr>
          <p:cNvPr id="26" name="Roadmap track 5" descr="pptx-deck-generated"/>
          <p:cNvSpPr txBox="1"/>
          <p:nvPr/>
        </p:nvSpPr>
        <p:spPr>
          <a:xfrm>
            <a:off x="493776" y="44348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安定化・旧サーバ停止</a:t>
            </a:r>
          </a:p>
        </p:txBody>
      </p:sp>
      <p:grpSp>
        <p:nvGrpSpPr>
          <p:cNvPr id="27" name="Roadmap 41" descr="pptx-deck-generated"/>
          <p:cNvGrpSpPr/>
          <p:nvPr/>
        </p:nvGrpSpPr>
        <p:grpSpPr>
          <a:xfrm>
            <a:off x="7136892" y="4517136"/>
            <a:ext cx="4558283" cy="384048"/>
            <a:chOff x="0" y="0"/>
            <a:chExt cx="4558283" cy="384048"/>
          </a:xfrm>
        </p:grpSpPr>
        <p:sp>
          <p:nvSpPr>
            <p:cNvPr id="28" name="Roadmap track 5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安定化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04 リスクと切り戻し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主なリスクは事前検証で潰し、残るものは当日の判断基準で管理する</a:t>
            </a:r>
          </a:p>
        </p:txBody>
      </p:sp>
      <p:graphicFrame>
        <p:nvGraphicFramePr>
          <p:cNvPr id="3" name="DataTable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2379"/>
                <a:gridCol w="2751038"/>
                <a:gridCol w="4585063"/>
              </a:tblGrid>
              <a:tr h="731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リスク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影響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対策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プラグインが6.xで動かない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一部機能が使えない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11月に代替・廃止を決定し業務部門と合意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移行が停止時間内に終わらない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月曜の業務に影響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リハーサルで所要時間を実測し余裕を確保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添付ファイルの欠落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過去資料が開けない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ファイル数と容量を照合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利用者の混乱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問合せの集中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2週間前から告知し手順書を配布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切替判断は当日15時に行い、不合格なら旧サーバへ戻す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1554480"/>
            <a:ext cx="3575304" cy="1261872"/>
            <a:chOff x="0" y="0"/>
            <a:chExt cx="3575304" cy="1261872"/>
          </a:xfrm>
        </p:grpSpPr>
        <p:sp>
          <p:nvSpPr>
            <p:cNvPr id="4" name="Process 1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Process 1 label" descr="pptx-deck-generated"/>
            <p:cNvSpPr txBox="1"/>
            <p:nvPr/>
          </p:nvSpPr>
          <p:spPr>
            <a:xfrm>
              <a:off x="109728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15:00 判定</a:t>
              </a:r>
            </a:p>
          </p:txBody>
        </p:sp>
        <p:sp>
          <p:nvSpPr>
            <p:cNvPr id="6" name="Process 1 detail" descr="pptx-deck-generated"/>
            <p:cNvSpPr txBox="1"/>
            <p:nvPr/>
          </p:nvSpPr>
          <p:spPr>
            <a:xfrm>
              <a:off x="109728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ログイン・チケット表示・添付取得・通知メール</a:t>
              </a:r>
            </a:p>
          </p:txBody>
        </p:sp>
      </p:grpSp>
      <p:sp>
        <p:nvSpPr>
          <p:cNvPr id="7" name="Process arrow 1" descr="pptx-deck-generated"/>
          <p:cNvSpPr/>
          <p:nvPr/>
        </p:nvSpPr>
        <p:spPr>
          <a:xfrm rot="5400000">
            <a:off x="4069080" y="2075688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8" name="Process 2" descr="pptx-deck-generated"/>
          <p:cNvGrpSpPr/>
          <p:nvPr/>
        </p:nvGrpSpPr>
        <p:grpSpPr>
          <a:xfrm>
            <a:off x="4306824" y="1554480"/>
            <a:ext cx="3575304" cy="1261872"/>
            <a:chOff x="0" y="0"/>
            <a:chExt cx="3575304" cy="1261872"/>
          </a:xfrm>
        </p:grpSpPr>
        <p:sp>
          <p:nvSpPr>
            <p:cNvPr id="9" name="Process 2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rocess 2 label" descr="pptx-deck-generated"/>
            <p:cNvSpPr txBox="1"/>
            <p:nvPr/>
          </p:nvSpPr>
          <p:spPr>
            <a:xfrm>
              <a:off x="109728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不合格なら</a:t>
              </a:r>
            </a:p>
          </p:txBody>
        </p:sp>
        <p:sp>
          <p:nvSpPr>
            <p:cNvPr id="11" name="Process 2 detail" descr="pptx-deck-generated"/>
            <p:cNvSpPr txBox="1"/>
            <p:nvPr/>
          </p:nvSpPr>
          <p:spPr>
            <a:xfrm>
              <a:off x="109728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DNSを旧サーバへ戻す</a:t>
              </a:r>
            </a:p>
          </p:txBody>
        </p:sp>
      </p:grpSp>
      <p:sp>
        <p:nvSpPr>
          <p:cNvPr id="12" name="Process arrow 2" descr="pptx-deck-generated"/>
          <p:cNvSpPr/>
          <p:nvPr/>
        </p:nvSpPr>
        <p:spPr>
          <a:xfrm rot="5400000">
            <a:off x="7918704" y="2075688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13" name="Process 3" descr="pptx-deck-generated"/>
          <p:cNvGrpSpPr/>
          <p:nvPr/>
        </p:nvGrpSpPr>
        <p:grpSpPr>
          <a:xfrm>
            <a:off x="8156448" y="1554480"/>
            <a:ext cx="3575304" cy="1261872"/>
            <a:chOff x="0" y="0"/>
            <a:chExt cx="3575304" cy="1261872"/>
          </a:xfrm>
        </p:grpSpPr>
        <p:sp>
          <p:nvSpPr>
            <p:cNvPr id="14" name="Process 3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109727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業務再開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09727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旧DBで業務を再開</a:t>
              </a:r>
            </a:p>
          </p:txBody>
        </p:sp>
      </p:grpSp>
      <p:sp>
        <p:nvSpPr>
          <p:cNvPr id="17" name="Component takeaway" descr="pptx-deck-generated"/>
          <p:cNvSpPr/>
          <p:nvPr/>
        </p:nvSpPr>
        <p:spPr>
          <a:xfrm>
            <a:off x="457200" y="3044952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akeaway accent" descr="pptx-deck-generated"/>
          <p:cNvSpPr/>
          <p:nvPr/>
        </p:nvSpPr>
        <p:spPr>
          <a:xfrm>
            <a:off x="457200" y="3044952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text" descr="pptx-deck-generated"/>
          <p:cNvSpPr txBox="1"/>
          <p:nvPr/>
        </p:nvSpPr>
        <p:spPr>
          <a:xfrm>
            <a:off x="603504" y="3044952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旧サーバは1月末まで停止せず保全する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ご承認いただきたい事項</a:t>
            </a:r>
          </a:p>
        </p:txBody>
      </p:sp>
      <p:sp>
        <p:nvSpPr>
          <p:cNvPr id="3" name="ClosingBody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12月12日（土）の移行日程</a:t>
            </a:r>
          </a:p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2週間前からの停止告知</a:t>
            </a:r>
          </a:p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業務部門からの受入テスト要員2名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1B3A66"/>
      </a:dk2>
      <a:lt2>
        <a:srgbClr val="F2F4F8"/>
      </a:lt2>
      <a:accent1>
        <a:srgbClr val="1B3A66"/>
      </a:accent1>
      <a:accent2>
        <a:srgbClr val="3E7CB1"/>
      </a:accent2>
      <a:accent3>
        <a:srgbClr val="8A94A6"/>
      </a:accent3>
      <a:accent4>
        <a:srgbClr val="6B7A90"/>
      </a:accent4>
      <a:accent5>
        <a:srgbClr val="C8CDD6"/>
      </a:accent5>
      <a:accent6>
        <a:srgbClr val="E4E8EE"/>
      </a:accent6>
      <a:hlink>
        <a:srgbClr val="3E7CB1"/>
      </a:hlink>
      <a:folHlink>
        <a:srgbClr val="6B7A90"/>
      </a:folHlink>
    </a:clrScheme>
    <a:fontScheme name="Office">
      <a:majorFont>
        <a:latin typeface="Yu Gothic"/>
        <a:ea typeface="Yu Gothic"/>
        <a:cs typeface=""/>
        <a:font script="Jpan" typeface="Yu Gothic"/>
        <a:font script="Hang" typeface="Yu Gothic"/>
        <a:font script="Hans" typeface="Yu Gothic"/>
        <a:font script="Hant" typeface="Yu Gothic"/>
        <a:font script="Arab" typeface="Yu Gothic"/>
        <a:font script="Hebr" typeface="Yu Gothic"/>
        <a:font script="Thai" typeface="Yu Gothic"/>
        <a:font script="Ethi" typeface="Yu Gothic"/>
        <a:font script="Beng" typeface="Yu Gothic"/>
        <a:font script="Gujr" typeface="Yu Gothic"/>
        <a:font script="Khmr" typeface="Yu Gothic"/>
        <a:font script="Knda" typeface="Yu Gothic"/>
        <a:font script="Guru" typeface="Yu Gothic"/>
        <a:font script="Cans" typeface="Yu Gothic"/>
        <a:font script="Cher" typeface="Yu Gothic"/>
        <a:font script="Yiii" typeface="Yu Gothic"/>
        <a:font script="Tibt" typeface="Yu Gothic"/>
        <a:font script="Thaa" typeface="Yu Gothic"/>
        <a:font script="Deva" typeface="Yu Gothic"/>
        <a:font script="Telu" typeface="Yu Gothic"/>
        <a:font script="Taml" typeface="Yu Gothic"/>
        <a:font script="Syrc" typeface="Yu Gothic"/>
        <a:font script="Orya" typeface="Yu Gothic"/>
        <a:font script="Mlym" typeface="Yu Gothic"/>
        <a:font script="Laoo" typeface="Yu Gothic"/>
        <a:font script="Sinh" typeface="Yu Gothic"/>
        <a:font script="Mong" typeface="Yu Gothic"/>
        <a:font script="Viet" typeface="Yu Gothic"/>
        <a:font script="Uigh" typeface="Yu Gothic"/>
        <a:font script="Geor" typeface="Yu Gothic"/>
      </a:majorFont>
      <a:minorFont>
        <a:latin typeface="Yu Gothic"/>
        <a:ea typeface="Yu Gothic"/>
        <a:cs typeface=""/>
        <a:font script="Jpan" typeface="Yu Gothic"/>
        <a:font script="Hang" typeface="Yu Gothic"/>
        <a:font script="Hans" typeface="Yu Gothic"/>
        <a:font script="Hant" typeface="Yu Gothic"/>
        <a:font script="Arab" typeface="Yu Gothic"/>
        <a:font script="Hebr" typeface="Yu Gothic"/>
        <a:font script="Thai" typeface="Yu Gothic"/>
        <a:font script="Ethi" typeface="Yu Gothic"/>
        <a:font script="Beng" typeface="Yu Gothic"/>
        <a:font script="Gujr" typeface="Yu Gothic"/>
        <a:font script="Khmr" typeface="Yu Gothic"/>
        <a:font script="Knda" typeface="Yu Gothic"/>
        <a:font script="Guru" typeface="Yu Gothic"/>
        <a:font script="Cans" typeface="Yu Gothic"/>
        <a:font script="Cher" typeface="Yu Gothic"/>
        <a:font script="Yiii" typeface="Yu Gothic"/>
        <a:font script="Tibt" typeface="Yu Gothic"/>
        <a:font script="Thaa" typeface="Yu Gothic"/>
        <a:font script="Deva" typeface="Yu Gothic"/>
        <a:font script="Telu" typeface="Yu Gothic"/>
        <a:font script="Taml" typeface="Yu Gothic"/>
        <a:font script="Syrc" typeface="Yu Gothic"/>
        <a:font script="Orya" typeface="Yu Gothic"/>
        <a:font script="Mlym" typeface="Yu Gothic"/>
        <a:font script="Laoo" typeface="Yu Gothic"/>
        <a:font script="Sinh" typeface="Yu Gothic"/>
        <a:font script="Mong" typeface="Yu Gothic"/>
        <a:font script="Viet" typeface="Yu Gothic"/>
        <a:font script="Uigh" typeface="Yu Gothic"/>
        <a:font script="Geor"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